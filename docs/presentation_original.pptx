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96" r:id="rId3"/>
  </p:sldMasterIdLst>
  <p:notesMasterIdLst>
    <p:notesMasterId r:id="rId5"/>
  </p:notesMasterIdLst>
  <p:handoutMasterIdLst>
    <p:handoutMasterId r:id="rId29"/>
  </p:handoutMasterIdLst>
  <p:sldIdLst>
    <p:sldId id="418" r:id="rId4"/>
    <p:sldId id="415" r:id="rId6"/>
    <p:sldId id="422" r:id="rId7"/>
    <p:sldId id="426" r:id="rId8"/>
    <p:sldId id="439" r:id="rId9"/>
    <p:sldId id="434" r:id="rId10"/>
    <p:sldId id="428" r:id="rId11"/>
    <p:sldId id="436" r:id="rId12"/>
    <p:sldId id="452" r:id="rId13"/>
    <p:sldId id="454" r:id="rId14"/>
    <p:sldId id="453" r:id="rId15"/>
    <p:sldId id="424" r:id="rId16"/>
    <p:sldId id="282" r:id="rId17"/>
    <p:sldId id="441" r:id="rId18"/>
    <p:sldId id="429" r:id="rId19"/>
    <p:sldId id="438" r:id="rId20"/>
    <p:sldId id="431" r:id="rId21"/>
    <p:sldId id="299" r:id="rId22"/>
    <p:sldId id="411" r:id="rId23"/>
    <p:sldId id="447" r:id="rId24"/>
    <p:sldId id="413" r:id="rId25"/>
    <p:sldId id="427" r:id="rId26"/>
    <p:sldId id="437" r:id="rId27"/>
    <p:sldId id="450" r:id="rId28"/>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9" userDrawn="1">
          <p15:clr>
            <a:srgbClr val="A4A3A4"/>
          </p15:clr>
        </p15:guide>
        <p15:guide id="2" pos="37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82DE"/>
    <a:srgbClr val="2E61FA"/>
    <a:srgbClr val="E6CEBC"/>
    <a:srgbClr val="D6AE91"/>
    <a:srgbClr val="4E4242"/>
    <a:srgbClr val="8761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p:scale>
          <a:sx n="75" d="100"/>
          <a:sy n="75" d="100"/>
        </p:scale>
        <p:origin x="1212" y="816"/>
      </p:cViewPr>
      <p:guideLst>
        <p:guide orient="horz" pos="2219"/>
        <p:guide pos="3759"/>
      </p:guideLst>
    </p:cSldViewPr>
  </p:slideViewPr>
  <p:notesTextViewPr>
    <p:cViewPr>
      <p:scale>
        <a:sx n="1" d="1"/>
        <a:sy n="1" d="1"/>
      </p:scale>
      <p:origin x="0" y="0"/>
    </p:cViewPr>
  </p:notesTextViewPr>
  <p:sorterViewPr>
    <p:cViewPr>
      <p:scale>
        <a:sx n="78" d="100"/>
        <a:sy n="78" d="100"/>
      </p:scale>
      <p:origin x="0" y="0"/>
    </p:cViewPr>
  </p:sorterViewPr>
  <p:notesViewPr>
    <p:cSldViewPr snapToGrid="0">
      <p:cViewPr varScale="1">
        <p:scale>
          <a:sx n="86" d="100"/>
          <a:sy n="86" d="100"/>
        </p:scale>
        <p:origin x="-3444" y="-90"/>
      </p:cViewPr>
      <p:guideLst>
        <p:guide orient="horz" pos="2959"/>
        <p:guide pos="211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3" Type="http://schemas.openxmlformats.org/officeDocument/2006/relationships/tags" Target="tags/tag219.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handoutMaster" Target="handoutMasters/handoutMaster1.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CB2E4C7-2DBC-45BC-B933-FAAF417E8C6B}" type="doc">
      <dgm:prSet loTypeId="list" loCatId="list" qsTypeId="urn:microsoft.com/office/officeart/2005/8/quickstyle/simple5" qsCatId="simple" csTypeId="urn:microsoft.com/office/officeart/2005/8/colors/accent5_5" csCatId="accent1" phldr="0"/>
      <dgm:spPr/>
      <dgm:t>
        <a:bodyPr/>
        <a:p>
          <a:endParaRPr lang="zh-CN" altLang="en-US"/>
        </a:p>
      </dgm:t>
    </dgm:pt>
    <dgm:pt modelId="{DA8A2D07-F387-4404-9FCB-397A6A028210}">
      <dgm:prSet phldrT="[文本]" phldr="0" custT="1"/>
      <dgm:spPr/>
      <dgm:t>
        <a:bodyPr vert="horz" wrap="square"/>
        <a:p>
          <a:pPr>
            <a:lnSpc>
              <a:spcPct val="100000"/>
            </a:lnSpc>
            <a:spcBef>
              <a:spcPct val="0"/>
            </a:spcBef>
            <a:spcAft>
              <a:spcPct val="35000"/>
            </a:spcAft>
          </a:pPr>
          <a:r>
            <a:rPr lang="zh-CN" altLang="en-US" sz="3600"/>
            <a:t>日本</a:t>
          </a:r>
          <a:r>
            <a:rPr lang="zh-CN" altLang="en-US" sz="3600"/>
            <a:t/>
          </a:r>
          <a:endParaRPr lang="zh-CN" altLang="en-US" sz="3600"/>
        </a:p>
      </dgm:t>
    </dgm:pt>
    <dgm:pt modelId="{6834AA20-CCB2-4B69-B573-CB4D31C014E6}" cxnId="{3A52E27D-DE7C-415B-B29A-6C3DC2FF7C88}" type="parTrans">
      <dgm:prSet/>
      <dgm:spPr/>
      <dgm:t>
        <a:bodyPr/>
        <a:p>
          <a:endParaRPr lang="zh-CN" altLang="en-US"/>
        </a:p>
      </dgm:t>
    </dgm:pt>
    <dgm:pt modelId="{8755279E-20A5-4AEE-BDD2-C54EFA6328A6}" cxnId="{3A52E27D-DE7C-415B-B29A-6C3DC2FF7C88}" type="sibTrans">
      <dgm:prSet/>
      <dgm:spPr/>
      <dgm:t>
        <a:bodyPr/>
        <a:p>
          <a:endParaRPr lang="zh-CN" altLang="en-US"/>
        </a:p>
      </dgm:t>
    </dgm:pt>
    <dgm:pt modelId="{E8411978-525A-4440-8662-31C633A96E23}">
      <dgm:prSet phldr="0" custT="1"/>
      <dgm:spPr/>
      <dgm:t>
        <a:bodyPr vert="horz" wrap="square"/>
        <a:p>
          <a:pPr>
            <a:lnSpc>
              <a:spcPct val="100000"/>
            </a:lnSpc>
            <a:spcBef>
              <a:spcPct val="0"/>
            </a:spcBef>
            <a:spcAft>
              <a:spcPct val="15000"/>
            </a:spcAft>
          </a:pPr>
          <a:r>
            <a:rPr lang="en-US" altLang="zh-CN" sz="2000"/>
            <a:t>65-&gt;70</a:t>
          </a:r>
          <a:r>
            <a:rPr lang="zh-CN" altLang="en-US" sz="2000"/>
            <a:t/>
          </a:r>
          <a:endParaRPr lang="zh-CN" altLang="en-US" sz="2000"/>
        </a:p>
      </dgm:t>
    </dgm:pt>
    <dgm:pt modelId="{1160E7A7-74CF-4B98-9D78-321F5E40004E}" cxnId="{663C1D6A-8F3A-4B1E-A0C9-27FD22167C45}" type="parTrans">
      <dgm:prSet/>
      <dgm:spPr/>
    </dgm:pt>
    <dgm:pt modelId="{2933CF5A-0C93-49C7-8B03-6E8259EF3FF9}" cxnId="{663C1D6A-8F3A-4B1E-A0C9-27FD22167C45}" type="sibTrans">
      <dgm:prSet/>
      <dgm:spPr/>
    </dgm:pt>
    <dgm:pt modelId="{808C1F77-2E8E-45E2-8CFA-4427D5C435A8}">
      <dgm:prSet phldr="0" custT="1"/>
      <dgm:spPr/>
      <dgm:t>
        <a:bodyPr vert="horz" wrap="square"/>
        <a:p>
          <a:pPr>
            <a:lnSpc>
              <a:spcPct val="100000"/>
            </a:lnSpc>
            <a:spcBef>
              <a:spcPct val="0"/>
            </a:spcBef>
            <a:spcAft>
              <a:spcPct val="15000"/>
            </a:spcAft>
          </a:pPr>
          <a:r>
            <a:rPr lang="en-US" altLang="zh-CN" sz="2000"/>
            <a:t>2021</a:t>
          </a:r>
          <a:r>
            <a:rPr lang="zh-CN" altLang="en-US" sz="2000"/>
            <a:t>年</a:t>
          </a:r>
          <a:endParaRPr lang="zh-CN" altLang="en-US" sz="2000"/>
        </a:p>
      </dgm:t>
    </dgm:pt>
    <dgm:pt modelId="{25A7240D-5DAC-455B-B241-177E09C815A3}" cxnId="{0F2642BD-8083-4540-B12A-35BE861A766B}" type="parTrans">
      <dgm:prSet/>
      <dgm:spPr/>
    </dgm:pt>
    <dgm:pt modelId="{64936858-6FE4-4FB1-B904-4260CA17709E}" cxnId="{0F2642BD-8083-4540-B12A-35BE861A766B}" type="sibTrans">
      <dgm:prSet/>
      <dgm:spPr/>
    </dgm:pt>
    <dgm:pt modelId="{59636D28-0631-42AC-B7A2-403DD9A61802}">
      <dgm:prSet phldr="0" custT="1"/>
      <dgm:spPr/>
      <dgm:t>
        <a:bodyPr vert="horz" wrap="square"/>
        <a:p>
          <a:pPr>
            <a:lnSpc>
              <a:spcPct val="100000"/>
            </a:lnSpc>
            <a:spcBef>
              <a:spcPct val="0"/>
            </a:spcBef>
            <a:spcAft>
              <a:spcPct val="15000"/>
            </a:spcAft>
          </a:pPr>
          <a:r>
            <a:rPr lang="zh-CN" altLang="en-US" sz="2000"/>
            <a:t>补贴</a:t>
          </a:r>
          <a:r>
            <a:rPr lang="zh-CN" altLang="en-US" sz="2000"/>
            <a:t>企业</a:t>
          </a:r>
          <a:endParaRPr lang="zh-CN" altLang="en-US" sz="2000"/>
        </a:p>
      </dgm:t>
    </dgm:pt>
    <dgm:pt modelId="{EE7C33B3-F64C-4553-B5B1-8468B56C47E0}" cxnId="{AE21A1EA-8012-4DFD-8516-E680A5F1DF97}" type="parTrans">
      <dgm:prSet/>
      <dgm:spPr/>
    </dgm:pt>
    <dgm:pt modelId="{0FA51CD2-F880-4F58-BBB8-70A655A3CD81}" cxnId="{AE21A1EA-8012-4DFD-8516-E680A5F1DF97}" type="sibTrans">
      <dgm:prSet/>
      <dgm:spPr/>
    </dgm:pt>
    <dgm:pt modelId="{0AD3B2C4-7A74-4691-A374-7F844610572C}">
      <dgm:prSet phldr="0" custT="1"/>
      <dgm:spPr/>
      <dgm:t>
        <a:bodyPr vert="horz" wrap="square"/>
        <a:p>
          <a:pPr>
            <a:lnSpc>
              <a:spcPct val="100000"/>
            </a:lnSpc>
            <a:spcBef>
              <a:spcPct val="0"/>
            </a:spcBef>
            <a:spcAft>
              <a:spcPct val="15000"/>
            </a:spcAft>
          </a:pPr>
          <a:r>
            <a:rPr lang="zh-CN" altLang="en-US" sz="2000"/>
            <a:t>分段</a:t>
          </a:r>
          <a:r>
            <a:rPr lang="zh-CN" altLang="en-US" sz="2000"/>
            <a:t>养老金</a:t>
          </a:r>
          <a:r>
            <a:rPr lang="zh-CN" altLang="en-US" sz="2000"/>
            <a:t/>
          </a:r>
          <a:endParaRPr lang="zh-CN" altLang="en-US" sz="2000"/>
        </a:p>
      </dgm:t>
    </dgm:pt>
    <dgm:pt modelId="{2ED46570-7425-4571-B71E-EDB7768D02AB}" cxnId="{DEFFA413-742E-4226-9323-3BB4526F0880}" type="parTrans">
      <dgm:prSet/>
      <dgm:spPr/>
    </dgm:pt>
    <dgm:pt modelId="{425908D4-DBA1-42B4-8BC4-4F885CDBD940}" cxnId="{DEFFA413-742E-4226-9323-3BB4526F0880}" type="sibTrans">
      <dgm:prSet/>
      <dgm:spPr/>
    </dgm:pt>
    <dgm:pt modelId="{D7AF1C1D-144B-4B25-A777-792381B7ED5B}">
      <dgm:prSet phldrT="[文本]" phldr="0" custT="1"/>
      <dgm:spPr/>
      <dgm:t>
        <a:bodyPr vert="horz" wrap="square"/>
        <a:p>
          <a:pPr>
            <a:lnSpc>
              <a:spcPct val="100000"/>
            </a:lnSpc>
            <a:spcBef>
              <a:spcPct val="0"/>
            </a:spcBef>
            <a:spcAft>
              <a:spcPct val="35000"/>
            </a:spcAft>
          </a:pPr>
          <a:r>
            <a:rPr lang="zh-CN" altLang="en-US" sz="3200"/>
            <a:t>德国</a:t>
          </a:r>
          <a:r>
            <a:rPr lang="zh-CN" altLang="en-US" sz="3200"/>
            <a:t/>
          </a:r>
          <a:endParaRPr lang="zh-CN" altLang="en-US" sz="3200"/>
        </a:p>
      </dgm:t>
    </dgm:pt>
    <dgm:pt modelId="{24B9E243-8415-4A77-8486-6B84ADEA7DB0}" cxnId="{493B604F-AD6D-4442-AA83-6BB248643722}" type="parTrans">
      <dgm:prSet/>
      <dgm:spPr/>
      <dgm:t>
        <a:bodyPr/>
        <a:p>
          <a:endParaRPr lang="zh-CN" altLang="en-US"/>
        </a:p>
      </dgm:t>
    </dgm:pt>
    <dgm:pt modelId="{B5AE4F68-C44C-4384-AF42-66197C13C64E}" cxnId="{493B604F-AD6D-4442-AA83-6BB248643722}" type="sibTrans">
      <dgm:prSet/>
      <dgm:spPr/>
      <dgm:t>
        <a:bodyPr/>
        <a:p>
          <a:endParaRPr lang="zh-CN" altLang="en-US"/>
        </a:p>
      </dgm:t>
    </dgm:pt>
    <dgm:pt modelId="{5DA7989F-EA97-44F6-8D31-B1CEDF068EAB}">
      <dgm:prSet phldr="0" custT="1"/>
      <dgm:spPr/>
      <dgm:t>
        <a:bodyPr vert="horz" wrap="square"/>
        <a:p>
          <a:pPr>
            <a:lnSpc>
              <a:spcPct val="100000"/>
            </a:lnSpc>
            <a:spcBef>
              <a:spcPct val="0"/>
            </a:spcBef>
            <a:spcAft>
              <a:spcPct val="15000"/>
            </a:spcAft>
          </a:pPr>
          <a:r>
            <a:rPr lang="en-US" altLang="zh-CN" sz="2000"/>
            <a:t>65-&gt;67</a:t>
          </a:r>
          <a:r>
            <a:rPr lang="zh-CN" altLang="en-US" sz="2000"/>
            <a:t/>
          </a:r>
          <a:endParaRPr lang="zh-CN" altLang="en-US" sz="2000"/>
        </a:p>
      </dgm:t>
    </dgm:pt>
    <dgm:pt modelId="{6CBF6968-3F6B-43D1-8A1E-ED10736670F5}" cxnId="{81550E5F-405E-4D95-A03B-24A4DB68504B}" type="parTrans">
      <dgm:prSet/>
      <dgm:spPr/>
    </dgm:pt>
    <dgm:pt modelId="{1D1B1EC4-70DA-4B32-A12E-A00124F97E8C}" cxnId="{81550E5F-405E-4D95-A03B-24A4DB68504B}" type="sibTrans">
      <dgm:prSet/>
      <dgm:spPr/>
    </dgm:pt>
    <dgm:pt modelId="{DA7708C7-94BB-465D-8229-7447E61B42C6}">
      <dgm:prSet phldr="0" custT="1"/>
      <dgm:spPr/>
      <dgm:t>
        <a:bodyPr vert="horz" wrap="square"/>
        <a:p>
          <a:pPr>
            <a:lnSpc>
              <a:spcPct val="100000"/>
            </a:lnSpc>
            <a:spcBef>
              <a:spcPct val="0"/>
            </a:spcBef>
            <a:spcAft>
              <a:spcPct val="15000"/>
            </a:spcAft>
          </a:pPr>
          <a:r>
            <a:rPr lang="en-US" altLang="zh-CN" sz="2000"/>
            <a:t>2031</a:t>
          </a:r>
          <a:r>
            <a:rPr lang="zh-CN" altLang="en-US" sz="2000"/>
            <a:t>年</a:t>
          </a:r>
          <a:r>
            <a:rPr lang="zh-CN" altLang="en-US" sz="2000"/>
            <a:t/>
          </a:r>
          <a:endParaRPr lang="zh-CN" altLang="en-US" sz="2000"/>
        </a:p>
      </dgm:t>
    </dgm:pt>
    <dgm:pt modelId="{65B6C6C4-BAAD-419D-B876-D400105F2F60}" cxnId="{C94FFA37-F484-4E2E-B412-9EF0BAA6845C}" type="parTrans">
      <dgm:prSet/>
      <dgm:spPr/>
    </dgm:pt>
    <dgm:pt modelId="{8FD3460B-C153-4632-8E78-992576CC0DA5}" cxnId="{C94FFA37-F484-4E2E-B412-9EF0BAA6845C}" type="sibTrans">
      <dgm:prSet/>
      <dgm:spPr/>
    </dgm:pt>
    <dgm:pt modelId="{CF4BF695-35E0-43A4-A4BC-4C657498BC58}">
      <dgm:prSet phldr="0" custT="1"/>
      <dgm:spPr/>
      <dgm:t>
        <a:bodyPr vert="horz" wrap="square"/>
        <a:p>
          <a:pPr>
            <a:lnSpc>
              <a:spcPct val="100000"/>
            </a:lnSpc>
            <a:spcBef>
              <a:spcPct val="0"/>
            </a:spcBef>
            <a:spcAft>
              <a:spcPct val="15000"/>
            </a:spcAft>
          </a:pPr>
          <a:r>
            <a:rPr lang="zh-CN" altLang="en-US" sz="2000"/>
            <a:t>缴</a:t>
          </a:r>
          <a:r>
            <a:rPr lang="zh-CN" altLang="en-US" sz="2000"/>
            <a:t>满</a:t>
          </a:r>
          <a:r>
            <a:rPr lang="en-US" altLang="zh-CN" sz="2000"/>
            <a:t>45</a:t>
          </a:r>
          <a:r>
            <a:rPr lang="zh-CN" altLang="en-US" sz="2000"/>
            <a:t>年</a:t>
          </a:r>
          <a:r>
            <a:rPr lang="zh-CN" altLang="en-US" sz="2000"/>
            <a:t>养老金</a:t>
          </a:r>
          <a:r>
            <a:rPr lang="zh-CN" altLang="en-US" sz="2000"/>
            <a:t>可</a:t>
          </a:r>
          <a:r>
            <a:rPr lang="zh-CN" altLang="en-US" sz="2000"/>
            <a:t>提前</a:t>
          </a:r>
          <a:r>
            <a:rPr lang="en-US" altLang="zh-CN" sz="2000"/>
            <a:t>62</a:t>
          </a:r>
          <a:r>
            <a:rPr lang="zh-CN" altLang="en-US" sz="2000"/>
            <a:t>岁</a:t>
          </a:r>
          <a:r>
            <a:rPr lang="zh-CN" altLang="en-US" sz="2000"/>
            <a:t>退</a:t>
          </a:r>
          <a:r>
            <a:rPr lang="zh-CN" altLang="en-US" sz="2000"/>
            <a:t>休</a:t>
          </a:r>
          <a:r>
            <a:rPr lang="zh-CN" altLang="en-US" sz="2000"/>
            <a:t/>
          </a:r>
          <a:endParaRPr lang="zh-CN" altLang="en-US" sz="2000"/>
        </a:p>
      </dgm:t>
    </dgm:pt>
    <dgm:pt modelId="{15F21C90-92B0-4152-BAE0-FE450E4FF5B0}" cxnId="{7BE1EC53-A396-45EC-A5E2-98C0DA8A919A}" type="parTrans">
      <dgm:prSet/>
      <dgm:spPr/>
    </dgm:pt>
    <dgm:pt modelId="{6426BDC2-B674-4377-8925-660EA18AAF61}" cxnId="{7BE1EC53-A396-45EC-A5E2-98C0DA8A919A}" type="sibTrans">
      <dgm:prSet/>
      <dgm:spPr/>
    </dgm:pt>
    <dgm:pt modelId="{07FA4ADD-8D96-4B06-AE7F-902B878DD8B1}">
      <dgm:prSet phldrT="[文本]" phldr="0" custT="1"/>
      <dgm:spPr/>
      <dgm:t>
        <a:bodyPr vert="horz" wrap="square"/>
        <a:p>
          <a:pPr>
            <a:lnSpc>
              <a:spcPct val="100000"/>
            </a:lnSpc>
            <a:spcBef>
              <a:spcPct val="0"/>
            </a:spcBef>
            <a:spcAft>
              <a:spcPct val="35000"/>
            </a:spcAft>
          </a:pPr>
          <a:r>
            <a:rPr lang="zh-CN" altLang="en-US" sz="3200"/>
            <a:t>法国</a:t>
          </a:r>
          <a:r>
            <a:rPr lang="zh-CN" altLang="en-US" sz="3200"/>
            <a:t/>
          </a:r>
          <a:endParaRPr lang="zh-CN" altLang="en-US" sz="3200"/>
        </a:p>
      </dgm:t>
    </dgm:pt>
    <dgm:pt modelId="{A8B4A2D4-51F6-4657-92F3-DB580AE5F569}" cxnId="{33485EAB-81C2-4990-9BE1-2A38B54779A1}" type="parTrans">
      <dgm:prSet/>
      <dgm:spPr/>
      <dgm:t>
        <a:bodyPr/>
        <a:p>
          <a:endParaRPr lang="zh-CN" altLang="en-US"/>
        </a:p>
      </dgm:t>
    </dgm:pt>
    <dgm:pt modelId="{33BF6C47-5256-4D8E-874B-728742A8CEC4}" cxnId="{33485EAB-81C2-4990-9BE1-2A38B54779A1}" type="sibTrans">
      <dgm:prSet/>
      <dgm:spPr/>
      <dgm:t>
        <a:bodyPr/>
        <a:p>
          <a:endParaRPr lang="zh-CN" altLang="en-US"/>
        </a:p>
      </dgm:t>
    </dgm:pt>
    <dgm:pt modelId="{9DF7916D-31E1-4091-9A51-0F18195E097E}">
      <dgm:prSet phldr="0" custT="1"/>
      <dgm:spPr/>
      <dgm:t>
        <a:bodyPr vert="horz" wrap="square"/>
        <a:p>
          <a:pPr>
            <a:lnSpc>
              <a:spcPct val="100000"/>
            </a:lnSpc>
            <a:spcBef>
              <a:spcPct val="0"/>
            </a:spcBef>
            <a:spcAft>
              <a:spcPct val="15000"/>
            </a:spcAft>
          </a:pPr>
          <a:r>
            <a:rPr lang="en-US" altLang="zh-CN" sz="2000"/>
            <a:t>62-&gt;64</a:t>
          </a:r>
          <a:r>
            <a:rPr lang="zh-CN" altLang="en-US" sz="2000"/>
            <a:t/>
          </a:r>
          <a:endParaRPr lang="zh-CN" altLang="en-US" sz="2000"/>
        </a:p>
      </dgm:t>
    </dgm:pt>
    <dgm:pt modelId="{79F02006-4D3A-40C3-A77A-3C96DADE3206}" cxnId="{BE983ABA-CB19-40BA-B900-696EF497410A}" type="parTrans">
      <dgm:prSet/>
      <dgm:spPr/>
    </dgm:pt>
    <dgm:pt modelId="{8A8FEDEC-7D82-4B10-99C7-9675C59B51DC}" cxnId="{BE983ABA-CB19-40BA-B900-696EF497410A}" type="sibTrans">
      <dgm:prSet/>
      <dgm:spPr/>
    </dgm:pt>
    <dgm:pt modelId="{BD627EFB-51FC-4918-A27A-62E3C298EC4B}">
      <dgm:prSet phldr="0" custT="1"/>
      <dgm:spPr/>
      <dgm:t>
        <a:bodyPr vert="horz" wrap="square"/>
        <a:p>
          <a:pPr>
            <a:lnSpc>
              <a:spcPct val="100000"/>
            </a:lnSpc>
            <a:spcBef>
              <a:spcPct val="0"/>
            </a:spcBef>
            <a:spcAft>
              <a:spcPct val="15000"/>
            </a:spcAft>
          </a:pPr>
          <a:r>
            <a:rPr lang="en-US" altLang="zh-CN" sz="2000"/>
            <a:t>2023</a:t>
          </a:r>
          <a:r>
            <a:rPr lang="en-US" altLang="zh-CN" sz="2000"/>
            <a:t/>
          </a:r>
          <a:endParaRPr lang="en-US" altLang="zh-CN" sz="2000"/>
        </a:p>
      </dgm:t>
    </dgm:pt>
    <dgm:pt modelId="{1D58BFA6-D227-496D-9EA2-E976C8F8B8FE}" cxnId="{C4B48847-72F3-448C-A266-71D9E28F1CF9}" type="parTrans">
      <dgm:prSet/>
      <dgm:spPr/>
    </dgm:pt>
    <dgm:pt modelId="{41C285EF-577D-4C03-B06F-16941E899223}" cxnId="{C4B48847-72F3-448C-A266-71D9E28F1CF9}" type="sibTrans">
      <dgm:prSet/>
      <dgm:spPr/>
    </dgm:pt>
    <dgm:pt modelId="{DE784385-B515-4E98-B1FA-3A2C13949B46}">
      <dgm:prSet phldr="0" custT="1"/>
      <dgm:spPr/>
      <dgm:t>
        <a:bodyPr vert="horz" wrap="square"/>
        <a:p>
          <a:pPr>
            <a:lnSpc>
              <a:spcPct val="100000"/>
            </a:lnSpc>
            <a:spcBef>
              <a:spcPct val="0"/>
            </a:spcBef>
            <a:spcAft>
              <a:spcPct val="15000"/>
            </a:spcAft>
          </a:pPr>
          <a:r>
            <a:rPr lang="zh-CN" altLang="en-US" sz="2000"/>
            <a:t>缴满</a:t>
          </a:r>
          <a:r>
            <a:rPr lang="en-US" altLang="zh-CN" sz="2000"/>
            <a:t>43</a:t>
          </a:r>
          <a:r>
            <a:rPr lang="zh-CN" altLang="en-US" sz="2000"/>
            <a:t>年</a:t>
          </a:r>
          <a:r>
            <a:rPr lang="zh-CN" altLang="en-US" sz="2000"/>
            <a:t>才能领</a:t>
          </a:r>
          <a:r>
            <a:rPr lang="zh-CN" altLang="en-US" sz="2000"/>
            <a:t>全额</a:t>
          </a:r>
          <a:r>
            <a:rPr lang="en-US" altLang="zh-CN" sz="2400"/>
            <a:t/>
          </a:r>
          <a:endParaRPr lang="en-US" altLang="zh-CN" sz="2400"/>
        </a:p>
      </dgm:t>
    </dgm:pt>
    <dgm:pt modelId="{A7160675-1D33-4E4C-B81A-BDA1E6E536A8}" cxnId="{D8EA1E80-3D23-4D5D-BB7B-ED03B8EE8D4A}" type="parTrans">
      <dgm:prSet/>
      <dgm:spPr/>
    </dgm:pt>
    <dgm:pt modelId="{1DD39B96-02F5-4E3B-993D-C121B65035A1}" cxnId="{D8EA1E80-3D23-4D5D-BB7B-ED03B8EE8D4A}" type="sibTrans">
      <dgm:prSet/>
      <dgm:spPr/>
    </dgm:pt>
    <dgm:pt modelId="{7637D534-43C9-4B90-8E72-62F5BFFCC0F3}">
      <dgm:prSet phldr="0" custT="1"/>
      <dgm:spPr/>
      <dgm:t>
        <a:bodyPr vert="horz" wrap="square"/>
        <a:p>
          <a:pPr>
            <a:lnSpc>
              <a:spcPct val="100000"/>
            </a:lnSpc>
            <a:spcBef>
              <a:spcPct val="0"/>
            </a:spcBef>
            <a:spcAft>
              <a:spcPct val="15000"/>
            </a:spcAft>
          </a:pPr>
          <a:r>
            <a:rPr lang="en-US" altLang="zh-CN" sz="2400"/>
            <a:t/>
          </a:r>
          <a:endParaRPr lang="en-US" altLang="zh-CN" sz="2400"/>
        </a:p>
      </dgm:t>
    </dgm:pt>
    <dgm:pt modelId="{A112DE86-06DB-4FC2-B361-99B30AD410D0}" cxnId="{69EE3685-EE21-49A6-93A2-86C3FF5325FE}" type="parTrans">
      <dgm:prSet/>
      <dgm:spPr/>
    </dgm:pt>
    <dgm:pt modelId="{83BDC72C-DC18-408E-ACC4-E5179D3FE9D1}" cxnId="{69EE3685-EE21-49A6-93A2-86C3FF5325FE}" type="sibTrans">
      <dgm:prSet/>
      <dgm:spPr/>
    </dgm:pt>
    <dgm:pt modelId="{DE36D10E-86CD-4C6D-B150-31E525EF527D}" type="pres">
      <dgm:prSet presAssocID="{ACB2E4C7-2DBC-45BC-B933-FAAF417E8C6B}" presName="Name0" presStyleCnt="0">
        <dgm:presLayoutVars>
          <dgm:dir/>
          <dgm:resizeHandles val="exact"/>
        </dgm:presLayoutVars>
      </dgm:prSet>
      <dgm:spPr/>
    </dgm:pt>
    <dgm:pt modelId="{E561ED5B-86C5-4F33-9AFB-CF29287F5ADA}" type="pres">
      <dgm:prSet presAssocID="{DA8A2D07-F387-4404-9FCB-397A6A028210}" presName="node" presStyleLbl="node1" presStyleIdx="0" presStyleCnt="3" custScaleX="119593">
        <dgm:presLayoutVars>
          <dgm:bulletEnabled val="1"/>
        </dgm:presLayoutVars>
      </dgm:prSet>
      <dgm:spPr/>
    </dgm:pt>
    <dgm:pt modelId="{2AE1D4D4-A63C-4622-84B0-74ED38324CB1}" type="pres">
      <dgm:prSet presAssocID="{8755279E-20A5-4AEE-BDD2-C54EFA6328A6}" presName="sibTrans" presStyleCnt="0"/>
      <dgm:spPr/>
    </dgm:pt>
    <dgm:pt modelId="{CB90536C-45AA-4FBE-BCAF-99890DDD97C8}" type="pres">
      <dgm:prSet presAssocID="{D7AF1C1D-144B-4B25-A777-792381B7ED5B}" presName="node" presStyleLbl="node1" presStyleIdx="1" presStyleCnt="3">
        <dgm:presLayoutVars>
          <dgm:bulletEnabled val="1"/>
        </dgm:presLayoutVars>
      </dgm:prSet>
      <dgm:spPr/>
    </dgm:pt>
    <dgm:pt modelId="{155DCBB0-73F9-4F8F-A361-B90F0294764B}" type="pres">
      <dgm:prSet presAssocID="{B5AE4F68-C44C-4384-AF42-66197C13C64E}" presName="sibTrans" presStyleCnt="0"/>
      <dgm:spPr/>
    </dgm:pt>
    <dgm:pt modelId="{35A89FA7-451D-44F0-A02E-1277ECD1BBE6}" type="pres">
      <dgm:prSet presAssocID="{07FA4ADD-8D96-4B06-AE7F-902B878DD8B1}" presName="node" presStyleLbl="node1" presStyleIdx="2" presStyleCnt="3" custLinFactX="179313" custLinFactNeighborX="200000" custLinFactNeighborY="8141">
        <dgm:presLayoutVars>
          <dgm:bulletEnabled val="1"/>
        </dgm:presLayoutVars>
      </dgm:prSet>
      <dgm:spPr/>
    </dgm:pt>
  </dgm:ptLst>
  <dgm:cxnLst>
    <dgm:cxn modelId="{3A52E27D-DE7C-415B-B29A-6C3DC2FF7C88}" srcId="{ACB2E4C7-2DBC-45BC-B933-FAAF417E8C6B}" destId="{DA8A2D07-F387-4404-9FCB-397A6A028210}" srcOrd="0" destOrd="0" parTransId="{6834AA20-CCB2-4B69-B573-CB4D31C014E6}" sibTransId="{8755279E-20A5-4AEE-BDD2-C54EFA6328A6}"/>
    <dgm:cxn modelId="{663C1D6A-8F3A-4B1E-A0C9-27FD22167C45}" srcId="{DA8A2D07-F387-4404-9FCB-397A6A028210}" destId="{E8411978-525A-4440-8662-31C633A96E23}" srcOrd="0" destOrd="0" parTransId="{1160E7A7-74CF-4B98-9D78-321F5E40004E}" sibTransId="{2933CF5A-0C93-49C7-8B03-6E8259EF3FF9}"/>
    <dgm:cxn modelId="{0F2642BD-8083-4540-B12A-35BE861A766B}" srcId="{DA8A2D07-F387-4404-9FCB-397A6A028210}" destId="{808C1F77-2E8E-45E2-8CFA-4427D5C435A8}" srcOrd="1" destOrd="0" parTransId="{25A7240D-5DAC-455B-B241-177E09C815A3}" sibTransId="{64936858-6FE4-4FB1-B904-4260CA17709E}"/>
    <dgm:cxn modelId="{AE21A1EA-8012-4DFD-8516-E680A5F1DF97}" srcId="{DA8A2D07-F387-4404-9FCB-397A6A028210}" destId="{59636D28-0631-42AC-B7A2-403DD9A61802}" srcOrd="2" destOrd="0" parTransId="{EE7C33B3-F64C-4553-B5B1-8468B56C47E0}" sibTransId="{0FA51CD2-F880-4F58-BBB8-70A655A3CD81}"/>
    <dgm:cxn modelId="{DEFFA413-742E-4226-9323-3BB4526F0880}" srcId="{DA8A2D07-F387-4404-9FCB-397A6A028210}" destId="{0AD3B2C4-7A74-4691-A374-7F844610572C}" srcOrd="3" destOrd="0" parTransId="{2ED46570-7425-4571-B71E-EDB7768D02AB}" sibTransId="{425908D4-DBA1-42B4-8BC4-4F885CDBD940}"/>
    <dgm:cxn modelId="{493B604F-AD6D-4442-AA83-6BB248643722}" srcId="{ACB2E4C7-2DBC-45BC-B933-FAAF417E8C6B}" destId="{D7AF1C1D-144B-4B25-A777-792381B7ED5B}" srcOrd="1" destOrd="0" parTransId="{24B9E243-8415-4A77-8486-6B84ADEA7DB0}" sibTransId="{B5AE4F68-C44C-4384-AF42-66197C13C64E}"/>
    <dgm:cxn modelId="{81550E5F-405E-4D95-A03B-24A4DB68504B}" srcId="{D7AF1C1D-144B-4B25-A777-792381B7ED5B}" destId="{5DA7989F-EA97-44F6-8D31-B1CEDF068EAB}" srcOrd="0" destOrd="1" parTransId="{6CBF6968-3F6B-43D1-8A1E-ED10736670F5}" sibTransId="{1D1B1EC4-70DA-4B32-A12E-A00124F97E8C}"/>
    <dgm:cxn modelId="{C94FFA37-F484-4E2E-B412-9EF0BAA6845C}" srcId="{D7AF1C1D-144B-4B25-A777-792381B7ED5B}" destId="{DA7708C7-94BB-465D-8229-7447E61B42C6}" srcOrd="1" destOrd="1" parTransId="{65B6C6C4-BAAD-419D-B876-D400105F2F60}" sibTransId="{8FD3460B-C153-4632-8E78-992576CC0DA5}"/>
    <dgm:cxn modelId="{7BE1EC53-A396-45EC-A5E2-98C0DA8A919A}" srcId="{D7AF1C1D-144B-4B25-A777-792381B7ED5B}" destId="{CF4BF695-35E0-43A4-A4BC-4C657498BC58}" srcOrd="2" destOrd="1" parTransId="{15F21C90-92B0-4152-BAE0-FE450E4FF5B0}" sibTransId="{6426BDC2-B674-4377-8925-660EA18AAF61}"/>
    <dgm:cxn modelId="{33485EAB-81C2-4990-9BE1-2A38B54779A1}" srcId="{ACB2E4C7-2DBC-45BC-B933-FAAF417E8C6B}" destId="{07FA4ADD-8D96-4B06-AE7F-902B878DD8B1}" srcOrd="2" destOrd="0" parTransId="{A8B4A2D4-51F6-4657-92F3-DB580AE5F569}" sibTransId="{33BF6C47-5256-4D8E-874B-728742A8CEC4}"/>
    <dgm:cxn modelId="{BE983ABA-CB19-40BA-B900-696EF497410A}" srcId="{07FA4ADD-8D96-4B06-AE7F-902B878DD8B1}" destId="{9DF7916D-31E1-4091-9A51-0F18195E097E}" srcOrd="0" destOrd="2" parTransId="{79F02006-4D3A-40C3-A77A-3C96DADE3206}" sibTransId="{8A8FEDEC-7D82-4B10-99C7-9675C59B51DC}"/>
    <dgm:cxn modelId="{C4B48847-72F3-448C-A266-71D9E28F1CF9}" srcId="{07FA4ADD-8D96-4B06-AE7F-902B878DD8B1}" destId="{BD627EFB-51FC-4918-A27A-62E3C298EC4B}" srcOrd="1" destOrd="2" parTransId="{1D58BFA6-D227-496D-9EA2-E976C8F8B8FE}" sibTransId="{41C285EF-577D-4C03-B06F-16941E899223}"/>
    <dgm:cxn modelId="{D8EA1E80-3D23-4D5D-BB7B-ED03B8EE8D4A}" srcId="{07FA4ADD-8D96-4B06-AE7F-902B878DD8B1}" destId="{DE784385-B515-4E98-B1FA-3A2C13949B46}" srcOrd="2" destOrd="2" parTransId="{A7160675-1D33-4E4C-B81A-BDA1E6E536A8}" sibTransId="{1DD39B96-02F5-4E3B-993D-C121B65035A1}"/>
    <dgm:cxn modelId="{69EE3685-EE21-49A6-93A2-86C3FF5325FE}" srcId="{07FA4ADD-8D96-4B06-AE7F-902B878DD8B1}" destId="{7637D534-43C9-4B90-8E72-62F5BFFCC0F3}" srcOrd="3" destOrd="2" parTransId="{A112DE86-06DB-4FC2-B361-99B30AD410D0}" sibTransId="{83BDC72C-DC18-408E-ACC4-E5179D3FE9D1}"/>
    <dgm:cxn modelId="{F41A9AD7-27B9-4DA4-82B9-20EF36C91490}" type="presOf" srcId="{ACB2E4C7-2DBC-45BC-B933-FAAF417E8C6B}" destId="{DE36D10E-86CD-4C6D-B150-31E525EF527D}" srcOrd="0" destOrd="0" presId="urn:microsoft.com/office/officeart/2005/8/layout/hList6"/>
    <dgm:cxn modelId="{23207AB1-6927-4767-ADEE-A8FE5A8DE284}" type="presParOf" srcId="{DE36D10E-86CD-4C6D-B150-31E525EF527D}" destId="{E561ED5B-86C5-4F33-9AFB-CF29287F5ADA}" srcOrd="0" destOrd="0" presId="urn:microsoft.com/office/officeart/2005/8/layout/hList6"/>
    <dgm:cxn modelId="{75BFA419-D6C7-45E2-814F-534881752CD6}" type="presOf" srcId="{DA8A2D07-F387-4404-9FCB-397A6A028210}" destId="{E561ED5B-86C5-4F33-9AFB-CF29287F5ADA}" srcOrd="0" destOrd="0" presId="urn:microsoft.com/office/officeart/2005/8/layout/hList6"/>
    <dgm:cxn modelId="{64C43930-F15D-4133-9A26-D417E6F3FD05}" type="presOf" srcId="{E8411978-525A-4440-8662-31C633A96E23}" destId="{E561ED5B-86C5-4F33-9AFB-CF29287F5ADA}" srcOrd="0" destOrd="1" presId="urn:microsoft.com/office/officeart/2005/8/layout/hList6"/>
    <dgm:cxn modelId="{D34FA1EE-396D-4242-AFA6-788CEA1F3ECE}" type="presOf" srcId="{808C1F77-2E8E-45E2-8CFA-4427D5C435A8}" destId="{E561ED5B-86C5-4F33-9AFB-CF29287F5ADA}" srcOrd="0" destOrd="2" presId="urn:microsoft.com/office/officeart/2005/8/layout/hList6"/>
    <dgm:cxn modelId="{BE751B57-E209-4A6F-896D-44C291774C6B}" type="presOf" srcId="{59636D28-0631-42AC-B7A2-403DD9A61802}" destId="{E561ED5B-86C5-4F33-9AFB-CF29287F5ADA}" srcOrd="0" destOrd="3" presId="urn:microsoft.com/office/officeart/2005/8/layout/hList6"/>
    <dgm:cxn modelId="{ECD05C9C-0669-467A-9E79-6960019B47A4}" type="presOf" srcId="{0AD3B2C4-7A74-4691-A374-7F844610572C}" destId="{E561ED5B-86C5-4F33-9AFB-CF29287F5ADA}" srcOrd="0" destOrd="4" presId="urn:microsoft.com/office/officeart/2005/8/layout/hList6"/>
    <dgm:cxn modelId="{AB8CE993-B08B-4DC7-A199-D1576C8B6016}" type="presParOf" srcId="{DE36D10E-86CD-4C6D-B150-31E525EF527D}" destId="{2AE1D4D4-A63C-4622-84B0-74ED38324CB1}" srcOrd="1" destOrd="0" presId="urn:microsoft.com/office/officeart/2005/8/layout/hList6"/>
    <dgm:cxn modelId="{C7AAA6AD-F3BF-47D0-8590-3D909FC9762C}" type="presParOf" srcId="{DE36D10E-86CD-4C6D-B150-31E525EF527D}" destId="{CB90536C-45AA-4FBE-BCAF-99890DDD97C8}" srcOrd="2" destOrd="0" presId="urn:microsoft.com/office/officeart/2005/8/layout/hList6"/>
    <dgm:cxn modelId="{E074B39E-0325-48DA-9163-2B2BCC0C85DF}" type="presOf" srcId="{D7AF1C1D-144B-4B25-A777-792381B7ED5B}" destId="{CB90536C-45AA-4FBE-BCAF-99890DDD97C8}" srcOrd="0" destOrd="0" presId="urn:microsoft.com/office/officeart/2005/8/layout/hList6"/>
    <dgm:cxn modelId="{44FDA441-D415-4FE8-A23F-884039734E11}" type="presOf" srcId="{5DA7989F-EA97-44F6-8D31-B1CEDF068EAB}" destId="{CB90536C-45AA-4FBE-BCAF-99890DDD97C8}" srcOrd="0" destOrd="1" presId="urn:microsoft.com/office/officeart/2005/8/layout/hList6"/>
    <dgm:cxn modelId="{4E6C2D18-B330-40A9-9F92-6515154D5522}" type="presOf" srcId="{DA7708C7-94BB-465D-8229-7447E61B42C6}" destId="{CB90536C-45AA-4FBE-BCAF-99890DDD97C8}" srcOrd="0" destOrd="2" presId="urn:microsoft.com/office/officeart/2005/8/layout/hList6"/>
    <dgm:cxn modelId="{DA24BA52-AA06-45A8-9D1B-7D640A920C2F}" type="presOf" srcId="{CF4BF695-35E0-43A4-A4BC-4C657498BC58}" destId="{CB90536C-45AA-4FBE-BCAF-99890DDD97C8}" srcOrd="0" destOrd="3" presId="urn:microsoft.com/office/officeart/2005/8/layout/hList6"/>
    <dgm:cxn modelId="{94A7092B-D6A3-49A7-818F-880773CA1466}" type="presParOf" srcId="{DE36D10E-86CD-4C6D-B150-31E525EF527D}" destId="{155DCBB0-73F9-4F8F-A361-B90F0294764B}" srcOrd="3" destOrd="0" presId="urn:microsoft.com/office/officeart/2005/8/layout/hList6"/>
    <dgm:cxn modelId="{3B38E963-A621-4429-A399-8506CC26611F}" type="presParOf" srcId="{DE36D10E-86CD-4C6D-B150-31E525EF527D}" destId="{35A89FA7-451D-44F0-A02E-1277ECD1BBE6}" srcOrd="4" destOrd="0" presId="urn:microsoft.com/office/officeart/2005/8/layout/hList6"/>
    <dgm:cxn modelId="{E9AC1741-8ECE-485B-8712-88C435290903}" type="presOf" srcId="{07FA4ADD-8D96-4B06-AE7F-902B878DD8B1}" destId="{35A89FA7-451D-44F0-A02E-1277ECD1BBE6}" srcOrd="0" destOrd="0" presId="urn:microsoft.com/office/officeart/2005/8/layout/hList6"/>
    <dgm:cxn modelId="{4A5908CD-C729-4902-AB29-6D9BDF0077CA}" type="presOf" srcId="{9DF7916D-31E1-4091-9A51-0F18195E097E}" destId="{35A89FA7-451D-44F0-A02E-1277ECD1BBE6}" srcOrd="0" destOrd="1" presId="urn:microsoft.com/office/officeart/2005/8/layout/hList6"/>
    <dgm:cxn modelId="{7CF6DAAC-B4B6-411D-B8E4-B516A40A9F06}" type="presOf" srcId="{BD627EFB-51FC-4918-A27A-62E3C298EC4B}" destId="{35A89FA7-451D-44F0-A02E-1277ECD1BBE6}" srcOrd="0" destOrd="2" presId="urn:microsoft.com/office/officeart/2005/8/layout/hList6"/>
    <dgm:cxn modelId="{C5CE183B-7F94-4DD8-AB1A-6C7A622D57C2}" type="presOf" srcId="{DE784385-B515-4E98-B1FA-3A2C13949B46}" destId="{35A89FA7-451D-44F0-A02E-1277ECD1BBE6}" srcOrd="0" destOrd="3" presId="urn:microsoft.com/office/officeart/2005/8/layout/hList6"/>
    <dgm:cxn modelId="{B5C73F24-3412-4AB9-8438-C84E8356681C}" type="presOf" srcId="{7637D534-43C9-4B90-8E72-62F5BFFCC0F3}" destId="{35A89FA7-451D-44F0-A02E-1277ECD1BBE6}" srcOrd="0" destOrd="4"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B2E4C7-2DBC-45BC-B933-FAAF417E8C6B}" type="doc">
      <dgm:prSet loTypeId="list" loCatId="list" qsTypeId="urn:microsoft.com/office/officeart/2005/8/quickstyle/simple5" qsCatId="simple" csTypeId="urn:microsoft.com/office/officeart/2005/8/colors/accent5_5" csCatId="accent1" phldr="0"/>
      <dgm:spPr/>
      <dgm:t>
        <a:bodyPr/>
        <a:p>
          <a:endParaRPr lang="zh-CN" altLang="en-US"/>
        </a:p>
      </dgm:t>
    </dgm:pt>
    <dgm:pt modelId="{DA8A2D07-F387-4404-9FCB-397A6A028210}">
      <dgm:prSet phldrT="[文本]" phldr="0" custT="1"/>
      <dgm:spPr/>
      <dgm:t>
        <a:bodyPr vert="horz" wrap="square"/>
        <a:p>
          <a:pPr>
            <a:lnSpc>
              <a:spcPct val="100000"/>
            </a:lnSpc>
            <a:spcBef>
              <a:spcPct val="0"/>
            </a:spcBef>
            <a:spcAft>
              <a:spcPct val="35000"/>
            </a:spcAft>
          </a:pPr>
          <a:r>
            <a:rPr lang="zh-CN" altLang="en-US" sz="2800"/>
            <a:t>美国</a:t>
          </a:r>
          <a:r>
            <a:rPr lang="zh-CN" altLang="en-US" sz="2800"/>
            <a:t/>
          </a:r>
          <a:endParaRPr lang="zh-CN" altLang="en-US" sz="2800"/>
        </a:p>
      </dgm:t>
    </dgm:pt>
    <dgm:pt modelId="{6834AA20-CCB2-4B69-B573-CB4D31C014E6}" cxnId="{DCBE1E4A-EF89-42C3-B5EC-B03CE488BCD8}" type="parTrans">
      <dgm:prSet/>
      <dgm:spPr/>
      <dgm:t>
        <a:bodyPr/>
        <a:p>
          <a:endParaRPr lang="zh-CN" altLang="en-US"/>
        </a:p>
      </dgm:t>
    </dgm:pt>
    <dgm:pt modelId="{8755279E-20A5-4AEE-BDD2-C54EFA6328A6}" cxnId="{DCBE1E4A-EF89-42C3-B5EC-B03CE488BCD8}" type="sibTrans">
      <dgm:prSet/>
      <dgm:spPr/>
      <dgm:t>
        <a:bodyPr/>
        <a:p>
          <a:endParaRPr lang="zh-CN" altLang="en-US"/>
        </a:p>
      </dgm:t>
    </dgm:pt>
    <dgm:pt modelId="{6BDF5A6F-39D8-4590-9AC2-729F7BBEA876}">
      <dgm:prSet phldr="0" custT="1"/>
      <dgm:spPr/>
      <dgm:t>
        <a:bodyPr vert="horz" wrap="square"/>
        <a:p>
          <a:pPr>
            <a:lnSpc>
              <a:spcPct val="100000"/>
            </a:lnSpc>
            <a:spcBef>
              <a:spcPct val="0"/>
            </a:spcBef>
            <a:spcAft>
              <a:spcPct val="15000"/>
            </a:spcAft>
          </a:pPr>
          <a:r>
            <a:rPr lang="en-US" altLang="zh-CN" sz="2000"/>
            <a:t>62-&gt;67-&gt;70</a:t>
          </a:r>
          <a:r>
            <a:rPr lang="zh-CN" altLang="en-US" sz="2000"/>
            <a:t/>
          </a:r>
          <a:endParaRPr lang="zh-CN" altLang="en-US" sz="2000"/>
        </a:p>
      </dgm:t>
    </dgm:pt>
    <dgm:pt modelId="{CB01FB6D-EA51-4A1B-BDE3-2C87E6145C58}" cxnId="{7DD70FB8-D3E8-474F-BD89-CEDFD3BACD5B}" type="parTrans">
      <dgm:prSet/>
      <dgm:spPr/>
    </dgm:pt>
    <dgm:pt modelId="{46C6F4C9-0FF7-4173-8C3E-E375FF27D93A}" cxnId="{7DD70FB8-D3E8-474F-BD89-CEDFD3BACD5B}" type="sibTrans">
      <dgm:prSet/>
      <dgm:spPr/>
    </dgm:pt>
    <dgm:pt modelId="{2806DB73-21D8-4519-AEFC-E9D0A6BF9D90}">
      <dgm:prSet phldr="0" custT="1"/>
      <dgm:spPr/>
      <dgm:t>
        <a:bodyPr vert="horz" wrap="square"/>
        <a:p>
          <a:pPr>
            <a:lnSpc>
              <a:spcPct val="100000"/>
            </a:lnSpc>
            <a:spcBef>
              <a:spcPct val="0"/>
            </a:spcBef>
            <a:spcAft>
              <a:spcPct val="15000"/>
            </a:spcAft>
          </a:pPr>
          <a:r>
            <a:rPr lang="zh-CN" altLang="en-US" sz="2000"/>
            <a:t>扣</a:t>
          </a:r>
          <a:r>
            <a:rPr lang="en-US" altLang="zh-CN" sz="2000"/>
            <a:t>30%</a:t>
          </a:r>
          <a:r>
            <a:rPr lang="zh-CN" altLang="en-US" sz="2000"/>
            <a:t/>
          </a:r>
          <a:endParaRPr lang="zh-CN" altLang="en-US" sz="2000"/>
        </a:p>
      </dgm:t>
    </dgm:pt>
    <dgm:pt modelId="{ACF3D7E5-D763-439F-91EF-692D4172430E}" cxnId="{55D126B3-C370-4A21-9DE0-03541FAA4221}" type="parTrans">
      <dgm:prSet/>
      <dgm:spPr/>
    </dgm:pt>
    <dgm:pt modelId="{E65BC655-C313-4510-8CD1-17BA5896E662}" cxnId="{55D126B3-C370-4A21-9DE0-03541FAA4221}" type="sibTrans">
      <dgm:prSet/>
      <dgm:spPr/>
    </dgm:pt>
    <dgm:pt modelId="{CF10752A-4741-40D4-99C0-2B76593CC68E}">
      <dgm:prSet phldr="0" custT="1"/>
      <dgm:spPr/>
      <dgm:t>
        <a:bodyPr vert="horz" wrap="square"/>
        <a:p>
          <a:pPr>
            <a:lnSpc>
              <a:spcPct val="100000"/>
            </a:lnSpc>
            <a:spcBef>
              <a:spcPct val="0"/>
            </a:spcBef>
            <a:spcAft>
              <a:spcPct val="15000"/>
            </a:spcAft>
          </a:pPr>
          <a:r>
            <a:rPr lang="zh-CN" altLang="en-US" sz="2000"/>
            <a:t>全额</a:t>
          </a:r>
          <a:r>
            <a:rPr lang="zh-CN" altLang="en-US" sz="2000"/>
            <a:t>退休</a:t>
          </a:r>
          <a:r>
            <a:rPr lang="en-US" altLang="zh-CN" sz="2000"/>
            <a:t/>
          </a:r>
          <a:endParaRPr lang="en-US" altLang="zh-CN" sz="2000"/>
        </a:p>
      </dgm:t>
    </dgm:pt>
    <dgm:pt modelId="{01A97B6B-BD01-4EB0-AF9A-3BEF2C69DB0F}" cxnId="{57D95E8D-4BC4-480E-A097-1F05DA68C1B6}" type="parTrans">
      <dgm:prSet/>
      <dgm:spPr/>
    </dgm:pt>
    <dgm:pt modelId="{7040229D-C342-4851-B201-D7DB255F79C3}" cxnId="{57D95E8D-4BC4-480E-A097-1F05DA68C1B6}" type="sibTrans">
      <dgm:prSet/>
      <dgm:spPr/>
    </dgm:pt>
    <dgm:pt modelId="{20E97661-72AC-4050-A5E6-52A4740DD48A}">
      <dgm:prSet phldr="0" custT="1"/>
      <dgm:spPr/>
      <dgm:t>
        <a:bodyPr vert="horz" wrap="square"/>
        <a:p>
          <a:pPr>
            <a:lnSpc>
              <a:spcPct val="100000"/>
            </a:lnSpc>
            <a:spcBef>
              <a:spcPct val="0"/>
            </a:spcBef>
            <a:spcAft>
              <a:spcPct val="15000"/>
            </a:spcAft>
          </a:pPr>
          <a:r>
            <a:rPr lang="en-US" altLang="zh-CN" sz="2000"/>
            <a:t>132%</a:t>
          </a:r>
          <a:r>
            <a:rPr lang="zh-CN" altLang="en-US" sz="2000"/>
            <a:t>养老金</a:t>
          </a:r>
          <a:r>
            <a:rPr lang="zh-CN" altLang="en-US" sz="2000"/>
            <a:t/>
          </a:r>
          <a:endParaRPr lang="zh-CN" altLang="en-US" sz="2000"/>
        </a:p>
      </dgm:t>
    </dgm:pt>
    <dgm:pt modelId="{D4BFA7A7-22D0-46D2-9939-C4E43FC07290}" cxnId="{92B0917C-5C4A-48BA-9909-D2E6C3C69204}" type="parTrans">
      <dgm:prSet/>
      <dgm:spPr/>
    </dgm:pt>
    <dgm:pt modelId="{917F9A27-760B-43A8-853F-12200958F4C4}" cxnId="{92B0917C-5C4A-48BA-9909-D2E6C3C69204}" type="sibTrans">
      <dgm:prSet/>
      <dgm:spPr/>
    </dgm:pt>
    <dgm:pt modelId="{D7AF1C1D-144B-4B25-A777-792381B7ED5B}">
      <dgm:prSet phldrT="[文本]" phldr="0" custT="0"/>
      <dgm:spPr/>
      <dgm:t>
        <a:bodyPr vert="horz" wrap="square"/>
        <a:p>
          <a:pPr>
            <a:lnSpc>
              <a:spcPct val="100000"/>
            </a:lnSpc>
            <a:spcBef>
              <a:spcPct val="0"/>
            </a:spcBef>
            <a:spcAft>
              <a:spcPct val="35000"/>
            </a:spcAft>
          </a:pPr>
          <a:r>
            <a:rPr lang="zh-CN" altLang="en-US"/>
            <a:t>中国</a:t>
          </a:r>
          <a:r>
            <a:rPr lang="zh-CN" altLang="en-US"/>
            <a:t/>
          </a:r>
          <a:endParaRPr lang="zh-CN" altLang="en-US"/>
        </a:p>
      </dgm:t>
    </dgm:pt>
    <dgm:pt modelId="{24B9E243-8415-4A77-8486-6B84ADEA7DB0}" cxnId="{B19B8A71-DF5C-4A99-A013-D3FB527C3FC5}" type="parTrans">
      <dgm:prSet/>
      <dgm:spPr/>
      <dgm:t>
        <a:bodyPr/>
        <a:p>
          <a:endParaRPr lang="zh-CN" altLang="en-US"/>
        </a:p>
      </dgm:t>
    </dgm:pt>
    <dgm:pt modelId="{B5AE4F68-C44C-4384-AF42-66197C13C64E}" cxnId="{B19B8A71-DF5C-4A99-A013-D3FB527C3FC5}" type="sibTrans">
      <dgm:prSet/>
      <dgm:spPr/>
      <dgm:t>
        <a:bodyPr/>
        <a:p>
          <a:endParaRPr lang="zh-CN" altLang="en-US"/>
        </a:p>
      </dgm:t>
    </dgm:pt>
    <dgm:pt modelId="{F593A62D-7DDD-425C-B689-12BE9CCFC8A2}">
      <dgm:prSet phldr="0" custT="0"/>
      <dgm:spPr/>
      <dgm:t>
        <a:bodyPr vert="horz" wrap="square"/>
        <a:p>
          <a:pPr>
            <a:lnSpc>
              <a:spcPct val="100000"/>
            </a:lnSpc>
            <a:spcBef>
              <a:spcPct val="0"/>
            </a:spcBef>
            <a:spcAft>
              <a:spcPct val="15000"/>
            </a:spcAft>
          </a:pPr>
          <a:r>
            <a:rPr lang="zh-CN" altLang="en-US"/>
            <a:t>男</a:t>
          </a:r>
          <a:r>
            <a:rPr lang="en-US" altLang="zh-CN"/>
            <a:t>63 </a:t>
          </a:r>
          <a:r>
            <a:rPr lang="en-US" altLang="zh-CN"/>
            <a:t/>
          </a:r>
          <a:endParaRPr lang="en-US" altLang="zh-CN"/>
        </a:p>
      </dgm:t>
    </dgm:pt>
    <dgm:pt modelId="{87FB9B63-2E9C-4345-B17E-072EC8045085}" cxnId="{4A7DBDD0-BDEB-47BE-8353-67DFF1F87BEC}" type="parTrans">
      <dgm:prSet/>
      <dgm:spPr/>
    </dgm:pt>
    <dgm:pt modelId="{00056272-A53C-4348-B12B-7E2F041886B6}" cxnId="{4A7DBDD0-BDEB-47BE-8353-67DFF1F87BEC}" type="sibTrans">
      <dgm:prSet/>
      <dgm:spPr/>
    </dgm:pt>
    <dgm:pt modelId="{48713FC8-C1E9-453B-9BD2-C465452290CF}">
      <dgm:prSet phldr="0" custT="0"/>
      <dgm:spPr/>
      <dgm:t>
        <a:bodyPr vert="horz" wrap="square"/>
        <a:p>
          <a:pPr>
            <a:lnSpc>
              <a:spcPct val="100000"/>
            </a:lnSpc>
            <a:spcBef>
              <a:spcPct val="0"/>
            </a:spcBef>
            <a:spcAft>
              <a:spcPct val="15000"/>
            </a:spcAft>
          </a:pPr>
          <a:r>
            <a:rPr lang="zh-CN" altLang="en-US"/>
            <a:t>女</a:t>
          </a:r>
          <a:r>
            <a:rPr lang="en-US" altLang="zh-CN"/>
            <a:t>55/58</a:t>
          </a:r>
          <a:r>
            <a:rPr lang="zh-CN" altLang="en-US"/>
            <a:t/>
          </a:r>
          <a:endParaRPr lang="zh-CN" altLang="en-US"/>
        </a:p>
      </dgm:t>
    </dgm:pt>
    <dgm:pt modelId="{86781867-FAFB-4817-90B5-2129E57850A8}" cxnId="{750B4855-3D63-4BE7-AD3D-F3E8D5555E76}" type="parTrans">
      <dgm:prSet/>
      <dgm:spPr/>
    </dgm:pt>
    <dgm:pt modelId="{C72048F4-7494-4BED-9066-03AFD1C615FE}" cxnId="{750B4855-3D63-4BE7-AD3D-F3E8D5555E76}" type="sibTrans">
      <dgm:prSet/>
      <dgm:spPr/>
    </dgm:pt>
    <dgm:pt modelId="{651DCCAD-CF08-4276-993B-33457BC3C714}">
      <dgm:prSet phldr="0" custT="0"/>
      <dgm:spPr/>
      <dgm:t>
        <a:bodyPr vert="horz" wrap="square"/>
        <a:p>
          <a:pPr>
            <a:lnSpc>
              <a:spcPct val="100000"/>
            </a:lnSpc>
            <a:spcBef>
              <a:spcPct val="0"/>
            </a:spcBef>
            <a:spcAft>
              <a:spcPct val="15000"/>
            </a:spcAft>
          </a:pPr>
          <a:r>
            <a:rPr lang="en-US" altLang="zh-CN"/>
            <a:t>2022</a:t>
          </a:r>
          <a:r>
            <a:rPr lang="zh-CN" altLang="en-US"/>
            <a:t>年</a:t>
          </a:r>
          <a:r>
            <a:rPr lang="en-US" altLang="zh-CN"/>
            <a:t/>
          </a:r>
          <a:endParaRPr lang="en-US" altLang="zh-CN"/>
        </a:p>
      </dgm:t>
    </dgm:pt>
    <dgm:pt modelId="{C3CA2F97-A237-4F6A-86A2-66D4788C85B6}" cxnId="{EF03367E-D48E-44F0-8D2B-BB3C856DACC0}" type="parTrans">
      <dgm:prSet/>
      <dgm:spPr/>
    </dgm:pt>
    <dgm:pt modelId="{B3EAAEBE-76B0-4281-A828-7148F64E51A9}" cxnId="{EF03367E-D48E-44F0-8D2B-BB3C856DACC0}" type="sibTrans">
      <dgm:prSet/>
      <dgm:spPr/>
    </dgm:pt>
    <dgm:pt modelId="{C3C89599-19FB-49F1-A2AD-CAD46BB9EF8A}">
      <dgm:prSet phldr="0" custT="0"/>
      <dgm:spPr/>
      <dgm:t>
        <a:bodyPr vert="horz" wrap="square"/>
        <a:p>
          <a:pPr>
            <a:lnSpc>
              <a:spcPct val="100000"/>
            </a:lnSpc>
            <a:spcBef>
              <a:spcPct val="0"/>
            </a:spcBef>
            <a:spcAft>
              <a:spcPct val="15000"/>
            </a:spcAft>
          </a:pPr>
          <a:r>
            <a:rPr lang="en-US" altLang="zh-CN"/>
            <a:t>2050</a:t>
          </a:r>
          <a:r>
            <a:rPr lang="zh-CN" altLang="en-US"/>
            <a:t>年</a:t>
          </a:r>
          <a:r>
            <a:rPr lang="en-US" altLang="zh-CN"/>
            <a:t>65</a:t>
          </a:r>
          <a:r>
            <a:rPr lang="zh-CN" altLang="en-US"/>
            <a:t>岁</a:t>
          </a:r>
          <a:r>
            <a:rPr lang="zh-CN" altLang="en-US"/>
            <a:t>同龄退休</a:t>
          </a:r>
          <a:r>
            <a:rPr lang="zh-CN" altLang="en-US"/>
            <a:t/>
          </a:r>
          <a:endParaRPr lang="zh-CN" altLang="en-US"/>
        </a:p>
      </dgm:t>
    </dgm:pt>
    <dgm:pt modelId="{8F7E17F8-3FAF-48AD-8FC6-B8CA26B94106}" cxnId="{B948F719-BCC8-4AC3-9A2C-EE50331B3AA9}" type="parTrans">
      <dgm:prSet/>
      <dgm:spPr/>
    </dgm:pt>
    <dgm:pt modelId="{AEE4B5F2-1013-4D4C-9864-4333DCCC8A23}" cxnId="{B948F719-BCC8-4AC3-9A2C-EE50331B3AA9}" type="sibTrans">
      <dgm:prSet/>
      <dgm:spPr/>
    </dgm:pt>
    <dgm:pt modelId="{DE36D10E-86CD-4C6D-B150-31E525EF527D}" type="pres">
      <dgm:prSet presAssocID="{ACB2E4C7-2DBC-45BC-B933-FAAF417E8C6B}" presName="Name0" presStyleCnt="0">
        <dgm:presLayoutVars>
          <dgm:dir/>
          <dgm:resizeHandles val="exact"/>
        </dgm:presLayoutVars>
      </dgm:prSet>
      <dgm:spPr/>
    </dgm:pt>
    <dgm:pt modelId="{E561ED5B-86C5-4F33-9AFB-CF29287F5ADA}" type="pres">
      <dgm:prSet presAssocID="{DA8A2D07-F387-4404-9FCB-397A6A028210}" presName="node" presStyleLbl="node1" presStyleIdx="0" presStyleCnt="2" custScaleX="151694">
        <dgm:presLayoutVars>
          <dgm:bulletEnabled val="1"/>
        </dgm:presLayoutVars>
      </dgm:prSet>
      <dgm:spPr/>
    </dgm:pt>
    <dgm:pt modelId="{2AE1D4D4-A63C-4622-84B0-74ED38324CB1}" type="pres">
      <dgm:prSet presAssocID="{8755279E-20A5-4AEE-BDD2-C54EFA6328A6}" presName="sibTrans" presStyleCnt="0"/>
      <dgm:spPr/>
    </dgm:pt>
    <dgm:pt modelId="{CB90536C-45AA-4FBE-BCAF-99890DDD97C8}" type="pres">
      <dgm:prSet presAssocID="{D7AF1C1D-144B-4B25-A777-792381B7ED5B}" presName="node" presStyleLbl="node1" presStyleIdx="1" presStyleCnt="2" custScaleX="160268" custLinFactNeighborX="12919">
        <dgm:presLayoutVars>
          <dgm:bulletEnabled val="1"/>
        </dgm:presLayoutVars>
      </dgm:prSet>
      <dgm:spPr/>
    </dgm:pt>
  </dgm:ptLst>
  <dgm:cxnLst>
    <dgm:cxn modelId="{DCBE1E4A-EF89-42C3-B5EC-B03CE488BCD8}" srcId="{ACB2E4C7-2DBC-45BC-B933-FAAF417E8C6B}" destId="{DA8A2D07-F387-4404-9FCB-397A6A028210}" srcOrd="0" destOrd="0" parTransId="{6834AA20-CCB2-4B69-B573-CB4D31C014E6}" sibTransId="{8755279E-20A5-4AEE-BDD2-C54EFA6328A6}"/>
    <dgm:cxn modelId="{7DD70FB8-D3E8-474F-BD89-CEDFD3BACD5B}" srcId="{DA8A2D07-F387-4404-9FCB-397A6A028210}" destId="{6BDF5A6F-39D8-4590-9AC2-729F7BBEA876}" srcOrd="0" destOrd="0" parTransId="{CB01FB6D-EA51-4A1B-BDE3-2C87E6145C58}" sibTransId="{46C6F4C9-0FF7-4173-8C3E-E375FF27D93A}"/>
    <dgm:cxn modelId="{55D126B3-C370-4A21-9DE0-03541FAA4221}" srcId="{DA8A2D07-F387-4404-9FCB-397A6A028210}" destId="{2806DB73-21D8-4519-AEFC-E9D0A6BF9D90}" srcOrd="1" destOrd="0" parTransId="{ACF3D7E5-D763-439F-91EF-692D4172430E}" sibTransId="{E65BC655-C313-4510-8CD1-17BA5896E662}"/>
    <dgm:cxn modelId="{57D95E8D-4BC4-480E-A097-1F05DA68C1B6}" srcId="{DA8A2D07-F387-4404-9FCB-397A6A028210}" destId="{CF10752A-4741-40D4-99C0-2B76593CC68E}" srcOrd="2" destOrd="0" parTransId="{01A97B6B-BD01-4EB0-AF9A-3BEF2C69DB0F}" sibTransId="{7040229D-C342-4851-B201-D7DB255F79C3}"/>
    <dgm:cxn modelId="{92B0917C-5C4A-48BA-9909-D2E6C3C69204}" srcId="{DA8A2D07-F387-4404-9FCB-397A6A028210}" destId="{20E97661-72AC-4050-A5E6-52A4740DD48A}" srcOrd="3" destOrd="0" parTransId="{D4BFA7A7-22D0-46D2-9939-C4E43FC07290}" sibTransId="{917F9A27-760B-43A8-853F-12200958F4C4}"/>
    <dgm:cxn modelId="{B19B8A71-DF5C-4A99-A013-D3FB527C3FC5}" srcId="{ACB2E4C7-2DBC-45BC-B933-FAAF417E8C6B}" destId="{D7AF1C1D-144B-4B25-A777-792381B7ED5B}" srcOrd="1" destOrd="0" parTransId="{24B9E243-8415-4A77-8486-6B84ADEA7DB0}" sibTransId="{B5AE4F68-C44C-4384-AF42-66197C13C64E}"/>
    <dgm:cxn modelId="{4A7DBDD0-BDEB-47BE-8353-67DFF1F87BEC}" srcId="{D7AF1C1D-144B-4B25-A777-792381B7ED5B}" destId="{F593A62D-7DDD-425C-B689-12BE9CCFC8A2}" srcOrd="0" destOrd="1" parTransId="{87FB9B63-2E9C-4345-B17E-072EC8045085}" sibTransId="{00056272-A53C-4348-B12B-7E2F041886B6}"/>
    <dgm:cxn modelId="{750B4855-3D63-4BE7-AD3D-F3E8D5555E76}" srcId="{D7AF1C1D-144B-4B25-A777-792381B7ED5B}" destId="{48713FC8-C1E9-453B-9BD2-C465452290CF}" srcOrd="1" destOrd="1" parTransId="{86781867-FAFB-4817-90B5-2129E57850A8}" sibTransId="{C72048F4-7494-4BED-9066-03AFD1C615FE}"/>
    <dgm:cxn modelId="{EF03367E-D48E-44F0-8D2B-BB3C856DACC0}" srcId="{D7AF1C1D-144B-4B25-A777-792381B7ED5B}" destId="{651DCCAD-CF08-4276-993B-33457BC3C714}" srcOrd="2" destOrd="1" parTransId="{C3CA2F97-A237-4F6A-86A2-66D4788C85B6}" sibTransId="{B3EAAEBE-76B0-4281-A828-7148F64E51A9}"/>
    <dgm:cxn modelId="{B948F719-BCC8-4AC3-9A2C-EE50331B3AA9}" srcId="{D7AF1C1D-144B-4B25-A777-792381B7ED5B}" destId="{C3C89599-19FB-49F1-A2AD-CAD46BB9EF8A}" srcOrd="3" destOrd="1" parTransId="{8F7E17F8-3FAF-48AD-8FC6-B8CA26B94106}" sibTransId="{AEE4B5F2-1013-4D4C-9864-4333DCCC8A23}"/>
    <dgm:cxn modelId="{68DE9F70-98E2-4B17-BFF8-32967201E8BD}" type="presOf" srcId="{ACB2E4C7-2DBC-45BC-B933-FAAF417E8C6B}" destId="{DE36D10E-86CD-4C6D-B150-31E525EF527D}" srcOrd="0" destOrd="0" presId="urn:microsoft.com/office/officeart/2005/8/layout/hList6"/>
    <dgm:cxn modelId="{23CC4EC6-5D0B-4E57-A2C0-AB90A671B16D}" type="presParOf" srcId="{DE36D10E-86CD-4C6D-B150-31E525EF527D}" destId="{E561ED5B-86C5-4F33-9AFB-CF29287F5ADA}" srcOrd="0" destOrd="0" presId="urn:microsoft.com/office/officeart/2005/8/layout/hList6"/>
    <dgm:cxn modelId="{2C10BCB2-C41C-4E36-903B-AA0989926DFA}" type="presOf" srcId="{DA8A2D07-F387-4404-9FCB-397A6A028210}" destId="{E561ED5B-86C5-4F33-9AFB-CF29287F5ADA}" srcOrd="0" destOrd="0" presId="urn:microsoft.com/office/officeart/2005/8/layout/hList6"/>
    <dgm:cxn modelId="{EEA7D546-F84E-4241-AB11-6A12D47F9D6E}" type="presOf" srcId="{6BDF5A6F-39D8-4590-9AC2-729F7BBEA876}" destId="{E561ED5B-86C5-4F33-9AFB-CF29287F5ADA}" srcOrd="0" destOrd="1" presId="urn:microsoft.com/office/officeart/2005/8/layout/hList6"/>
    <dgm:cxn modelId="{708D244D-AE4B-4662-9945-0931B3748EEF}" type="presOf" srcId="{2806DB73-21D8-4519-AEFC-E9D0A6BF9D90}" destId="{E561ED5B-86C5-4F33-9AFB-CF29287F5ADA}" srcOrd="0" destOrd="2" presId="urn:microsoft.com/office/officeart/2005/8/layout/hList6"/>
    <dgm:cxn modelId="{40BFE13F-A2B2-411D-94AA-272E99678882}" type="presOf" srcId="{CF10752A-4741-40D4-99C0-2B76593CC68E}" destId="{E561ED5B-86C5-4F33-9AFB-CF29287F5ADA}" srcOrd="0" destOrd="3" presId="urn:microsoft.com/office/officeart/2005/8/layout/hList6"/>
    <dgm:cxn modelId="{707E873A-66E9-4244-8F77-6EE432539A83}" type="presOf" srcId="{20E97661-72AC-4050-A5E6-52A4740DD48A}" destId="{E561ED5B-86C5-4F33-9AFB-CF29287F5ADA}" srcOrd="0" destOrd="4" presId="urn:microsoft.com/office/officeart/2005/8/layout/hList6"/>
    <dgm:cxn modelId="{67505DF4-941E-46E2-B360-BB5C0E20A4F0}" type="presParOf" srcId="{DE36D10E-86CD-4C6D-B150-31E525EF527D}" destId="{2AE1D4D4-A63C-4622-84B0-74ED38324CB1}" srcOrd="1" destOrd="0" presId="urn:microsoft.com/office/officeart/2005/8/layout/hList6"/>
    <dgm:cxn modelId="{57BE91C3-2943-4520-9ACA-8FC95A4BE68F}" type="presParOf" srcId="{DE36D10E-86CD-4C6D-B150-31E525EF527D}" destId="{CB90536C-45AA-4FBE-BCAF-99890DDD97C8}" srcOrd="2" destOrd="0" presId="urn:microsoft.com/office/officeart/2005/8/layout/hList6"/>
    <dgm:cxn modelId="{E60B6B57-3BD4-4148-BD9F-72B4914E063A}" type="presOf" srcId="{D7AF1C1D-144B-4B25-A777-792381B7ED5B}" destId="{CB90536C-45AA-4FBE-BCAF-99890DDD97C8}" srcOrd="0" destOrd="0" presId="urn:microsoft.com/office/officeart/2005/8/layout/hList6"/>
    <dgm:cxn modelId="{DC6689E1-CFEA-4A84-ADA4-20DACF7095B0}" type="presOf" srcId="{F593A62D-7DDD-425C-B689-12BE9CCFC8A2}" destId="{CB90536C-45AA-4FBE-BCAF-99890DDD97C8}" srcOrd="0" destOrd="1" presId="urn:microsoft.com/office/officeart/2005/8/layout/hList6"/>
    <dgm:cxn modelId="{48205101-D0CA-4C22-895B-D2CD9241915D}" type="presOf" srcId="{48713FC8-C1E9-453B-9BD2-C465452290CF}" destId="{CB90536C-45AA-4FBE-BCAF-99890DDD97C8}" srcOrd="0" destOrd="2" presId="urn:microsoft.com/office/officeart/2005/8/layout/hList6"/>
    <dgm:cxn modelId="{63708934-AB93-470E-B130-CC851A172B7A}" type="presOf" srcId="{651DCCAD-CF08-4276-993B-33457BC3C714}" destId="{CB90536C-45AA-4FBE-BCAF-99890DDD97C8}" srcOrd="0" destOrd="3" presId="urn:microsoft.com/office/officeart/2005/8/layout/hList6"/>
    <dgm:cxn modelId="{B41DD834-069B-43E5-B92E-0261059C77B1}" type="presOf" srcId="{C3C89599-19FB-49F1-A2AD-CAD46BB9EF8A}" destId="{CB90536C-45AA-4FBE-BCAF-99890DDD97C8}" srcOrd="0" destOrd="4"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B23D42-BC25-41C4-9A3F-A3E78CFB9E14}" type="doc">
      <dgm:prSet loTypeId="urn:microsoft.com/office/officeart/2005/8/layout/hChevron3" loCatId="process" qsTypeId="urn:microsoft.com/office/officeart/2005/8/quickstyle/simple2" qsCatId="simple" csTypeId="urn:microsoft.com/office/officeart/2005/8/colors/accent1_2" csCatId="accent1" phldr="0"/>
      <dgm:spPr/>
    </dgm:pt>
    <dgm:pt modelId="{4B5DF693-4886-4E9C-B265-25DF30A69707}">
      <dgm:prSet phldrT="[文本]" phldr="0" custT="0"/>
      <dgm:spPr/>
      <dgm:t>
        <a:bodyPr vert="horz" wrap="square"/>
        <a:p>
          <a:pPr>
            <a:lnSpc>
              <a:spcPct val="100000"/>
            </a:lnSpc>
            <a:spcBef>
              <a:spcPct val="0"/>
            </a:spcBef>
            <a:spcAft>
              <a:spcPct val="35000"/>
            </a:spcAft>
          </a:pPr>
          <a:r>
            <a:rPr lang="zh-CN" altLang="en-US"/>
            <a:t>代</a:t>
          </a:r>
          <a:r>
            <a:rPr lang="zh-CN" altLang="en-US"/>
            <a:t>际</a:t>
          </a:r>
          <a:r>
            <a:rPr lang="zh-CN" altLang="en-US"/>
            <a:t>公平</a:t>
          </a:r>
          <a:r>
            <a:rPr lang="zh-CN" altLang="en-US"/>
            <a:t/>
          </a:r>
          <a:endParaRPr lang="zh-CN" altLang="en-US"/>
        </a:p>
      </dgm:t>
    </dgm:pt>
    <dgm:pt modelId="{C45242E4-C1BE-46EE-AFF4-3FF6BC67FF5A}" cxnId="{1DB79F43-BAA8-4826-95A0-C5AACAD34D2F}" type="parTrans">
      <dgm:prSet/>
      <dgm:spPr/>
    </dgm:pt>
    <dgm:pt modelId="{66F3CD11-6360-47FC-B16E-09D287CFF570}" cxnId="{1DB79F43-BAA8-4826-95A0-C5AACAD34D2F}" type="sibTrans">
      <dgm:prSet/>
      <dgm:spPr/>
    </dgm:pt>
    <dgm:pt modelId="{D21DC186-0676-45FC-9354-C0188C2FF392}">
      <dgm:prSet phldrT="[文本]" phldr="0" custT="0"/>
      <dgm:spPr/>
      <dgm:t>
        <a:bodyPr vert="horz" wrap="square"/>
        <a:p>
          <a:pPr>
            <a:lnSpc>
              <a:spcPct val="100000"/>
            </a:lnSpc>
            <a:spcBef>
              <a:spcPct val="0"/>
            </a:spcBef>
            <a:spcAft>
              <a:spcPct val="35000"/>
            </a:spcAft>
          </a:pPr>
          <a:r>
            <a:rPr lang="zh-CN" altLang="en-US"/>
            <a:t>性别</a:t>
          </a:r>
          <a:r>
            <a:rPr lang="zh-CN" altLang="en-US"/>
            <a:t>差异</a:t>
          </a:r>
          <a:r>
            <a:rPr lang="zh-CN" altLang="en-US"/>
            <a:t/>
          </a:r>
          <a:endParaRPr lang="zh-CN" altLang="en-US"/>
        </a:p>
      </dgm:t>
    </dgm:pt>
    <dgm:pt modelId="{33F77309-AEA6-42F5-AB74-D99CE411FBE2}" cxnId="{8F92E6F8-21C4-4109-9FB9-572B34FF148B}" type="parTrans">
      <dgm:prSet/>
      <dgm:spPr/>
    </dgm:pt>
    <dgm:pt modelId="{2E62AB09-D0F6-438F-9C66-EA56C3C41BD4}" cxnId="{8F92E6F8-21C4-4109-9FB9-572B34FF148B}" type="sibTrans">
      <dgm:prSet/>
      <dgm:spPr/>
    </dgm:pt>
    <dgm:pt modelId="{CB84C01F-80D0-4070-80A6-CB6614DA8F48}">
      <dgm:prSet phldrT="[文本]" phldr="0" custT="0"/>
      <dgm:spPr/>
      <dgm:t>
        <a:bodyPr vert="horz" wrap="square"/>
        <a:p>
          <a:pPr>
            <a:lnSpc>
              <a:spcPct val="100000"/>
            </a:lnSpc>
            <a:spcBef>
              <a:spcPct val="0"/>
            </a:spcBef>
            <a:spcAft>
              <a:spcPct val="35000"/>
            </a:spcAft>
          </a:pPr>
          <a:r>
            <a:rPr lang="zh-CN" altLang="en-US"/>
            <a:t>技术</a:t>
          </a:r>
          <a:r>
            <a:rPr lang="zh-CN" altLang="en-US"/>
            <a:t>代替</a:t>
          </a:r>
          <a:r>
            <a:rPr lang="zh-CN" altLang="en-US"/>
            <a:t/>
          </a:r>
          <a:endParaRPr lang="zh-CN" altLang="en-US"/>
        </a:p>
      </dgm:t>
    </dgm:pt>
    <dgm:pt modelId="{BD679D04-73EA-4B88-AC52-631A0355AF75}" cxnId="{3F674401-2CB5-4102-A10A-A8CE52776ADC}" type="parTrans">
      <dgm:prSet/>
      <dgm:spPr/>
    </dgm:pt>
    <dgm:pt modelId="{3D21CAD6-6F72-4608-B9D4-571910F9A702}" cxnId="{3F674401-2CB5-4102-A10A-A8CE52776ADC}" type="sibTrans">
      <dgm:prSet/>
      <dgm:spPr/>
    </dgm:pt>
    <dgm:pt modelId="{B84BFEFB-261E-437C-AD9E-90ED8A3C8045}" type="pres">
      <dgm:prSet presAssocID="{9DB23D42-BC25-41C4-9A3F-A3E78CFB9E14}" presName="Name0" presStyleCnt="0">
        <dgm:presLayoutVars>
          <dgm:dir/>
          <dgm:resizeHandles val="exact"/>
        </dgm:presLayoutVars>
      </dgm:prSet>
      <dgm:spPr/>
    </dgm:pt>
    <dgm:pt modelId="{1450B55C-E4AF-4C4A-86D5-6F08C883C8A1}" type="pres">
      <dgm:prSet presAssocID="{4B5DF693-4886-4E9C-B265-25DF30A69707}" presName="parTxOnly" presStyleLbl="node1" presStyleIdx="0" presStyleCnt="3">
        <dgm:presLayoutVars>
          <dgm:bulletEnabled val="1"/>
        </dgm:presLayoutVars>
      </dgm:prSet>
      <dgm:spPr/>
    </dgm:pt>
    <dgm:pt modelId="{B9E1FA38-2042-466B-8091-F149A9FE2767}" type="pres">
      <dgm:prSet presAssocID="{66F3CD11-6360-47FC-B16E-09D287CFF570}" presName="parSpace" presStyleCnt="0"/>
      <dgm:spPr/>
    </dgm:pt>
    <dgm:pt modelId="{97ED5984-E182-4084-893A-3007DB7F6057}" type="pres">
      <dgm:prSet presAssocID="{D21DC186-0676-45FC-9354-C0188C2FF392}" presName="parTxOnly" presStyleLbl="node1" presStyleIdx="1" presStyleCnt="3">
        <dgm:presLayoutVars>
          <dgm:bulletEnabled val="1"/>
        </dgm:presLayoutVars>
      </dgm:prSet>
      <dgm:spPr/>
    </dgm:pt>
    <dgm:pt modelId="{D2344F82-2A90-412D-B813-61B1B47F68C7}" type="pres">
      <dgm:prSet presAssocID="{2E62AB09-D0F6-438F-9C66-EA56C3C41BD4}" presName="parSpace" presStyleCnt="0"/>
      <dgm:spPr/>
    </dgm:pt>
    <dgm:pt modelId="{BA1BBACD-C964-4429-B8AC-A0F655E890BE}" type="pres">
      <dgm:prSet presAssocID="{CB84C01F-80D0-4070-80A6-CB6614DA8F48}" presName="parTxOnly" presStyleLbl="node1" presStyleIdx="2" presStyleCnt="3">
        <dgm:presLayoutVars>
          <dgm:bulletEnabled val="1"/>
        </dgm:presLayoutVars>
      </dgm:prSet>
      <dgm:spPr/>
    </dgm:pt>
  </dgm:ptLst>
  <dgm:cxnLst>
    <dgm:cxn modelId="{1DB79F43-BAA8-4826-95A0-C5AACAD34D2F}" srcId="{9DB23D42-BC25-41C4-9A3F-A3E78CFB9E14}" destId="{4B5DF693-4886-4E9C-B265-25DF30A69707}" srcOrd="0" destOrd="0" parTransId="{C45242E4-C1BE-46EE-AFF4-3FF6BC67FF5A}" sibTransId="{66F3CD11-6360-47FC-B16E-09D287CFF570}"/>
    <dgm:cxn modelId="{8F92E6F8-21C4-4109-9FB9-572B34FF148B}" srcId="{9DB23D42-BC25-41C4-9A3F-A3E78CFB9E14}" destId="{D21DC186-0676-45FC-9354-C0188C2FF392}" srcOrd="1" destOrd="0" parTransId="{33F77309-AEA6-42F5-AB74-D99CE411FBE2}" sibTransId="{2E62AB09-D0F6-438F-9C66-EA56C3C41BD4}"/>
    <dgm:cxn modelId="{3F674401-2CB5-4102-A10A-A8CE52776ADC}" srcId="{9DB23D42-BC25-41C4-9A3F-A3E78CFB9E14}" destId="{CB84C01F-80D0-4070-80A6-CB6614DA8F48}" srcOrd="2" destOrd="0" parTransId="{BD679D04-73EA-4B88-AC52-631A0355AF75}" sibTransId="{3D21CAD6-6F72-4608-B9D4-571910F9A702}"/>
    <dgm:cxn modelId="{EA397C75-FF43-48D3-929C-4C7F6C6AACA3}" type="presOf" srcId="{9DB23D42-BC25-41C4-9A3F-A3E78CFB9E14}" destId="{B84BFEFB-261E-437C-AD9E-90ED8A3C8045}" srcOrd="0" destOrd="0" presId="urn:microsoft.com/office/officeart/2005/8/layout/hChevron3"/>
    <dgm:cxn modelId="{A4E3DCA5-668A-4712-A027-82334EF220F9}" type="presParOf" srcId="{B84BFEFB-261E-437C-AD9E-90ED8A3C8045}" destId="{1450B55C-E4AF-4C4A-86D5-6F08C883C8A1}" srcOrd="0" destOrd="0" presId="urn:microsoft.com/office/officeart/2005/8/layout/hChevron3"/>
    <dgm:cxn modelId="{C05257A0-F084-404C-BCD2-9ADA653E3717}" type="presOf" srcId="{4B5DF693-4886-4E9C-B265-25DF30A69707}" destId="{1450B55C-E4AF-4C4A-86D5-6F08C883C8A1}" srcOrd="0" destOrd="0" presId="urn:microsoft.com/office/officeart/2005/8/layout/hChevron3"/>
    <dgm:cxn modelId="{F21CC1E7-A412-4A53-B7C5-FB3E147246EA}" type="presParOf" srcId="{B84BFEFB-261E-437C-AD9E-90ED8A3C8045}" destId="{B9E1FA38-2042-466B-8091-F149A9FE2767}" srcOrd="1" destOrd="0" presId="urn:microsoft.com/office/officeart/2005/8/layout/hChevron3"/>
    <dgm:cxn modelId="{C83EACDB-0D59-4054-A3FC-8A2C08799EDB}" type="presParOf" srcId="{B84BFEFB-261E-437C-AD9E-90ED8A3C8045}" destId="{97ED5984-E182-4084-893A-3007DB7F6057}" srcOrd="2" destOrd="0" presId="urn:microsoft.com/office/officeart/2005/8/layout/hChevron3"/>
    <dgm:cxn modelId="{A5D353A8-03A4-4291-82F8-71F01E29EB5F}" type="presOf" srcId="{D21DC186-0676-45FC-9354-C0188C2FF392}" destId="{97ED5984-E182-4084-893A-3007DB7F6057}" srcOrd="0" destOrd="0" presId="urn:microsoft.com/office/officeart/2005/8/layout/hChevron3"/>
    <dgm:cxn modelId="{0091EB34-15EA-4737-B48F-177EE8905CF4}" type="presParOf" srcId="{B84BFEFB-261E-437C-AD9E-90ED8A3C8045}" destId="{D2344F82-2A90-412D-B813-61B1B47F68C7}" srcOrd="3" destOrd="0" presId="urn:microsoft.com/office/officeart/2005/8/layout/hChevron3"/>
    <dgm:cxn modelId="{D51958F2-2F39-45C1-9B65-E5F810D324EB}" type="presParOf" srcId="{B84BFEFB-261E-437C-AD9E-90ED8A3C8045}" destId="{BA1BBACD-C964-4429-B8AC-A0F655E890BE}" srcOrd="4" destOrd="0" presId="urn:microsoft.com/office/officeart/2005/8/layout/hChevron3"/>
    <dgm:cxn modelId="{F91DFF44-F27A-4E58-9139-A9A79DC17F41}" type="presOf" srcId="{CB84C01F-80D0-4070-80A6-CB6614DA8F48}" destId="{BA1BBACD-C964-4429-B8AC-A0F655E890BE}" srcOrd="0" destOrd="0" presId="urn:microsoft.com/office/officeart/2005/8/layout/hChevron3"/>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F9829FD-DD90-4EE7-BCD7-4AF299D6F45A}" type="doc">
      <dgm:prSet loTypeId="process" loCatId="process" qsTypeId="urn:microsoft.com/office/officeart/2005/8/quickstyle/simple5" qsCatId="simple" csTypeId="urn:microsoft.com/office/officeart/2005/8/colors/accent1_2" csCatId="accent1" phldr="0"/>
      <dgm:spPr/>
      <dgm:t>
        <a:bodyPr/>
        <a:p>
          <a:endParaRPr lang="zh-CN" altLang="en-US"/>
        </a:p>
      </dgm:t>
    </dgm:pt>
    <dgm:pt modelId="{FCC504F5-317D-4294-815B-28489BDC5845}">
      <dgm:prSet phldrT="[文本]" phldr="0" custT="0"/>
      <dgm:spPr/>
      <dgm:t>
        <a:bodyPr vert="horz" wrap="square"/>
        <a:p>
          <a:pPr>
            <a:lnSpc>
              <a:spcPct val="100000"/>
            </a:lnSpc>
            <a:spcBef>
              <a:spcPct val="0"/>
            </a:spcBef>
            <a:spcAft>
              <a:spcPct val="35000"/>
            </a:spcAft>
          </a:pPr>
          <a:r>
            <a:rPr lang="en-US" altLang="zh-CN"/>
            <a:t>LDA</a:t>
          </a:r>
          <a:r>
            <a:rPr lang="en-US" altLang="zh-CN"/>
            <a:t/>
          </a:r>
          <a:endParaRPr lang="en-US" altLang="zh-CN"/>
        </a:p>
      </dgm:t>
    </dgm:pt>
    <dgm:pt modelId="{8F05BE86-1921-41BD-B82E-72272E9475E9}" cxnId="{D00FEBBC-8B8E-4354-8B0D-B58F0BDEAF1F}" type="parTrans">
      <dgm:prSet/>
      <dgm:spPr/>
      <dgm:t>
        <a:bodyPr/>
        <a:p>
          <a:endParaRPr lang="zh-CN" altLang="en-US"/>
        </a:p>
      </dgm:t>
    </dgm:pt>
    <dgm:pt modelId="{67223200-D196-44B3-9DFD-D095DDBC10AB}" cxnId="{D00FEBBC-8B8E-4354-8B0D-B58F0BDEAF1F}" type="sibTrans">
      <dgm:prSet/>
      <dgm:spPr/>
      <dgm:t>
        <a:bodyPr/>
        <a:p>
          <a:endParaRPr lang="zh-CN" altLang="en-US"/>
        </a:p>
      </dgm:t>
    </dgm:pt>
    <dgm:pt modelId="{F3F66F6A-184E-4CBB-A544-AC2BF2A74FC0}">
      <dgm:prSet phldrT="[文本]" phldr="0" custT="0"/>
      <dgm:spPr/>
      <dgm:t>
        <a:bodyPr vert="horz" wrap="square"/>
        <a:p>
          <a:pPr>
            <a:lnSpc>
              <a:spcPct val="100000"/>
            </a:lnSpc>
            <a:spcBef>
              <a:spcPct val="0"/>
            </a:spcBef>
            <a:spcAft>
              <a:spcPct val="15000"/>
            </a:spcAft>
          </a:pPr>
          <a:r>
            <a:rPr lang="en-US" altLang="zh-CN"/>
            <a:t>LDA</a:t>
          </a:r>
          <a:r>
            <a:rPr lang="zh-CN" altLang="en-US"/>
            <a:t>主题模型对收集的文本数据进行主题识别</a:t>
          </a:r>
          <a:r>
            <a:rPr lang="zh-CN" altLang="en-US"/>
            <a:t/>
          </a:r>
          <a:endParaRPr lang="zh-CN" altLang="en-US"/>
        </a:p>
      </dgm:t>
    </dgm:pt>
    <dgm:pt modelId="{7A0C70B0-5DAE-45AB-9915-863AC3FA4D2D}" cxnId="{E7BDC998-E8C4-402E-A9D0-DA2A6C71EAAA}" type="parTrans">
      <dgm:prSet/>
      <dgm:spPr/>
      <dgm:t>
        <a:bodyPr/>
        <a:p>
          <a:endParaRPr lang="zh-CN" altLang="en-US"/>
        </a:p>
      </dgm:t>
    </dgm:pt>
    <dgm:pt modelId="{47DD308A-8526-455B-A37F-FEE2CC1C75AF}" cxnId="{E7BDC998-E8C4-402E-A9D0-DA2A6C71EAAA}" type="sibTrans">
      <dgm:prSet/>
      <dgm:spPr/>
      <dgm:t>
        <a:bodyPr/>
        <a:p>
          <a:endParaRPr lang="zh-CN" altLang="en-US"/>
        </a:p>
      </dgm:t>
    </dgm:pt>
    <dgm:pt modelId="{8FF46FE3-6BD2-443F-81DC-C8D010955997}">
      <dgm:prSet phldr="0" custT="0"/>
      <dgm:spPr/>
      <dgm:t>
        <a:bodyPr vert="horz" wrap="square"/>
        <a:p>
          <a:pPr>
            <a:lnSpc>
              <a:spcPct val="100000"/>
            </a:lnSpc>
            <a:spcBef>
              <a:spcPct val="0"/>
            </a:spcBef>
            <a:spcAft>
              <a:spcPct val="15000"/>
            </a:spcAft>
          </a:pPr>
          <a:r>
            <a:rPr lang="zh-CN" altLang="en-US"/>
            <a:t>提取出影响老年群体再就业的</a:t>
          </a:r>
          <a:r>
            <a:rPr lang="en-US" altLang="zh-CN"/>
            <a:t>10</a:t>
          </a:r>
          <a:r>
            <a:rPr lang="zh-CN" altLang="en-US"/>
            <a:t>大</a:t>
          </a:r>
          <a:r>
            <a:rPr lang="zh-CN" altLang="en-US"/>
            <a:t>关键因素</a:t>
          </a:r>
          <a:r>
            <a:rPr lang="zh-CN" altLang="en-US"/>
            <a:t/>
          </a:r>
          <a:endParaRPr lang="zh-CN" altLang="en-US"/>
        </a:p>
      </dgm:t>
    </dgm:pt>
    <dgm:pt modelId="{C333B8C2-28DF-4D29-8C8F-CACC875B3F6A}" cxnId="{D05220F6-790A-4469-AA09-781240745268}" type="parTrans">
      <dgm:prSet/>
      <dgm:spPr/>
    </dgm:pt>
    <dgm:pt modelId="{11A6DD01-EAC5-49C7-9BB7-D0B1A03986E1}" cxnId="{D05220F6-790A-4469-AA09-781240745268}" type="sibTrans">
      <dgm:prSet/>
      <dgm:spPr/>
    </dgm:pt>
    <dgm:pt modelId="{780FAED3-C4BD-4FF1-8B67-8499CCFAE2ED}">
      <dgm:prSet phldrT="[文本]" phldr="0" custT="0"/>
      <dgm:spPr/>
      <dgm:t>
        <a:bodyPr vert="horz" wrap="square"/>
        <a:p>
          <a:pPr>
            <a:lnSpc>
              <a:spcPct val="100000"/>
            </a:lnSpc>
            <a:spcBef>
              <a:spcPct val="0"/>
            </a:spcBef>
            <a:spcAft>
              <a:spcPct val="35000"/>
            </a:spcAft>
          </a:pPr>
          <a:r>
            <a:rPr lang="en-US" altLang="zh-CN"/>
            <a:t>DEMATEL</a:t>
          </a:r>
          <a:r>
            <a:rPr lang="en-US" altLang="zh-CN"/>
            <a:t/>
          </a:r>
          <a:endParaRPr lang="en-US" altLang="zh-CN"/>
        </a:p>
      </dgm:t>
    </dgm:pt>
    <dgm:pt modelId="{88C57C74-C9C4-46CF-A10B-13A1A1E7714C}" cxnId="{565D3F41-BBB6-438C-A609-499EB0FE1428}" type="parTrans">
      <dgm:prSet/>
      <dgm:spPr/>
      <dgm:t>
        <a:bodyPr/>
        <a:p>
          <a:endParaRPr lang="zh-CN" altLang="en-US"/>
        </a:p>
      </dgm:t>
    </dgm:pt>
    <dgm:pt modelId="{34435F2A-D730-405E-99D5-BBC9FB7499FA}" cxnId="{565D3F41-BBB6-438C-A609-499EB0FE1428}" type="sibTrans">
      <dgm:prSet/>
      <dgm:spPr/>
      <dgm:t>
        <a:bodyPr/>
        <a:p>
          <a:endParaRPr lang="zh-CN" altLang="en-US"/>
        </a:p>
      </dgm:t>
    </dgm:pt>
    <dgm:pt modelId="{3E6D5D4F-935E-467F-A6CA-DFB49E904BF2}">
      <dgm:prSet phldrT="[文本]" phldr="0" custT="0"/>
      <dgm:spPr/>
      <dgm:t>
        <a:bodyPr vert="horz" wrap="square"/>
        <a:p>
          <a:pPr>
            <a:lnSpc>
              <a:spcPct val="100000"/>
            </a:lnSpc>
            <a:spcBef>
              <a:spcPct val="0"/>
            </a:spcBef>
            <a:spcAft>
              <a:spcPct val="15000"/>
            </a:spcAft>
          </a:pPr>
          <a:r>
            <a:rPr lang="zh-CN" altLang="en-US"/>
            <a:t>根据</a:t>
          </a:r>
          <a:r>
            <a:rPr lang="en-US" altLang="zh-CN"/>
            <a:t>LDA</a:t>
          </a:r>
          <a:r>
            <a:rPr lang="zh-CN" altLang="en-US"/>
            <a:t>识别结果构建因素之间的影响网络</a:t>
          </a:r>
          <a:endParaRPr lang="zh-CN" altLang="en-US"/>
        </a:p>
      </dgm:t>
    </dgm:pt>
    <dgm:pt modelId="{DFE6860A-9AF6-4E3A-8810-968954321458}" cxnId="{D83767AC-F71B-4798-A4A6-CD27332AA50E}" type="parTrans">
      <dgm:prSet/>
      <dgm:spPr/>
      <dgm:t>
        <a:bodyPr/>
        <a:p>
          <a:endParaRPr lang="zh-CN" altLang="en-US"/>
        </a:p>
      </dgm:t>
    </dgm:pt>
    <dgm:pt modelId="{F6E211F9-5728-4C1B-B4EC-036ED0730A63}" cxnId="{D83767AC-F71B-4798-A4A6-CD27332AA50E}" type="sibTrans">
      <dgm:prSet/>
      <dgm:spPr/>
      <dgm:t>
        <a:bodyPr/>
        <a:p>
          <a:endParaRPr lang="zh-CN" altLang="en-US"/>
        </a:p>
      </dgm:t>
    </dgm:pt>
    <dgm:pt modelId="{7D368199-D9C0-431F-9378-C4CA304339CA}">
      <dgm:prSet phldr="0" custT="0"/>
      <dgm:spPr/>
      <dgm:t>
        <a:bodyPr vert="horz" wrap="square"/>
        <a:p>
          <a:pPr>
            <a:lnSpc>
              <a:spcPct val="100000"/>
            </a:lnSpc>
            <a:spcBef>
              <a:spcPct val="0"/>
            </a:spcBef>
            <a:spcAft>
              <a:spcPct val="15000"/>
            </a:spcAft>
          </a:pPr>
          <a:r>
            <a:rPr lang="zh-CN" altLang="en-US"/>
            <a:t>计算原因度中心度</a:t>
          </a:r>
          <a:r>
            <a:rPr lang="zh-CN" altLang="en-US"/>
            <a:t>，</a:t>
          </a:r>
          <a:r>
            <a:rPr lang="zh-CN" altLang="en-US"/>
            <a:t>分析其相互作用关系和重要度</a:t>
          </a:r>
          <a:r>
            <a:rPr lang="zh-CN" altLang="en-US"/>
            <a:t/>
          </a:r>
          <a:endParaRPr lang="zh-CN" altLang="en-US"/>
        </a:p>
      </dgm:t>
    </dgm:pt>
    <dgm:pt modelId="{28F41672-F7F3-450F-B200-A16521839D83}" cxnId="{5F4B4B70-B514-406A-9966-5887D49B2C0A}" type="parTrans">
      <dgm:prSet/>
      <dgm:spPr/>
    </dgm:pt>
    <dgm:pt modelId="{B1D32B15-1868-4FDD-82EC-EF45EFE24733}" cxnId="{5F4B4B70-B514-406A-9966-5887D49B2C0A}" type="sibTrans">
      <dgm:prSet/>
      <dgm:spPr/>
    </dgm:pt>
    <dgm:pt modelId="{1D70B282-9875-47E1-864B-0DB9F83A3309}">
      <dgm:prSet phldrT="[文本]" phldr="0" custT="0"/>
      <dgm:spPr/>
      <dgm:t>
        <a:bodyPr vert="horz" wrap="square"/>
        <a:p>
          <a:pPr>
            <a:lnSpc>
              <a:spcPct val="100000"/>
            </a:lnSpc>
            <a:spcBef>
              <a:spcPct val="0"/>
            </a:spcBef>
            <a:spcAft>
              <a:spcPct val="35000"/>
            </a:spcAft>
          </a:pPr>
          <a:r>
            <a:rPr lang="en-US" altLang="zh-CN"/>
            <a:t>ISM</a:t>
          </a:r>
          <a:r>
            <a:rPr lang="en-US" altLang="zh-CN"/>
            <a:t/>
          </a:r>
          <a:endParaRPr lang="en-US" altLang="zh-CN"/>
        </a:p>
      </dgm:t>
    </dgm:pt>
    <dgm:pt modelId="{4682E278-8387-4875-A48B-989607C0A09E}" cxnId="{D7EB90B7-79E4-4452-86F5-86A6C2CCE9E3}" type="parTrans">
      <dgm:prSet/>
      <dgm:spPr/>
      <dgm:t>
        <a:bodyPr/>
        <a:p>
          <a:endParaRPr lang="zh-CN" altLang="en-US"/>
        </a:p>
      </dgm:t>
    </dgm:pt>
    <dgm:pt modelId="{DF77052B-043C-4E4A-8039-9D1D7DFB40F4}" cxnId="{D7EB90B7-79E4-4452-86F5-86A6C2CCE9E3}" type="sibTrans">
      <dgm:prSet/>
      <dgm:spPr/>
      <dgm:t>
        <a:bodyPr/>
        <a:p>
          <a:endParaRPr lang="zh-CN" altLang="en-US"/>
        </a:p>
      </dgm:t>
    </dgm:pt>
    <dgm:pt modelId="{30BE85C4-8BB0-4C0C-B58F-618B83FFA907}">
      <dgm:prSet phldrT="[文本]" phldr="0" custT="0"/>
      <dgm:spPr/>
      <dgm:t>
        <a:bodyPr vert="horz" wrap="square"/>
        <a:p>
          <a:pPr>
            <a:lnSpc>
              <a:spcPct val="100000"/>
            </a:lnSpc>
            <a:spcBef>
              <a:spcPct val="0"/>
            </a:spcBef>
            <a:spcAft>
              <a:spcPct val="15000"/>
            </a:spcAft>
          </a:pPr>
          <a:r>
            <a:rPr lang="zh-CN" altLang="en-US"/>
            <a:t>对各影响因素进行层级划分</a:t>
          </a:r>
          <a:r>
            <a:rPr lang="zh-CN" altLang="en-US"/>
            <a:t/>
          </a:r>
          <a:endParaRPr lang="zh-CN" altLang="en-US"/>
        </a:p>
      </dgm:t>
    </dgm:pt>
    <dgm:pt modelId="{99A19955-80B2-46DE-B74C-C0C8C4D708F2}" cxnId="{8B7A3E62-5A64-49F3-AD18-A59DEDD58040}" type="parTrans">
      <dgm:prSet/>
      <dgm:spPr/>
      <dgm:t>
        <a:bodyPr/>
        <a:p>
          <a:endParaRPr lang="zh-CN" altLang="en-US"/>
        </a:p>
      </dgm:t>
    </dgm:pt>
    <dgm:pt modelId="{CB48F5C6-507D-451D-9B2B-7C607BFEAF95}" cxnId="{8B7A3E62-5A64-49F3-AD18-A59DEDD58040}" type="sibTrans">
      <dgm:prSet/>
      <dgm:spPr/>
      <dgm:t>
        <a:bodyPr/>
        <a:p>
          <a:endParaRPr lang="zh-CN" altLang="en-US"/>
        </a:p>
      </dgm:t>
    </dgm:pt>
    <dgm:pt modelId="{5A92E393-A278-4F1A-93DF-2F03E5306F53}">
      <dgm:prSet phldr="0" custT="0"/>
      <dgm:spPr/>
      <dgm:t>
        <a:bodyPr vert="horz" wrap="square"/>
        <a:p>
          <a:pPr>
            <a:lnSpc>
              <a:spcPct val="100000"/>
            </a:lnSpc>
            <a:spcBef>
              <a:spcPct val="0"/>
            </a:spcBef>
            <a:spcAft>
              <a:spcPct val="15000"/>
            </a:spcAft>
          </a:pPr>
          <a:r>
            <a:rPr lang="zh-CN" altLang="en-US">
              <a:sym typeface="+mn-ea"/>
            </a:rPr>
            <a:t>构建出老年劳动力再就业影响机制的层次模型</a:t>
          </a:r>
          <a:r>
            <a:rPr lang="zh-CN" altLang="en-US"/>
            <a:t/>
          </a:r>
          <a:endParaRPr lang="zh-CN" altLang="en-US"/>
        </a:p>
      </dgm:t>
    </dgm:pt>
    <dgm:pt modelId="{17E52384-BF24-4C78-B50A-D68C60221CCC}" cxnId="{3EB4D5B7-3672-451C-9CA1-B3E70C65676C}" type="parTrans">
      <dgm:prSet/>
      <dgm:spPr/>
    </dgm:pt>
    <dgm:pt modelId="{1C163C65-DC21-4946-A52B-97C8690933D6}" cxnId="{3EB4D5B7-3672-451C-9CA1-B3E70C65676C}" type="sibTrans">
      <dgm:prSet/>
      <dgm:spPr/>
    </dgm:pt>
    <dgm:pt modelId="{7BB0B505-7D43-42E4-8FC0-6C91316CBFEB}" type="pres">
      <dgm:prSet presAssocID="{DF9829FD-DD90-4EE7-BCD7-4AF299D6F45A}" presName="linearFlow" presStyleCnt="0">
        <dgm:presLayoutVars>
          <dgm:dir/>
          <dgm:animLvl val="lvl"/>
          <dgm:resizeHandles val="exact"/>
        </dgm:presLayoutVars>
      </dgm:prSet>
      <dgm:spPr/>
    </dgm:pt>
    <dgm:pt modelId="{97F2BEE4-0E0F-4FCA-A4B0-E20AD8C04C13}" type="pres">
      <dgm:prSet presAssocID="{FCC504F5-317D-4294-815B-28489BDC5845}" presName="composite" presStyleCnt="0"/>
      <dgm:spPr/>
    </dgm:pt>
    <dgm:pt modelId="{A16E3110-57E1-4619-A55C-DCD0DD5CE084}" type="pres">
      <dgm:prSet presAssocID="{FCC504F5-317D-4294-815B-28489BDC5845}" presName="parentText" presStyleLbl="alignNode1" presStyleIdx="0" presStyleCnt="3">
        <dgm:presLayoutVars>
          <dgm:chMax val="1"/>
          <dgm:bulletEnabled val="1"/>
        </dgm:presLayoutVars>
      </dgm:prSet>
      <dgm:spPr/>
    </dgm:pt>
    <dgm:pt modelId="{544D3F38-216B-445A-B1B9-8008AEDB7A9D}" type="pres">
      <dgm:prSet presAssocID="{FCC504F5-317D-4294-815B-28489BDC5845}" presName="descendantText" presStyleLbl="alignAcc1" presStyleIdx="0" presStyleCnt="3">
        <dgm:presLayoutVars>
          <dgm:bulletEnabled val="1"/>
        </dgm:presLayoutVars>
      </dgm:prSet>
      <dgm:spPr/>
    </dgm:pt>
    <dgm:pt modelId="{D3A691E5-F443-4F8D-81BB-9D15C0875E8C}" type="pres">
      <dgm:prSet presAssocID="{67223200-D196-44B3-9DFD-D095DDBC10AB}" presName="sp" presStyleCnt="0"/>
      <dgm:spPr/>
    </dgm:pt>
    <dgm:pt modelId="{D4BECBBB-7CE2-4791-839D-9FE6F36B775D}" type="pres">
      <dgm:prSet presAssocID="{780FAED3-C4BD-4FF1-8B67-8499CCFAE2ED}" presName="composite" presStyleCnt="0"/>
      <dgm:spPr/>
    </dgm:pt>
    <dgm:pt modelId="{722E1094-83C7-45E2-B20F-DB9D09AD94F0}" type="pres">
      <dgm:prSet presAssocID="{780FAED3-C4BD-4FF1-8B67-8499CCFAE2ED}" presName="parentText" presStyleLbl="alignNode1" presStyleIdx="1" presStyleCnt="3">
        <dgm:presLayoutVars>
          <dgm:chMax val="1"/>
          <dgm:bulletEnabled val="1"/>
        </dgm:presLayoutVars>
      </dgm:prSet>
      <dgm:spPr/>
    </dgm:pt>
    <dgm:pt modelId="{AC67BBE6-9B82-4D3D-BF22-48713AF46E9C}" type="pres">
      <dgm:prSet presAssocID="{780FAED3-C4BD-4FF1-8B67-8499CCFAE2ED}" presName="descendantText" presStyleLbl="alignAcc1" presStyleIdx="1" presStyleCnt="3">
        <dgm:presLayoutVars>
          <dgm:bulletEnabled val="1"/>
        </dgm:presLayoutVars>
      </dgm:prSet>
      <dgm:spPr/>
    </dgm:pt>
    <dgm:pt modelId="{5C381A65-34D3-41B1-9499-0884AAA35FC6}" type="pres">
      <dgm:prSet presAssocID="{34435F2A-D730-405E-99D5-BBC9FB7499FA}" presName="sp" presStyleCnt="0"/>
      <dgm:spPr/>
    </dgm:pt>
    <dgm:pt modelId="{C1BF0EA4-CB4D-4391-82EF-EC1874A282F9}" type="pres">
      <dgm:prSet presAssocID="{1D70B282-9875-47E1-864B-0DB9F83A3309}" presName="composite" presStyleCnt="0"/>
      <dgm:spPr/>
    </dgm:pt>
    <dgm:pt modelId="{95C8A2DE-C1F8-4D5A-A3A4-1DC2FA1C0073}" type="pres">
      <dgm:prSet presAssocID="{1D70B282-9875-47E1-864B-0DB9F83A3309}" presName="parentText" presStyleLbl="alignNode1" presStyleIdx="2" presStyleCnt="3">
        <dgm:presLayoutVars>
          <dgm:chMax val="1"/>
          <dgm:bulletEnabled val="1"/>
        </dgm:presLayoutVars>
      </dgm:prSet>
      <dgm:spPr/>
    </dgm:pt>
    <dgm:pt modelId="{BE17FEF5-EEE1-41BB-96FD-8FBB3FCF3860}" type="pres">
      <dgm:prSet presAssocID="{1D70B282-9875-47E1-864B-0DB9F83A3309}" presName="descendantText" presStyleLbl="alignAcc1" presStyleIdx="2" presStyleCnt="3">
        <dgm:presLayoutVars>
          <dgm:bulletEnabled val="1"/>
        </dgm:presLayoutVars>
      </dgm:prSet>
      <dgm:spPr/>
    </dgm:pt>
  </dgm:ptLst>
  <dgm:cxnLst>
    <dgm:cxn modelId="{D00FEBBC-8B8E-4354-8B0D-B58F0BDEAF1F}" srcId="{DF9829FD-DD90-4EE7-BCD7-4AF299D6F45A}" destId="{FCC504F5-317D-4294-815B-28489BDC5845}" srcOrd="0" destOrd="0" parTransId="{8F05BE86-1921-41BD-B82E-72272E9475E9}" sibTransId="{67223200-D196-44B3-9DFD-D095DDBC10AB}"/>
    <dgm:cxn modelId="{E7BDC998-E8C4-402E-A9D0-DA2A6C71EAAA}" srcId="{FCC504F5-317D-4294-815B-28489BDC5845}" destId="{F3F66F6A-184E-4CBB-A544-AC2BF2A74FC0}" srcOrd="0" destOrd="0" parTransId="{7A0C70B0-5DAE-45AB-9915-863AC3FA4D2D}" sibTransId="{47DD308A-8526-455B-A37F-FEE2CC1C75AF}"/>
    <dgm:cxn modelId="{D05220F6-790A-4469-AA09-781240745268}" srcId="{FCC504F5-317D-4294-815B-28489BDC5845}" destId="{8FF46FE3-6BD2-443F-81DC-C8D010955997}" srcOrd="1" destOrd="0" parTransId="{C333B8C2-28DF-4D29-8C8F-CACC875B3F6A}" sibTransId="{11A6DD01-EAC5-49C7-9BB7-D0B1A03986E1}"/>
    <dgm:cxn modelId="{565D3F41-BBB6-438C-A609-499EB0FE1428}" srcId="{DF9829FD-DD90-4EE7-BCD7-4AF299D6F45A}" destId="{780FAED3-C4BD-4FF1-8B67-8499CCFAE2ED}" srcOrd="1" destOrd="0" parTransId="{88C57C74-C9C4-46CF-A10B-13A1A1E7714C}" sibTransId="{34435F2A-D730-405E-99D5-BBC9FB7499FA}"/>
    <dgm:cxn modelId="{D83767AC-F71B-4798-A4A6-CD27332AA50E}" srcId="{780FAED3-C4BD-4FF1-8B67-8499CCFAE2ED}" destId="{3E6D5D4F-935E-467F-A6CA-DFB49E904BF2}" srcOrd="0" destOrd="1" parTransId="{DFE6860A-9AF6-4E3A-8810-968954321458}" sibTransId="{F6E211F9-5728-4C1B-B4EC-036ED0730A63}"/>
    <dgm:cxn modelId="{5F4B4B70-B514-406A-9966-5887D49B2C0A}" srcId="{780FAED3-C4BD-4FF1-8B67-8499CCFAE2ED}" destId="{7D368199-D9C0-431F-9378-C4CA304339CA}" srcOrd="1" destOrd="1" parTransId="{28F41672-F7F3-450F-B200-A16521839D83}" sibTransId="{B1D32B15-1868-4FDD-82EC-EF45EFE24733}"/>
    <dgm:cxn modelId="{D7EB90B7-79E4-4452-86F5-86A6C2CCE9E3}" srcId="{DF9829FD-DD90-4EE7-BCD7-4AF299D6F45A}" destId="{1D70B282-9875-47E1-864B-0DB9F83A3309}" srcOrd="2" destOrd="0" parTransId="{4682E278-8387-4875-A48B-989607C0A09E}" sibTransId="{DF77052B-043C-4E4A-8039-9D1D7DFB40F4}"/>
    <dgm:cxn modelId="{8B7A3E62-5A64-49F3-AD18-A59DEDD58040}" srcId="{1D70B282-9875-47E1-864B-0DB9F83A3309}" destId="{30BE85C4-8BB0-4C0C-B58F-618B83FFA907}" srcOrd="0" destOrd="2" parTransId="{99A19955-80B2-46DE-B74C-C0C8C4D708F2}" sibTransId="{CB48F5C6-507D-451D-9B2B-7C607BFEAF95}"/>
    <dgm:cxn modelId="{3EB4D5B7-3672-451C-9CA1-B3E70C65676C}" srcId="{1D70B282-9875-47E1-864B-0DB9F83A3309}" destId="{5A92E393-A278-4F1A-93DF-2F03E5306F53}" srcOrd="1" destOrd="2" parTransId="{17E52384-BF24-4C78-B50A-D68C60221CCC}" sibTransId="{1C163C65-DC21-4946-A52B-97C8690933D6}"/>
    <dgm:cxn modelId="{F4E39778-562F-4DD3-A6AF-E19F2FEE352F}" type="presOf" srcId="{DF9829FD-DD90-4EE7-BCD7-4AF299D6F45A}" destId="{7BB0B505-7D43-42E4-8FC0-6C91316CBFEB}" srcOrd="0" destOrd="0" presId="urn:microsoft.com/office/officeart/2005/8/layout/chevron2"/>
    <dgm:cxn modelId="{FA0BBA4A-64A5-4E88-BA3A-B977C22373A2}" type="presParOf" srcId="{7BB0B505-7D43-42E4-8FC0-6C91316CBFEB}" destId="{97F2BEE4-0E0F-4FCA-A4B0-E20AD8C04C13}" srcOrd="0" destOrd="0" presId="urn:microsoft.com/office/officeart/2005/8/layout/chevron2"/>
    <dgm:cxn modelId="{DD41AE65-1A3D-4A9E-BF0D-4D22EC871BE4}" type="presParOf" srcId="{97F2BEE4-0E0F-4FCA-A4B0-E20AD8C04C13}" destId="{A16E3110-57E1-4619-A55C-DCD0DD5CE084}" srcOrd="0" destOrd="0" presId="urn:microsoft.com/office/officeart/2005/8/layout/chevron2"/>
    <dgm:cxn modelId="{71CBCAD9-7CEE-4DFB-9B4A-C245D3FC8445}" type="presOf" srcId="{FCC504F5-317D-4294-815B-28489BDC5845}" destId="{A16E3110-57E1-4619-A55C-DCD0DD5CE084}" srcOrd="0" destOrd="0" presId="urn:microsoft.com/office/officeart/2005/8/layout/chevron2"/>
    <dgm:cxn modelId="{501C0DE5-CC48-41A6-A785-3E645454E23D}" type="presParOf" srcId="{97F2BEE4-0E0F-4FCA-A4B0-E20AD8C04C13}" destId="{544D3F38-216B-445A-B1B9-8008AEDB7A9D}" srcOrd="1" destOrd="0" presId="urn:microsoft.com/office/officeart/2005/8/layout/chevron2"/>
    <dgm:cxn modelId="{414000A2-8626-4955-9382-61E82ACB0DA1}" type="presOf" srcId="{F3F66F6A-184E-4CBB-A544-AC2BF2A74FC0}" destId="{544D3F38-216B-445A-B1B9-8008AEDB7A9D}" srcOrd="0" destOrd="0" presId="urn:microsoft.com/office/officeart/2005/8/layout/chevron2"/>
    <dgm:cxn modelId="{B6F481C4-CD51-488E-A5A3-FBEA038BDB82}" type="presOf" srcId="{8FF46FE3-6BD2-443F-81DC-C8D010955997}" destId="{544D3F38-216B-445A-B1B9-8008AEDB7A9D}" srcOrd="0" destOrd="1" presId="urn:microsoft.com/office/officeart/2005/8/layout/chevron2"/>
    <dgm:cxn modelId="{7BF6A49E-1D48-4568-B2DF-82B31CF1A6B2}" type="presParOf" srcId="{7BB0B505-7D43-42E4-8FC0-6C91316CBFEB}" destId="{D3A691E5-F443-4F8D-81BB-9D15C0875E8C}" srcOrd="1" destOrd="0" presId="urn:microsoft.com/office/officeart/2005/8/layout/chevron2"/>
    <dgm:cxn modelId="{F8D03F5C-B6EC-4AC9-826E-DF91859CD975}" type="presOf" srcId="{67223200-D196-44B3-9DFD-D095DDBC10AB}" destId="{D3A691E5-F443-4F8D-81BB-9D15C0875E8C}" srcOrd="0" destOrd="0" presId="urn:microsoft.com/office/officeart/2005/8/layout/chevron2"/>
    <dgm:cxn modelId="{6A28D456-59D2-4508-A5D9-46A9BED5C73A}" type="presParOf" srcId="{7BB0B505-7D43-42E4-8FC0-6C91316CBFEB}" destId="{D4BECBBB-7CE2-4791-839D-9FE6F36B775D}" srcOrd="2" destOrd="0" presId="urn:microsoft.com/office/officeart/2005/8/layout/chevron2"/>
    <dgm:cxn modelId="{54C3D24E-E8F4-448A-A70E-FA5355B108DD}" type="presParOf" srcId="{D4BECBBB-7CE2-4791-839D-9FE6F36B775D}" destId="{722E1094-83C7-45E2-B20F-DB9D09AD94F0}" srcOrd="0" destOrd="2" presId="urn:microsoft.com/office/officeart/2005/8/layout/chevron2"/>
    <dgm:cxn modelId="{450C0000-AC27-4DC7-829E-F8E9C2E8B5D5}" type="presOf" srcId="{780FAED3-C4BD-4FF1-8B67-8499CCFAE2ED}" destId="{722E1094-83C7-45E2-B20F-DB9D09AD94F0}" srcOrd="0" destOrd="0" presId="urn:microsoft.com/office/officeart/2005/8/layout/chevron2"/>
    <dgm:cxn modelId="{A8F86A0A-B9E7-4858-B76F-8B0893EFE98B}" type="presParOf" srcId="{D4BECBBB-7CE2-4791-839D-9FE6F36B775D}" destId="{AC67BBE6-9B82-4D3D-BF22-48713AF46E9C}" srcOrd="1" destOrd="2" presId="urn:microsoft.com/office/officeart/2005/8/layout/chevron2"/>
    <dgm:cxn modelId="{6DC12027-6B53-4F45-9573-8E62EB778936}" type="presOf" srcId="{3E6D5D4F-935E-467F-A6CA-DFB49E904BF2}" destId="{AC67BBE6-9B82-4D3D-BF22-48713AF46E9C}" srcOrd="0" destOrd="0" presId="urn:microsoft.com/office/officeart/2005/8/layout/chevron2"/>
    <dgm:cxn modelId="{7BDC4A4C-A7E2-4867-A0EB-39255CA6FF20}" type="presOf" srcId="{7D368199-D9C0-431F-9378-C4CA304339CA}" destId="{AC67BBE6-9B82-4D3D-BF22-48713AF46E9C}" srcOrd="0" destOrd="1" presId="urn:microsoft.com/office/officeart/2005/8/layout/chevron2"/>
    <dgm:cxn modelId="{F5B5B587-6288-43A9-8594-D9D629D3C770}" type="presParOf" srcId="{7BB0B505-7D43-42E4-8FC0-6C91316CBFEB}" destId="{5C381A65-34D3-41B1-9499-0884AAA35FC6}" srcOrd="3" destOrd="0" presId="urn:microsoft.com/office/officeart/2005/8/layout/chevron2"/>
    <dgm:cxn modelId="{31DB3855-3A0F-4728-B08B-920B38BB8754}" type="presOf" srcId="{34435F2A-D730-405E-99D5-BBC9FB7499FA}" destId="{5C381A65-34D3-41B1-9499-0884AAA35FC6}" srcOrd="0" destOrd="0" presId="urn:microsoft.com/office/officeart/2005/8/layout/chevron2"/>
    <dgm:cxn modelId="{FF0988C6-79A2-4371-962A-F3B26080DBAB}" type="presParOf" srcId="{7BB0B505-7D43-42E4-8FC0-6C91316CBFEB}" destId="{C1BF0EA4-CB4D-4391-82EF-EC1874A282F9}" srcOrd="4" destOrd="0" presId="urn:microsoft.com/office/officeart/2005/8/layout/chevron2"/>
    <dgm:cxn modelId="{B38292A8-8B1F-45A6-B0E3-1D1D1AA10579}" type="presParOf" srcId="{C1BF0EA4-CB4D-4391-82EF-EC1874A282F9}" destId="{95C8A2DE-C1F8-4D5A-A3A4-1DC2FA1C0073}" srcOrd="0" destOrd="4" presId="urn:microsoft.com/office/officeart/2005/8/layout/chevron2"/>
    <dgm:cxn modelId="{D2EEC260-D534-4DC6-929E-A6BD7527EB09}" type="presOf" srcId="{1D70B282-9875-47E1-864B-0DB9F83A3309}" destId="{95C8A2DE-C1F8-4D5A-A3A4-1DC2FA1C0073}" srcOrd="0" destOrd="0" presId="urn:microsoft.com/office/officeart/2005/8/layout/chevron2"/>
    <dgm:cxn modelId="{1FDD8E44-0102-4313-ACF6-BA8CE23CD03C}" type="presParOf" srcId="{C1BF0EA4-CB4D-4391-82EF-EC1874A282F9}" destId="{BE17FEF5-EEE1-41BB-96FD-8FBB3FCF3860}" srcOrd="1" destOrd="4" presId="urn:microsoft.com/office/officeart/2005/8/layout/chevron2"/>
    <dgm:cxn modelId="{67EDB532-8F1A-40A9-AFD0-066F1DDE971D}" type="presOf" srcId="{30BE85C4-8BB0-4C0C-B58F-618B83FFA907}" destId="{BE17FEF5-EEE1-41BB-96FD-8FBB3FCF3860}" srcOrd="0" destOrd="0" presId="urn:microsoft.com/office/officeart/2005/8/layout/chevron2"/>
    <dgm:cxn modelId="{4F84B6AC-4FC3-47FA-A0B2-2BC7DF507AF3}" type="presOf" srcId="{5A92E393-A278-4F1A-93DF-2F03E5306F53}" destId="{BE17FEF5-EEE1-41BB-96FD-8FBB3FCF3860}" srcOrd="0" destOrd="1"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B0B7038-E59F-4A80-A75E-7AA9F300D739}" type="doc">
      <dgm:prSet loTypeId="process" loCatId="process" qsTypeId="urn:microsoft.com/office/officeart/2005/8/quickstyle/simple1" qsCatId="simple" csTypeId="urn:microsoft.com/office/officeart/2005/8/colors/accent1_2" csCatId="accent1" phldr="0"/>
      <dgm:spPr/>
      <dgm:t>
        <a:bodyPr/>
        <a:p>
          <a:endParaRPr lang="zh-CN" altLang="en-US"/>
        </a:p>
      </dgm:t>
    </dgm:pt>
    <dgm:pt modelId="{E9FF6F63-DE8B-49AE-AD60-255A714A296C}">
      <dgm:prSet phldrT="[文本]" phldr="0" custT="0"/>
      <dgm:spPr/>
      <dgm:t>
        <a:bodyPr vert="horz" wrap="square"/>
        <a:p>
          <a:pPr>
            <a:lnSpc>
              <a:spcPct val="100000"/>
            </a:lnSpc>
            <a:spcBef>
              <a:spcPct val="0"/>
            </a:spcBef>
            <a:spcAft>
              <a:spcPct val="35000"/>
            </a:spcAft>
          </a:pPr>
          <a:r>
            <a:rPr lang="zh-CN" altLang="en-US"/>
            <a:t>表层核心</a:t>
          </a:r>
          <a:r>
            <a:rPr lang="zh-CN" altLang="en-US"/>
            <a:t/>
          </a:r>
          <a:endParaRPr lang="zh-CN" altLang="en-US"/>
        </a:p>
      </dgm:t>
    </dgm:pt>
    <dgm:pt modelId="{E2F25AF7-B1AC-494B-B2C1-7761C2AD5D10}" cxnId="{C5F1010C-C392-4641-96D3-30F110EE8824}" type="parTrans">
      <dgm:prSet/>
      <dgm:spPr/>
      <dgm:t>
        <a:bodyPr/>
        <a:p>
          <a:endParaRPr lang="zh-CN" altLang="en-US"/>
        </a:p>
      </dgm:t>
    </dgm:pt>
    <dgm:pt modelId="{7C3A5ED0-3AE2-4C34-80A5-AFDCC3D00C7D}" cxnId="{C5F1010C-C392-4641-96D3-30F110EE8824}" type="sibTrans">
      <dgm:prSet/>
      <dgm:spPr/>
      <dgm:t>
        <a:bodyPr/>
        <a:p>
          <a:endParaRPr lang="zh-CN" altLang="en-US"/>
        </a:p>
      </dgm:t>
    </dgm:pt>
    <dgm:pt modelId="{4D3602F6-4A56-471E-94CA-95C297AF4D0A}">
      <dgm:prSet phldrT="[文本]" phldr="0" custT="0"/>
      <dgm:spPr/>
      <dgm:t>
        <a:bodyPr vert="horz" wrap="square"/>
        <a:p>
          <a:pPr>
            <a:lnSpc>
              <a:spcPct val="100000"/>
            </a:lnSpc>
            <a:spcBef>
              <a:spcPct val="0"/>
            </a:spcBef>
            <a:spcAft>
              <a:spcPct val="35000"/>
            </a:spcAft>
          </a:pPr>
          <a:r>
            <a:rPr lang="zh-CN" altLang="en-US"/>
            <a:t>浅层驱动</a:t>
          </a:r>
          <a:r>
            <a:rPr lang="zh-CN" altLang="en-US"/>
            <a:t/>
          </a:r>
          <a:endParaRPr lang="zh-CN" altLang="en-US"/>
        </a:p>
      </dgm:t>
    </dgm:pt>
    <dgm:pt modelId="{511DB170-6BB5-4ADD-8085-548C5A4D75BB}" cxnId="{951D3D61-C96B-4947-AA15-6BF62DFCB9CD}" type="parTrans">
      <dgm:prSet/>
      <dgm:spPr/>
      <dgm:t>
        <a:bodyPr/>
        <a:p>
          <a:endParaRPr lang="zh-CN" altLang="en-US"/>
        </a:p>
      </dgm:t>
    </dgm:pt>
    <dgm:pt modelId="{44F1BF6E-18A0-4182-BD68-FA72641FED89}" cxnId="{951D3D61-C96B-4947-AA15-6BF62DFCB9CD}" type="sibTrans">
      <dgm:prSet/>
      <dgm:spPr/>
      <dgm:t>
        <a:bodyPr/>
        <a:p>
          <a:endParaRPr lang="zh-CN" altLang="en-US"/>
        </a:p>
      </dgm:t>
    </dgm:pt>
    <dgm:pt modelId="{C77B2DE7-72B5-4696-8020-E9D212156430}">
      <dgm:prSet phldrT="[文本]" phldr="1"/>
      <dgm:spPr/>
      <dgm:t>
        <a:bodyPr/>
        <a:p>
          <a:endParaRPr lang="zh-CN" altLang="en-US"/>
        </a:p>
      </dgm:t>
    </dgm:pt>
    <dgm:pt modelId="{CFDAE099-E9CA-400D-9E0B-5FF2A223D856}" cxnId="{46C5C9AE-D1F3-4855-84B9-A0031069AC09}" type="parTrans">
      <dgm:prSet/>
      <dgm:spPr/>
      <dgm:t>
        <a:bodyPr/>
        <a:p>
          <a:endParaRPr lang="zh-CN" altLang="en-US"/>
        </a:p>
      </dgm:t>
    </dgm:pt>
    <dgm:pt modelId="{00E0D5AB-294E-4D02-9E82-5E730EC20037}" cxnId="{46C5C9AE-D1F3-4855-84B9-A0031069AC09}" type="sibTrans">
      <dgm:prSet/>
      <dgm:spPr/>
      <dgm:t>
        <a:bodyPr/>
        <a:p>
          <a:endParaRPr lang="zh-CN" altLang="en-US"/>
        </a:p>
      </dgm:t>
    </dgm:pt>
    <dgm:pt modelId="{4E8D2CA5-E8F3-41AD-B35D-1FCF8CAD3487}" type="pres">
      <dgm:prSet presAssocID="{FB0B7038-E59F-4A80-A75E-7AA9F300D739}" presName="rootnode" presStyleCnt="0">
        <dgm:presLayoutVars>
          <dgm:chMax/>
          <dgm:chPref/>
          <dgm:dir/>
          <dgm:animLvl val="lvl"/>
        </dgm:presLayoutVars>
      </dgm:prSet>
      <dgm:spPr/>
    </dgm:pt>
    <dgm:pt modelId="{4885D9FF-6621-4FC5-A9DE-327AB74500CD}" type="pres">
      <dgm:prSet presAssocID="{E9FF6F63-DE8B-49AE-AD60-255A714A296C}" presName="composite" presStyleCnt="0"/>
      <dgm:spPr/>
    </dgm:pt>
    <dgm:pt modelId="{C1069558-9A0D-4777-9B5C-1F8CC5A904D0}" type="pres">
      <dgm:prSet presAssocID="{E9FF6F63-DE8B-49AE-AD60-255A714A296C}" presName="bentUpArrow1" presStyleLbl="alignImgPlace1" presStyleIdx="0" presStyleCnt="2"/>
      <dgm:spPr/>
    </dgm:pt>
    <dgm:pt modelId="{B6B3DBAD-9628-4182-98C9-C3F56A96B563}" type="pres">
      <dgm:prSet presAssocID="{E9FF6F63-DE8B-49AE-AD60-255A714A296C}" presName="ParentText" presStyleLbl="node1" presStyleIdx="0" presStyleCnt="3">
        <dgm:presLayoutVars>
          <dgm:chMax val="1"/>
          <dgm:chPref val="1"/>
          <dgm:bulletEnabled val="1"/>
        </dgm:presLayoutVars>
      </dgm:prSet>
      <dgm:spPr/>
    </dgm:pt>
    <dgm:pt modelId="{CF563743-F0CD-43FF-8ED9-181590D5AEC7}" type="pres">
      <dgm:prSet presAssocID="{E9FF6F63-DE8B-49AE-AD60-255A714A296C}" presName="ChildText" presStyleLbl="revTx" presStyleIdx="0" presStyleCnt="2">
        <dgm:presLayoutVars>
          <dgm:chMax val="0"/>
          <dgm:chPref val="0"/>
          <dgm:bulletEnabled val="1"/>
        </dgm:presLayoutVars>
      </dgm:prSet>
      <dgm:spPr/>
    </dgm:pt>
    <dgm:pt modelId="{F1E93E89-BF11-425F-8AD8-57BDCD076633}" type="pres">
      <dgm:prSet presAssocID="{7C3A5ED0-3AE2-4C34-80A5-AFDCC3D00C7D}" presName="sibTrans" presStyleCnt="0"/>
      <dgm:spPr/>
    </dgm:pt>
    <dgm:pt modelId="{5D08F00E-1A1B-44FE-B733-AC1EDA64F34E}" type="pres">
      <dgm:prSet presAssocID="{4D3602F6-4A56-471E-94CA-95C297AF4D0A}" presName="composite" presStyleCnt="0"/>
      <dgm:spPr/>
    </dgm:pt>
    <dgm:pt modelId="{A3E57910-EB90-4850-9A4E-8662A513D003}" type="pres">
      <dgm:prSet presAssocID="{4D3602F6-4A56-471E-94CA-95C297AF4D0A}" presName="bentUpArrow1" presStyleLbl="alignImgPlace1" presStyleIdx="1" presStyleCnt="2"/>
      <dgm:spPr/>
    </dgm:pt>
    <dgm:pt modelId="{FAF4FC6F-67B2-4C23-BD82-FF5779C49F32}" type="pres">
      <dgm:prSet presAssocID="{4D3602F6-4A56-471E-94CA-95C297AF4D0A}" presName="ParentText" presStyleLbl="node1" presStyleIdx="1" presStyleCnt="3">
        <dgm:presLayoutVars>
          <dgm:chMax val="1"/>
          <dgm:chPref val="1"/>
          <dgm:bulletEnabled val="1"/>
        </dgm:presLayoutVars>
      </dgm:prSet>
      <dgm:spPr/>
    </dgm:pt>
    <dgm:pt modelId="{8F521252-50A6-4EA9-AC51-762FFBA643C9}" type="pres">
      <dgm:prSet presAssocID="{4D3602F6-4A56-471E-94CA-95C297AF4D0A}" presName="ChildText" presStyleLbl="revTx" presStyleIdx="1" presStyleCnt="2">
        <dgm:presLayoutVars>
          <dgm:chMax val="0"/>
          <dgm:chPref val="0"/>
          <dgm:bulletEnabled val="1"/>
        </dgm:presLayoutVars>
      </dgm:prSet>
      <dgm:spPr/>
    </dgm:pt>
    <dgm:pt modelId="{B2014751-3328-490B-A771-AD3E49DD01DB}" type="pres">
      <dgm:prSet presAssocID="{44F1BF6E-18A0-4182-BD68-FA72641FED89}" presName="sibTrans" presStyleCnt="0"/>
      <dgm:spPr/>
    </dgm:pt>
    <dgm:pt modelId="{694786D1-918A-4EAD-89A6-0B79C452A099}" type="pres">
      <dgm:prSet presAssocID="{C77B2DE7-72B5-4696-8020-E9D212156430}" presName="composite" presStyleCnt="0"/>
      <dgm:spPr/>
    </dgm:pt>
    <dgm:pt modelId="{54F8B79A-809C-4F22-B417-84B1257C574F}" type="pres">
      <dgm:prSet presAssocID="{C77B2DE7-72B5-4696-8020-E9D212156430}" presName="ParentText" presStyleLbl="node1" presStyleIdx="2" presStyleCnt="3">
        <dgm:presLayoutVars>
          <dgm:chMax val="1"/>
          <dgm:chPref val="1"/>
          <dgm:bulletEnabled val="1"/>
        </dgm:presLayoutVars>
      </dgm:prSet>
      <dgm:spPr/>
    </dgm:pt>
  </dgm:ptLst>
  <dgm:cxnLst>
    <dgm:cxn modelId="{C5F1010C-C392-4641-96D3-30F110EE8824}" srcId="{FB0B7038-E59F-4A80-A75E-7AA9F300D739}" destId="{E9FF6F63-DE8B-49AE-AD60-255A714A296C}" srcOrd="0" destOrd="0" parTransId="{E2F25AF7-B1AC-494B-B2C1-7761C2AD5D10}" sibTransId="{7C3A5ED0-3AE2-4C34-80A5-AFDCC3D00C7D}"/>
    <dgm:cxn modelId="{951D3D61-C96B-4947-AA15-6BF62DFCB9CD}" srcId="{FB0B7038-E59F-4A80-A75E-7AA9F300D739}" destId="{4D3602F6-4A56-471E-94CA-95C297AF4D0A}" srcOrd="1" destOrd="0" parTransId="{511DB170-6BB5-4ADD-8085-548C5A4D75BB}" sibTransId="{44F1BF6E-18A0-4182-BD68-FA72641FED89}"/>
    <dgm:cxn modelId="{46C5C9AE-D1F3-4855-84B9-A0031069AC09}" srcId="{FB0B7038-E59F-4A80-A75E-7AA9F300D739}" destId="{C77B2DE7-72B5-4696-8020-E9D212156430}" srcOrd="2" destOrd="0" parTransId="{CFDAE099-E9CA-400D-9E0B-5FF2A223D856}" sibTransId="{00E0D5AB-294E-4D02-9E82-5E730EC20037}"/>
    <dgm:cxn modelId="{093EE6AF-72B4-4661-BBCF-166A66F46D85}" type="presOf" srcId="{FB0B7038-E59F-4A80-A75E-7AA9F300D739}" destId="{4E8D2CA5-E8F3-41AD-B35D-1FCF8CAD3487}" srcOrd="0" destOrd="0" presId="urn:microsoft.com/office/officeart/2005/8/layout/StepDownProcess"/>
    <dgm:cxn modelId="{5B93D676-4D74-4DB8-B51F-D8CEF30AB7B4}" type="presParOf" srcId="{4E8D2CA5-E8F3-41AD-B35D-1FCF8CAD3487}" destId="{4885D9FF-6621-4FC5-A9DE-327AB74500CD}" srcOrd="0" destOrd="0" presId="urn:microsoft.com/office/officeart/2005/8/layout/StepDownProcess"/>
    <dgm:cxn modelId="{A9602A90-4095-4883-BA96-88D0C152B027}" type="presParOf" srcId="{4885D9FF-6621-4FC5-A9DE-327AB74500CD}" destId="{C1069558-9A0D-4777-9B5C-1F8CC5A904D0}" srcOrd="0" destOrd="0" presId="urn:microsoft.com/office/officeart/2005/8/layout/StepDownProcess"/>
    <dgm:cxn modelId="{B1A037B2-13C2-4D8F-816F-78059BA1DF0F}" type="presParOf" srcId="{4885D9FF-6621-4FC5-A9DE-327AB74500CD}" destId="{B6B3DBAD-9628-4182-98C9-C3F56A96B563}" srcOrd="1" destOrd="0" presId="urn:microsoft.com/office/officeart/2005/8/layout/StepDownProcess"/>
    <dgm:cxn modelId="{CDC3253C-02D6-46EF-ABF6-23F6DD532176}" type="presOf" srcId="{E9FF6F63-DE8B-49AE-AD60-255A714A296C}" destId="{B6B3DBAD-9628-4182-98C9-C3F56A96B563}" srcOrd="0" destOrd="0" presId="urn:microsoft.com/office/officeart/2005/8/layout/StepDownProcess"/>
    <dgm:cxn modelId="{1E91E117-5370-4D2E-867E-2E78CC322C29}" type="presParOf" srcId="{4885D9FF-6621-4FC5-A9DE-327AB74500CD}" destId="{CF563743-F0CD-43FF-8ED9-181590D5AEC7}" srcOrd="2" destOrd="0" presId="urn:microsoft.com/office/officeart/2005/8/layout/StepDownProcess"/>
    <dgm:cxn modelId="{1A325106-84C1-4CF5-9BC8-937C71EC6D19}" type="presParOf" srcId="{4E8D2CA5-E8F3-41AD-B35D-1FCF8CAD3487}" destId="{F1E93E89-BF11-425F-8AD8-57BDCD076633}" srcOrd="1" destOrd="0" presId="urn:microsoft.com/office/officeart/2005/8/layout/StepDownProcess"/>
    <dgm:cxn modelId="{D12A74DE-FFAB-4C02-BB58-42BCDE16FE64}" type="presParOf" srcId="{4E8D2CA5-E8F3-41AD-B35D-1FCF8CAD3487}" destId="{5D08F00E-1A1B-44FE-B733-AC1EDA64F34E}" srcOrd="2" destOrd="0" presId="urn:microsoft.com/office/officeart/2005/8/layout/StepDownProcess"/>
    <dgm:cxn modelId="{477C5F80-2135-46B1-8033-A354CDC17E28}" type="presParOf" srcId="{5D08F00E-1A1B-44FE-B733-AC1EDA64F34E}" destId="{A3E57910-EB90-4850-9A4E-8662A513D003}" srcOrd="0" destOrd="2" presId="urn:microsoft.com/office/officeart/2005/8/layout/StepDownProcess"/>
    <dgm:cxn modelId="{67CAACE0-5C78-4653-A464-F80A6098D108}" type="presParOf" srcId="{5D08F00E-1A1B-44FE-B733-AC1EDA64F34E}" destId="{FAF4FC6F-67B2-4C23-BD82-FF5779C49F32}" srcOrd="1" destOrd="2" presId="urn:microsoft.com/office/officeart/2005/8/layout/StepDownProcess"/>
    <dgm:cxn modelId="{8957D93C-E11F-4C52-989E-0891199D4AAF}" type="presOf" srcId="{4D3602F6-4A56-471E-94CA-95C297AF4D0A}" destId="{FAF4FC6F-67B2-4C23-BD82-FF5779C49F32}" srcOrd="0" destOrd="0" presId="urn:microsoft.com/office/officeart/2005/8/layout/StepDownProcess"/>
    <dgm:cxn modelId="{9D6425B6-BF79-4C4C-871D-04961C9612A9}" type="presParOf" srcId="{5D08F00E-1A1B-44FE-B733-AC1EDA64F34E}" destId="{8F521252-50A6-4EA9-AC51-762FFBA643C9}" srcOrd="2" destOrd="2" presId="urn:microsoft.com/office/officeart/2005/8/layout/StepDownProcess"/>
    <dgm:cxn modelId="{2772418E-71D1-4ED6-8779-DA4CE1F0D82D}" type="presParOf" srcId="{4E8D2CA5-E8F3-41AD-B35D-1FCF8CAD3487}" destId="{B2014751-3328-490B-A771-AD3E49DD01DB}" srcOrd="3" destOrd="0" presId="urn:microsoft.com/office/officeart/2005/8/layout/StepDownProcess"/>
    <dgm:cxn modelId="{A27CED93-4B44-4495-B3FD-B135C0F2B176}" type="presParOf" srcId="{4E8D2CA5-E8F3-41AD-B35D-1FCF8CAD3487}" destId="{694786D1-918A-4EAD-89A6-0B79C452A099}" srcOrd="4" destOrd="0" presId="urn:microsoft.com/office/officeart/2005/8/layout/StepDownProcess"/>
    <dgm:cxn modelId="{F0EEA770-524F-4A76-87E1-2D46A800C85F}" type="presParOf" srcId="{694786D1-918A-4EAD-89A6-0B79C452A099}" destId="{54F8B79A-809C-4F22-B417-84B1257C574F}" srcOrd="0" destOrd="4" presId="urn:microsoft.com/office/officeart/2005/8/layout/StepDownProcess"/>
    <dgm:cxn modelId="{C900CFCA-BDF5-4A75-A39B-120267D0FD04}" type="presOf" srcId="{C77B2DE7-72B5-4696-8020-E9D212156430}" destId="{54F8B79A-809C-4F22-B417-84B1257C574F}"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B0B7038-E59F-4A80-A75E-7AA9F300D739}" type="doc">
      <dgm:prSet loTypeId="urn:microsoft.com/office/officeart/2005/8/layout/StepDownProcess" loCatId="process" qsTypeId="urn:microsoft.com/office/officeart/2005/8/quickstyle/simple1" qsCatId="simple" csTypeId="urn:microsoft.com/office/officeart/2005/8/colors/accent1_2" csCatId="accent1" phldr="0"/>
      <dgm:spPr/>
      <dgm:t>
        <a:bodyPr/>
        <a:p>
          <a:endParaRPr lang="zh-CN" altLang="en-US"/>
        </a:p>
      </dgm:t>
    </dgm:pt>
    <dgm:pt modelId="{4D3602F6-4A56-471E-94CA-95C297AF4D0A}">
      <dgm:prSet phldrT="[文本]" phldr="0" custT="0"/>
      <dgm:spPr/>
      <dgm:t>
        <a:bodyPr vert="horz" wrap="square"/>
        <a:p>
          <a:pPr>
            <a:lnSpc>
              <a:spcPct val="100000"/>
            </a:lnSpc>
            <a:spcBef>
              <a:spcPct val="0"/>
            </a:spcBef>
            <a:spcAft>
              <a:spcPct val="35000"/>
            </a:spcAft>
          </a:pPr>
          <a:r>
            <a:rPr lang="zh-CN" altLang="en-US"/>
            <a:t>中层</a:t>
          </a:r>
          <a:r>
            <a:rPr lang="zh-CN" altLang="en-US"/>
            <a:t>传导</a:t>
          </a:r>
          <a:r>
            <a:rPr lang="zh-CN" altLang="en-US"/>
            <a:t/>
          </a:r>
          <a:endParaRPr lang="zh-CN" altLang="en-US"/>
        </a:p>
      </dgm:t>
    </dgm:pt>
    <dgm:pt modelId="{511DB170-6BB5-4ADD-8085-548C5A4D75BB}" cxnId="{52DD0B93-2218-44C6-B594-A2A8D200DD8A}" type="parTrans">
      <dgm:prSet/>
      <dgm:spPr/>
      <dgm:t>
        <a:bodyPr/>
        <a:p>
          <a:endParaRPr lang="zh-CN" altLang="en-US"/>
        </a:p>
      </dgm:t>
    </dgm:pt>
    <dgm:pt modelId="{44F1BF6E-18A0-4182-BD68-FA72641FED89}" cxnId="{52DD0B93-2218-44C6-B594-A2A8D200DD8A}" type="sibTrans">
      <dgm:prSet/>
      <dgm:spPr/>
      <dgm:t>
        <a:bodyPr/>
        <a:p>
          <a:endParaRPr lang="zh-CN" altLang="en-US"/>
        </a:p>
      </dgm:t>
    </dgm:pt>
    <dgm:pt modelId="{C77B2DE7-72B5-4696-8020-E9D212156430}">
      <dgm:prSet phldrT="[文本]" phldr="0" custT="0"/>
      <dgm:spPr/>
      <dgm:t>
        <a:bodyPr vert="horz" wrap="square"/>
        <a:p>
          <a:pPr>
            <a:lnSpc>
              <a:spcPct val="100000"/>
            </a:lnSpc>
            <a:spcBef>
              <a:spcPct val="0"/>
            </a:spcBef>
            <a:spcAft>
              <a:spcPct val="35000"/>
            </a:spcAft>
          </a:pPr>
          <a:r>
            <a:rPr lang="zh-CN" altLang="en-US"/>
            <a:t>底层约束</a:t>
          </a:r>
          <a:r>
            <a:rPr lang="zh-CN" altLang="en-US"/>
            <a:t/>
          </a:r>
          <a:endParaRPr lang="zh-CN" altLang="en-US"/>
        </a:p>
      </dgm:t>
    </dgm:pt>
    <dgm:pt modelId="{CFDAE099-E9CA-400D-9E0B-5FF2A223D856}" cxnId="{01465142-8D53-4B5A-8409-4C3DD74AD527}" type="parTrans">
      <dgm:prSet/>
      <dgm:spPr/>
      <dgm:t>
        <a:bodyPr/>
        <a:p>
          <a:endParaRPr lang="zh-CN" altLang="en-US"/>
        </a:p>
      </dgm:t>
    </dgm:pt>
    <dgm:pt modelId="{00E0D5AB-294E-4D02-9E82-5E730EC20037}" cxnId="{01465142-8D53-4B5A-8409-4C3DD74AD527}" type="sibTrans">
      <dgm:prSet/>
      <dgm:spPr/>
      <dgm:t>
        <a:bodyPr/>
        <a:p>
          <a:endParaRPr lang="zh-CN" altLang="en-US"/>
        </a:p>
      </dgm:t>
    </dgm:pt>
    <dgm:pt modelId="{4E8D2CA5-E8F3-41AD-B35D-1FCF8CAD3487}" type="pres">
      <dgm:prSet presAssocID="{FB0B7038-E59F-4A80-A75E-7AA9F300D739}" presName="rootnode" presStyleCnt="0">
        <dgm:presLayoutVars>
          <dgm:chMax/>
          <dgm:chPref/>
          <dgm:dir/>
          <dgm:animLvl val="lvl"/>
        </dgm:presLayoutVars>
      </dgm:prSet>
      <dgm:spPr/>
    </dgm:pt>
    <dgm:pt modelId="{5D08F00E-1A1B-44FE-B733-AC1EDA64F34E}" type="pres">
      <dgm:prSet presAssocID="{4D3602F6-4A56-471E-94CA-95C297AF4D0A}" presName="composite" presStyleCnt="0"/>
      <dgm:spPr/>
    </dgm:pt>
    <dgm:pt modelId="{A3E57910-EB90-4850-9A4E-8662A513D003}" type="pres">
      <dgm:prSet presAssocID="{4D3602F6-4A56-471E-94CA-95C297AF4D0A}" presName="bentUpArrow1" presStyleLbl="alignImgPlace1" presStyleIdx="0" presStyleCnt="1"/>
      <dgm:spPr/>
    </dgm:pt>
    <dgm:pt modelId="{FAF4FC6F-67B2-4C23-BD82-FF5779C49F32}" type="pres">
      <dgm:prSet presAssocID="{4D3602F6-4A56-471E-94CA-95C297AF4D0A}" presName="ParentText" presStyleLbl="node1" presStyleIdx="0" presStyleCnt="2">
        <dgm:presLayoutVars>
          <dgm:chMax val="1"/>
          <dgm:chPref val="1"/>
          <dgm:bulletEnabled val="1"/>
        </dgm:presLayoutVars>
      </dgm:prSet>
      <dgm:spPr/>
    </dgm:pt>
    <dgm:pt modelId="{8F521252-50A6-4EA9-AC51-762FFBA643C9}" type="pres">
      <dgm:prSet presAssocID="{4D3602F6-4A56-471E-94CA-95C297AF4D0A}" presName="ChildText" presStyleLbl="revTx" presStyleIdx="0" presStyleCnt="1">
        <dgm:presLayoutVars>
          <dgm:chMax val="0"/>
          <dgm:chPref val="0"/>
          <dgm:bulletEnabled val="1"/>
        </dgm:presLayoutVars>
      </dgm:prSet>
      <dgm:spPr/>
    </dgm:pt>
    <dgm:pt modelId="{B2014751-3328-490B-A771-AD3E49DD01DB}" type="pres">
      <dgm:prSet presAssocID="{44F1BF6E-18A0-4182-BD68-FA72641FED89}" presName="sibTrans" presStyleCnt="0"/>
      <dgm:spPr/>
    </dgm:pt>
    <dgm:pt modelId="{694786D1-918A-4EAD-89A6-0B79C452A099}" type="pres">
      <dgm:prSet presAssocID="{C77B2DE7-72B5-4696-8020-E9D212156430}" presName="composite" presStyleCnt="0"/>
      <dgm:spPr/>
    </dgm:pt>
    <dgm:pt modelId="{54F8B79A-809C-4F22-B417-84B1257C574F}" type="pres">
      <dgm:prSet presAssocID="{C77B2DE7-72B5-4696-8020-E9D212156430}" presName="ParentText" presStyleLbl="node1" presStyleIdx="1" presStyleCnt="2">
        <dgm:presLayoutVars>
          <dgm:chMax val="1"/>
          <dgm:chPref val="1"/>
          <dgm:bulletEnabled val="1"/>
        </dgm:presLayoutVars>
      </dgm:prSet>
      <dgm:spPr/>
    </dgm:pt>
  </dgm:ptLst>
  <dgm:cxnLst>
    <dgm:cxn modelId="{52DD0B93-2218-44C6-B594-A2A8D200DD8A}" srcId="{FB0B7038-E59F-4A80-A75E-7AA9F300D739}" destId="{4D3602F6-4A56-471E-94CA-95C297AF4D0A}" srcOrd="0" destOrd="0" parTransId="{511DB170-6BB5-4ADD-8085-548C5A4D75BB}" sibTransId="{44F1BF6E-18A0-4182-BD68-FA72641FED89}"/>
    <dgm:cxn modelId="{01465142-8D53-4B5A-8409-4C3DD74AD527}" srcId="{FB0B7038-E59F-4A80-A75E-7AA9F300D739}" destId="{C77B2DE7-72B5-4696-8020-E9D212156430}" srcOrd="1" destOrd="0" parTransId="{CFDAE099-E9CA-400D-9E0B-5FF2A223D856}" sibTransId="{00E0D5AB-294E-4D02-9E82-5E730EC20037}"/>
    <dgm:cxn modelId="{8B211F82-356A-44B5-8D86-D42753334F18}" type="presOf" srcId="{FB0B7038-E59F-4A80-A75E-7AA9F300D739}" destId="{4E8D2CA5-E8F3-41AD-B35D-1FCF8CAD3487}" srcOrd="0" destOrd="0" presId="urn:microsoft.com/office/officeart/2005/8/layout/StepDownProcess"/>
    <dgm:cxn modelId="{E8E4C2BE-7864-45BD-AE34-81EE7A40AED2}" type="presParOf" srcId="{4E8D2CA5-E8F3-41AD-B35D-1FCF8CAD3487}" destId="{5D08F00E-1A1B-44FE-B733-AC1EDA64F34E}" srcOrd="0" destOrd="0" presId="urn:microsoft.com/office/officeart/2005/8/layout/StepDownProcess"/>
    <dgm:cxn modelId="{B7E6F424-7942-4B59-9535-EDB7D689B0F7}" type="presParOf" srcId="{5D08F00E-1A1B-44FE-B733-AC1EDA64F34E}" destId="{A3E57910-EB90-4850-9A4E-8662A513D003}" srcOrd="0" destOrd="0" presId="urn:microsoft.com/office/officeart/2005/8/layout/StepDownProcess"/>
    <dgm:cxn modelId="{1CF7C640-8A2C-4FCD-B47F-C24081DEE434}" type="presParOf" srcId="{5D08F00E-1A1B-44FE-B733-AC1EDA64F34E}" destId="{FAF4FC6F-67B2-4C23-BD82-FF5779C49F32}" srcOrd="1" destOrd="0" presId="urn:microsoft.com/office/officeart/2005/8/layout/StepDownProcess"/>
    <dgm:cxn modelId="{0261431E-BC34-430C-953E-633A403781DC}" type="presOf" srcId="{4D3602F6-4A56-471E-94CA-95C297AF4D0A}" destId="{FAF4FC6F-67B2-4C23-BD82-FF5779C49F32}" srcOrd="0" destOrd="0" presId="urn:microsoft.com/office/officeart/2005/8/layout/StepDownProcess"/>
    <dgm:cxn modelId="{015D1F11-2B04-413B-9A18-3C4E79E0D1AA}" type="presParOf" srcId="{5D08F00E-1A1B-44FE-B733-AC1EDA64F34E}" destId="{8F521252-50A6-4EA9-AC51-762FFBA643C9}" srcOrd="2" destOrd="0" presId="urn:microsoft.com/office/officeart/2005/8/layout/StepDownProcess"/>
    <dgm:cxn modelId="{E43030A5-AAF0-4965-815A-BDEF1E9DB2FF}" type="presParOf" srcId="{4E8D2CA5-E8F3-41AD-B35D-1FCF8CAD3487}" destId="{B2014751-3328-490B-A771-AD3E49DD01DB}" srcOrd="1" destOrd="0" presId="urn:microsoft.com/office/officeart/2005/8/layout/StepDownProcess"/>
    <dgm:cxn modelId="{03FC41B4-EA34-48EB-8D63-2E2179FCE1E1}" type="presParOf" srcId="{4E8D2CA5-E8F3-41AD-B35D-1FCF8CAD3487}" destId="{694786D1-918A-4EAD-89A6-0B79C452A099}" srcOrd="2" destOrd="0" presId="urn:microsoft.com/office/officeart/2005/8/layout/StepDownProcess"/>
    <dgm:cxn modelId="{64C08DC4-DDD4-43C2-A369-09B741FC4F98}" type="presParOf" srcId="{694786D1-918A-4EAD-89A6-0B79C452A099}" destId="{54F8B79A-809C-4F22-B417-84B1257C574F}" srcOrd="0" destOrd="2" presId="urn:microsoft.com/office/officeart/2005/8/layout/StepDownProcess"/>
    <dgm:cxn modelId="{F950CE27-28D6-4427-8029-5C0303771342}" type="presOf" srcId="{C77B2DE7-72B5-4696-8020-E9D212156430}" destId="{54F8B79A-809C-4F22-B417-84B1257C574F}" srcOrd="0" destOrd="0" presId="urn:microsoft.com/office/officeart/2005/8/layout/StepDownProces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7D76233-2C52-45E9-94E8-FBDCAFC81AF1}" type="doc">
      <dgm:prSet loTypeId="urn:microsoft.com/office/officeart/2005/8/layout/radial6" loCatId="cycle" qsTypeId="urn:microsoft.com/office/officeart/2005/8/quickstyle/simple5" qsCatId="simple" csTypeId="urn:microsoft.com/office/officeart/2005/8/colors/accent5_2" csCatId="accent1" phldr="0"/>
      <dgm:spPr/>
      <dgm:t>
        <a:bodyPr/>
        <a:p>
          <a:endParaRPr lang="zh-CN" altLang="en-US"/>
        </a:p>
      </dgm:t>
    </dgm:pt>
    <dgm:pt modelId="{8E2A460B-45D3-4E20-A31D-4AFE676F0DDA}">
      <dgm:prSet phldrT="[文本]" phldr="0" custT="0"/>
      <dgm:spPr/>
      <dgm:t>
        <a:bodyPr vert="horz" wrap="square"/>
        <a:p>
          <a:pPr>
            <a:lnSpc>
              <a:spcPct val="100000"/>
            </a:lnSpc>
            <a:spcBef>
              <a:spcPct val="0"/>
            </a:spcBef>
            <a:spcAft>
              <a:spcPct val="35000"/>
            </a:spcAft>
          </a:pPr>
          <a:r>
            <a:rPr lang="zh-CN" altLang="en-US"/>
            <a:t>老年劳动力再就业</a:t>
          </a:r>
          <a:r>
            <a:rPr lang="zh-CN" altLang="en-US"/>
            <a:t/>
          </a:r>
          <a:endParaRPr lang="zh-CN" altLang="en-US"/>
        </a:p>
      </dgm:t>
    </dgm:pt>
    <dgm:pt modelId="{40722E6B-70D7-49DD-BCDB-C5F5A53BB946}" cxnId="{F9132DBB-C696-4B97-AC18-61F08709E0FB}" type="parTrans">
      <dgm:prSet/>
      <dgm:spPr/>
      <dgm:t>
        <a:bodyPr/>
        <a:p>
          <a:endParaRPr lang="zh-CN" altLang="en-US"/>
        </a:p>
      </dgm:t>
    </dgm:pt>
    <dgm:pt modelId="{AC66A5CC-387D-4D7B-8E90-1B8214C2F261}" cxnId="{F9132DBB-C696-4B97-AC18-61F08709E0FB}" type="sibTrans">
      <dgm:prSet/>
      <dgm:spPr/>
      <dgm:t>
        <a:bodyPr/>
        <a:p>
          <a:endParaRPr lang="zh-CN" altLang="en-US"/>
        </a:p>
      </dgm:t>
    </dgm:pt>
    <dgm:pt modelId="{ECE2948F-862B-4CC3-B6BC-3E6415C7F5DD}">
      <dgm:prSet phldrT="[文本]" phldr="0" custT="0"/>
      <dgm:spPr/>
      <dgm:t>
        <a:bodyPr vert="horz" wrap="square"/>
        <a:p>
          <a:pPr>
            <a:lnSpc>
              <a:spcPct val="100000"/>
            </a:lnSpc>
            <a:spcBef>
              <a:spcPct val="0"/>
            </a:spcBef>
            <a:spcAft>
              <a:spcPct val="35000"/>
            </a:spcAft>
          </a:pPr>
          <a:r>
            <a:rPr lang="zh-CN" altLang="en-US"/>
            <a:t>人力资本积累</a:t>
          </a:r>
          <a:r>
            <a:rPr lang="zh-CN" altLang="en-US"/>
            <a:t/>
          </a:r>
          <a:endParaRPr lang="zh-CN" altLang="en-US"/>
        </a:p>
      </dgm:t>
    </dgm:pt>
    <dgm:pt modelId="{055F34F9-26B5-46B6-B947-B5718EF53A09}" cxnId="{544DA09B-685A-4C09-AF9F-14F64A8648D4}" type="parTrans">
      <dgm:prSet/>
      <dgm:spPr/>
      <dgm:t>
        <a:bodyPr/>
        <a:p>
          <a:endParaRPr lang="zh-CN" altLang="en-US"/>
        </a:p>
      </dgm:t>
    </dgm:pt>
    <dgm:pt modelId="{4116C939-0673-4613-8FA7-CB6FE7258301}" cxnId="{544DA09B-685A-4C09-AF9F-14F64A8648D4}" type="sibTrans">
      <dgm:prSet/>
      <dgm:spPr/>
      <dgm:t>
        <a:bodyPr/>
        <a:p>
          <a:endParaRPr lang="zh-CN" altLang="en-US"/>
        </a:p>
      </dgm:t>
    </dgm:pt>
    <dgm:pt modelId="{D34FE5D7-7525-4D59-ABC9-3998105E634C}">
      <dgm:prSet phldrT="[文本]" phldr="0" custT="0"/>
      <dgm:spPr/>
      <dgm:t>
        <a:bodyPr vert="horz" wrap="square"/>
        <a:p>
          <a:pPr>
            <a:lnSpc>
              <a:spcPct val="100000"/>
            </a:lnSpc>
            <a:spcBef>
              <a:spcPct val="0"/>
            </a:spcBef>
            <a:spcAft>
              <a:spcPct val="35000"/>
            </a:spcAft>
          </a:pPr>
          <a:r>
            <a:rPr lang="zh-CN" altLang="en-US"/>
            <a:t>社会文化建构</a:t>
          </a:r>
          <a:r>
            <a:rPr lang="zh-CN" altLang="en-US"/>
            <a:t/>
          </a:r>
          <a:endParaRPr lang="zh-CN" altLang="en-US"/>
        </a:p>
      </dgm:t>
    </dgm:pt>
    <dgm:pt modelId="{A96BE2DD-535A-47FD-A010-195BD3C076B9}" cxnId="{A822BDE8-6B24-4E94-9F86-D59DDD64D9D7}" type="parTrans">
      <dgm:prSet/>
      <dgm:spPr/>
      <dgm:t>
        <a:bodyPr/>
        <a:p>
          <a:endParaRPr lang="zh-CN" altLang="en-US"/>
        </a:p>
      </dgm:t>
    </dgm:pt>
    <dgm:pt modelId="{75EA9321-EAFA-4AF6-8313-8107E8EB3526}" cxnId="{A822BDE8-6B24-4E94-9F86-D59DDD64D9D7}" type="sibTrans">
      <dgm:prSet/>
      <dgm:spPr/>
      <dgm:t>
        <a:bodyPr/>
        <a:p>
          <a:endParaRPr lang="zh-CN" altLang="en-US"/>
        </a:p>
      </dgm:t>
    </dgm:pt>
    <dgm:pt modelId="{E17F1310-B4AD-4B57-8D9B-BF776721EA77}">
      <dgm:prSet phldrT="[文本]" phldr="0" custT="0"/>
      <dgm:spPr/>
      <dgm:t>
        <a:bodyPr vert="horz" wrap="square"/>
        <a:p>
          <a:pPr>
            <a:lnSpc>
              <a:spcPct val="100000"/>
            </a:lnSpc>
            <a:spcBef>
              <a:spcPct val="0"/>
            </a:spcBef>
            <a:spcAft>
              <a:spcPct val="35000"/>
            </a:spcAft>
          </a:pPr>
          <a:r>
            <a:rPr lang="zh-CN" altLang="en-US"/>
            <a:t>技术进步</a:t>
          </a:r>
          <a:r>
            <a:rPr lang="zh-CN" altLang="en-US"/>
            <a:t>适配</a:t>
          </a:r>
          <a:r>
            <a:rPr lang="zh-CN" altLang="en-US"/>
            <a:t/>
          </a:r>
          <a:endParaRPr lang="zh-CN" altLang="en-US"/>
        </a:p>
      </dgm:t>
    </dgm:pt>
    <dgm:pt modelId="{6BAC1755-6217-4715-99C2-D1422148265D}" cxnId="{2DB41D30-FE58-4178-B5F3-D7DC159A0E6F}" type="parTrans">
      <dgm:prSet/>
      <dgm:spPr/>
      <dgm:t>
        <a:bodyPr/>
        <a:p>
          <a:endParaRPr lang="zh-CN" altLang="en-US"/>
        </a:p>
      </dgm:t>
    </dgm:pt>
    <dgm:pt modelId="{925984A4-8E6F-4D28-B868-DBAB08F4BD28}" cxnId="{2DB41D30-FE58-4178-B5F3-D7DC159A0E6F}" type="sibTrans">
      <dgm:prSet/>
      <dgm:spPr/>
      <dgm:t>
        <a:bodyPr/>
        <a:p>
          <a:endParaRPr lang="zh-CN" altLang="en-US"/>
        </a:p>
      </dgm:t>
    </dgm:pt>
    <dgm:pt modelId="{468FA009-1E87-4539-85FA-5C28B78DD6E9}">
      <dgm:prSet phldrT="[文本]" phldr="0" custT="0"/>
      <dgm:spPr/>
      <dgm:t>
        <a:bodyPr vert="horz" wrap="square"/>
        <a:p>
          <a:pPr>
            <a:lnSpc>
              <a:spcPct val="100000"/>
            </a:lnSpc>
            <a:spcBef>
              <a:spcPct val="0"/>
            </a:spcBef>
            <a:spcAft>
              <a:spcPct val="35000"/>
            </a:spcAft>
          </a:pPr>
          <a:r>
            <a:rPr lang="zh-CN" altLang="en-US"/>
            <a:t>政策环境支持</a:t>
          </a:r>
          <a:r>
            <a:rPr lang="zh-CN" altLang="en-US"/>
            <a:t/>
          </a:r>
          <a:endParaRPr lang="zh-CN" altLang="en-US"/>
        </a:p>
      </dgm:t>
    </dgm:pt>
    <dgm:pt modelId="{F205FF88-2C9B-4658-BCAA-BEA6EB7393B2}" cxnId="{403BF11B-E9B7-4FBC-B99D-FFA80E020063}" type="parTrans">
      <dgm:prSet/>
      <dgm:spPr/>
      <dgm:t>
        <a:bodyPr/>
        <a:p>
          <a:endParaRPr lang="zh-CN" altLang="en-US"/>
        </a:p>
      </dgm:t>
    </dgm:pt>
    <dgm:pt modelId="{B5C730DE-1181-420B-A78D-195E914DCCF5}" cxnId="{403BF11B-E9B7-4FBC-B99D-FFA80E020063}" type="sibTrans">
      <dgm:prSet/>
      <dgm:spPr/>
      <dgm:t>
        <a:bodyPr/>
        <a:p>
          <a:endParaRPr lang="zh-CN" altLang="en-US"/>
        </a:p>
      </dgm:t>
    </dgm:pt>
    <dgm:pt modelId="{D5B7622F-17AC-467C-B10C-28C38C38C350}" type="pres">
      <dgm:prSet presAssocID="{37D76233-2C52-45E9-94E8-FBDCAFC81AF1}" presName="Name0" presStyleCnt="0">
        <dgm:presLayoutVars>
          <dgm:chMax val="1"/>
          <dgm:dir/>
          <dgm:animLvl val="ctr"/>
          <dgm:resizeHandles val="exact"/>
        </dgm:presLayoutVars>
      </dgm:prSet>
      <dgm:spPr/>
    </dgm:pt>
    <dgm:pt modelId="{BADECBB5-37EA-4668-8A2F-BD2C2902F22A}" type="pres">
      <dgm:prSet presAssocID="{8E2A460B-45D3-4E20-A31D-4AFE676F0DDA}" presName="centerShape" presStyleLbl="node0" presStyleIdx="0" presStyleCnt="1"/>
      <dgm:spPr/>
    </dgm:pt>
    <dgm:pt modelId="{C2E7DEFD-0505-42BF-AE13-B6483BF86572}" type="pres">
      <dgm:prSet presAssocID="{ECE2948F-862B-4CC3-B6BC-3E6415C7F5DD}" presName="node" presStyleLbl="node1" presStyleIdx="0" presStyleCnt="4">
        <dgm:presLayoutVars>
          <dgm:bulletEnabled val="1"/>
        </dgm:presLayoutVars>
      </dgm:prSet>
      <dgm:spPr/>
    </dgm:pt>
    <dgm:pt modelId="{45046E67-FA41-4C32-9E33-BDDDFBBF1D6A}" type="pres">
      <dgm:prSet presAssocID="{ECE2948F-862B-4CC3-B6BC-3E6415C7F5DD}" presName="dummy" presStyleCnt="0"/>
      <dgm:spPr/>
    </dgm:pt>
    <dgm:pt modelId="{F3596884-C09F-4C70-900E-D61864BED5F1}" type="pres">
      <dgm:prSet presAssocID="{4116C939-0673-4613-8FA7-CB6FE7258301}" presName="sibTrans" presStyleLbl="sibTrans2D1" presStyleIdx="0" presStyleCnt="4"/>
      <dgm:spPr/>
    </dgm:pt>
    <dgm:pt modelId="{44F31994-0027-4DC3-B39E-FEE01FB1A852}" type="pres">
      <dgm:prSet presAssocID="{D34FE5D7-7525-4D59-ABC9-3998105E634C}" presName="node" presStyleLbl="node1" presStyleIdx="1" presStyleCnt="4">
        <dgm:presLayoutVars>
          <dgm:bulletEnabled val="1"/>
        </dgm:presLayoutVars>
      </dgm:prSet>
      <dgm:spPr/>
    </dgm:pt>
    <dgm:pt modelId="{C6A1073C-AEB6-41D2-8257-B02F52AE6460}" type="pres">
      <dgm:prSet presAssocID="{D34FE5D7-7525-4D59-ABC9-3998105E634C}" presName="dummy" presStyleCnt="0"/>
      <dgm:spPr/>
    </dgm:pt>
    <dgm:pt modelId="{15715456-3418-4DF0-AF3A-DA59307B110D}" type="pres">
      <dgm:prSet presAssocID="{75EA9321-EAFA-4AF6-8313-8107E8EB3526}" presName="sibTrans" presStyleLbl="sibTrans2D1" presStyleIdx="1" presStyleCnt="4"/>
      <dgm:spPr/>
    </dgm:pt>
    <dgm:pt modelId="{0DA4B7DF-BD6B-46E8-940A-69050C019BB3}" type="pres">
      <dgm:prSet presAssocID="{E17F1310-B4AD-4B57-8D9B-BF776721EA77}" presName="node" presStyleLbl="node1" presStyleIdx="2" presStyleCnt="4">
        <dgm:presLayoutVars>
          <dgm:bulletEnabled val="1"/>
        </dgm:presLayoutVars>
      </dgm:prSet>
      <dgm:spPr/>
    </dgm:pt>
    <dgm:pt modelId="{9268D1C0-A139-4893-A300-CF509D15352B}" type="pres">
      <dgm:prSet presAssocID="{E17F1310-B4AD-4B57-8D9B-BF776721EA77}" presName="dummy" presStyleCnt="0"/>
      <dgm:spPr/>
    </dgm:pt>
    <dgm:pt modelId="{EBDCA107-8C73-4044-AC95-50DA28B759A8}" type="pres">
      <dgm:prSet presAssocID="{925984A4-8E6F-4D28-B868-DBAB08F4BD28}" presName="sibTrans" presStyleLbl="sibTrans2D1" presStyleIdx="2" presStyleCnt="4"/>
      <dgm:spPr/>
    </dgm:pt>
    <dgm:pt modelId="{F539A410-44AA-4A02-9F1B-997DD2B71E87}" type="pres">
      <dgm:prSet presAssocID="{468FA009-1E87-4539-85FA-5C28B78DD6E9}" presName="node" presStyleLbl="node1" presStyleIdx="3" presStyleCnt="4">
        <dgm:presLayoutVars>
          <dgm:bulletEnabled val="1"/>
        </dgm:presLayoutVars>
      </dgm:prSet>
      <dgm:spPr/>
    </dgm:pt>
    <dgm:pt modelId="{2B016566-AAE3-46FD-A114-7C13E71734EF}" type="pres">
      <dgm:prSet presAssocID="{468FA009-1E87-4539-85FA-5C28B78DD6E9}" presName="dummy" presStyleCnt="0"/>
      <dgm:spPr/>
    </dgm:pt>
    <dgm:pt modelId="{B5FF6E04-452A-4146-97F4-3BC94EB5BB87}" type="pres">
      <dgm:prSet presAssocID="{B5C730DE-1181-420B-A78D-195E914DCCF5}" presName="sibTrans" presStyleLbl="sibTrans2D1" presStyleIdx="3" presStyleCnt="4"/>
      <dgm:spPr/>
    </dgm:pt>
  </dgm:ptLst>
  <dgm:cxnLst>
    <dgm:cxn modelId="{F9132DBB-C696-4B97-AC18-61F08709E0FB}" srcId="{37D76233-2C52-45E9-94E8-FBDCAFC81AF1}" destId="{8E2A460B-45D3-4E20-A31D-4AFE676F0DDA}" srcOrd="0" destOrd="0" parTransId="{40722E6B-70D7-49DD-BCDB-C5F5A53BB946}" sibTransId="{AC66A5CC-387D-4D7B-8E90-1B8214C2F261}"/>
    <dgm:cxn modelId="{544DA09B-685A-4C09-AF9F-14F64A8648D4}" srcId="{8E2A460B-45D3-4E20-A31D-4AFE676F0DDA}" destId="{ECE2948F-862B-4CC3-B6BC-3E6415C7F5DD}" srcOrd="0" destOrd="0" parTransId="{055F34F9-26B5-46B6-B947-B5718EF53A09}" sibTransId="{4116C939-0673-4613-8FA7-CB6FE7258301}"/>
    <dgm:cxn modelId="{A822BDE8-6B24-4E94-9F86-D59DDD64D9D7}" srcId="{8E2A460B-45D3-4E20-A31D-4AFE676F0DDA}" destId="{D34FE5D7-7525-4D59-ABC9-3998105E634C}" srcOrd="1" destOrd="0" parTransId="{A96BE2DD-535A-47FD-A010-195BD3C076B9}" sibTransId="{75EA9321-EAFA-4AF6-8313-8107E8EB3526}"/>
    <dgm:cxn modelId="{2DB41D30-FE58-4178-B5F3-D7DC159A0E6F}" srcId="{8E2A460B-45D3-4E20-A31D-4AFE676F0DDA}" destId="{E17F1310-B4AD-4B57-8D9B-BF776721EA77}" srcOrd="2" destOrd="0" parTransId="{6BAC1755-6217-4715-99C2-D1422148265D}" sibTransId="{925984A4-8E6F-4D28-B868-DBAB08F4BD28}"/>
    <dgm:cxn modelId="{403BF11B-E9B7-4FBC-B99D-FFA80E020063}" srcId="{8E2A460B-45D3-4E20-A31D-4AFE676F0DDA}" destId="{468FA009-1E87-4539-85FA-5C28B78DD6E9}" srcOrd="3" destOrd="0" parTransId="{F205FF88-2C9B-4658-BCAA-BEA6EB7393B2}" sibTransId="{B5C730DE-1181-420B-A78D-195E914DCCF5}"/>
    <dgm:cxn modelId="{B8A1432F-2412-47C1-8588-B2B3B70129F9}" type="presOf" srcId="{37D76233-2C52-45E9-94E8-FBDCAFC81AF1}" destId="{D5B7622F-17AC-467C-B10C-28C38C38C350}" srcOrd="0" destOrd="0" presId="urn:microsoft.com/office/officeart/2005/8/layout/radial6"/>
    <dgm:cxn modelId="{59D4F8BD-6BC8-4D18-9A9F-D8305765ECB3}" type="presParOf" srcId="{D5B7622F-17AC-467C-B10C-28C38C38C350}" destId="{BADECBB5-37EA-4668-8A2F-BD2C2902F22A}" srcOrd="0" destOrd="0" presId="urn:microsoft.com/office/officeart/2005/8/layout/radial6"/>
    <dgm:cxn modelId="{37800300-B87E-4C56-B824-36F9F661C14E}" type="presOf" srcId="{8E2A460B-45D3-4E20-A31D-4AFE676F0DDA}" destId="{BADECBB5-37EA-4668-8A2F-BD2C2902F22A}" srcOrd="0" destOrd="0" presId="urn:microsoft.com/office/officeart/2005/8/layout/radial6"/>
    <dgm:cxn modelId="{E6E10B2D-AA6F-4CB3-8C92-066E5834C291}" type="presParOf" srcId="{D5B7622F-17AC-467C-B10C-28C38C38C350}" destId="{C2E7DEFD-0505-42BF-AE13-B6483BF86572}" srcOrd="1" destOrd="0" presId="urn:microsoft.com/office/officeart/2005/8/layout/radial6"/>
    <dgm:cxn modelId="{9A11882F-B9E5-46D6-8ECB-754E8BD7F6D2}" type="presOf" srcId="{ECE2948F-862B-4CC3-B6BC-3E6415C7F5DD}" destId="{C2E7DEFD-0505-42BF-AE13-B6483BF86572}" srcOrd="0" destOrd="0" presId="urn:microsoft.com/office/officeart/2005/8/layout/radial6"/>
    <dgm:cxn modelId="{4CDEFE17-0B80-4FAD-A9DF-DA487C20F605}" type="presParOf" srcId="{D5B7622F-17AC-467C-B10C-28C38C38C350}" destId="{45046E67-FA41-4C32-9E33-BDDDFBBF1D6A}" srcOrd="2" destOrd="0" presId="urn:microsoft.com/office/officeart/2005/8/layout/radial6"/>
    <dgm:cxn modelId="{CA3B28D7-C190-47A1-898A-07902B6A49D2}" type="presParOf" srcId="{D5B7622F-17AC-467C-B10C-28C38C38C350}" destId="{F3596884-C09F-4C70-900E-D61864BED5F1}" srcOrd="3" destOrd="0" presId="urn:microsoft.com/office/officeart/2005/8/layout/radial6"/>
    <dgm:cxn modelId="{24F76E9A-41CB-42CB-A626-D3A8C09FBB37}" type="presOf" srcId="{4116C939-0673-4613-8FA7-CB6FE7258301}" destId="{F3596884-C09F-4C70-900E-D61864BED5F1}" srcOrd="0" destOrd="0" presId="urn:microsoft.com/office/officeart/2005/8/layout/radial6"/>
    <dgm:cxn modelId="{9EE2517F-801E-41B1-A2C2-0C1219988498}" type="presParOf" srcId="{D5B7622F-17AC-467C-B10C-28C38C38C350}" destId="{44F31994-0027-4DC3-B39E-FEE01FB1A852}" srcOrd="4" destOrd="0" presId="urn:microsoft.com/office/officeart/2005/8/layout/radial6"/>
    <dgm:cxn modelId="{5277746B-4EEC-46D3-B7ED-32D08AFA7A68}" type="presOf" srcId="{D34FE5D7-7525-4D59-ABC9-3998105E634C}" destId="{44F31994-0027-4DC3-B39E-FEE01FB1A852}" srcOrd="0" destOrd="0" presId="urn:microsoft.com/office/officeart/2005/8/layout/radial6"/>
    <dgm:cxn modelId="{FD8C397E-9A69-42BA-BBDB-799B4FE763EA}" type="presParOf" srcId="{D5B7622F-17AC-467C-B10C-28C38C38C350}" destId="{C6A1073C-AEB6-41D2-8257-B02F52AE6460}" srcOrd="5" destOrd="0" presId="urn:microsoft.com/office/officeart/2005/8/layout/radial6"/>
    <dgm:cxn modelId="{DDA1279A-4C8B-4E07-98E1-01581197AA1A}" type="presParOf" srcId="{D5B7622F-17AC-467C-B10C-28C38C38C350}" destId="{15715456-3418-4DF0-AF3A-DA59307B110D}" srcOrd="6" destOrd="0" presId="urn:microsoft.com/office/officeart/2005/8/layout/radial6"/>
    <dgm:cxn modelId="{814C9289-3D1C-4312-ACE4-B988E5D20386}" type="presOf" srcId="{75EA9321-EAFA-4AF6-8313-8107E8EB3526}" destId="{15715456-3418-4DF0-AF3A-DA59307B110D}" srcOrd="0" destOrd="0" presId="urn:microsoft.com/office/officeart/2005/8/layout/radial6"/>
    <dgm:cxn modelId="{8FCC8F1E-969F-436A-A56C-C673AC574616}" type="presParOf" srcId="{D5B7622F-17AC-467C-B10C-28C38C38C350}" destId="{0DA4B7DF-BD6B-46E8-940A-69050C019BB3}" srcOrd="7" destOrd="0" presId="urn:microsoft.com/office/officeart/2005/8/layout/radial6"/>
    <dgm:cxn modelId="{624B766A-1171-47D5-BE31-B97BD2130447}" type="presOf" srcId="{E17F1310-B4AD-4B57-8D9B-BF776721EA77}" destId="{0DA4B7DF-BD6B-46E8-940A-69050C019BB3}" srcOrd="0" destOrd="0" presId="urn:microsoft.com/office/officeart/2005/8/layout/radial6"/>
    <dgm:cxn modelId="{232870B6-55E7-4844-A3B1-97377D3297C6}" type="presParOf" srcId="{D5B7622F-17AC-467C-B10C-28C38C38C350}" destId="{9268D1C0-A139-4893-A300-CF509D15352B}" srcOrd="8" destOrd="0" presId="urn:microsoft.com/office/officeart/2005/8/layout/radial6"/>
    <dgm:cxn modelId="{2C4845CA-29AD-4409-82D4-CBE6F8E3EB3E}" type="presParOf" srcId="{D5B7622F-17AC-467C-B10C-28C38C38C350}" destId="{EBDCA107-8C73-4044-AC95-50DA28B759A8}" srcOrd="9" destOrd="0" presId="urn:microsoft.com/office/officeart/2005/8/layout/radial6"/>
    <dgm:cxn modelId="{9737AE60-1BCD-46D3-936D-E98CF90B9A59}" type="presOf" srcId="{925984A4-8E6F-4D28-B868-DBAB08F4BD28}" destId="{EBDCA107-8C73-4044-AC95-50DA28B759A8}" srcOrd="0" destOrd="0" presId="urn:microsoft.com/office/officeart/2005/8/layout/radial6"/>
    <dgm:cxn modelId="{E5003D21-8F48-4BA5-8ADF-AF19941DC318}" type="presParOf" srcId="{D5B7622F-17AC-467C-B10C-28C38C38C350}" destId="{F539A410-44AA-4A02-9F1B-997DD2B71E87}" srcOrd="10" destOrd="0" presId="urn:microsoft.com/office/officeart/2005/8/layout/radial6"/>
    <dgm:cxn modelId="{23212568-FCED-4BB6-9E2B-9BF8066AC166}" type="presOf" srcId="{468FA009-1E87-4539-85FA-5C28B78DD6E9}" destId="{F539A410-44AA-4A02-9F1B-997DD2B71E87}" srcOrd="0" destOrd="0" presId="urn:microsoft.com/office/officeart/2005/8/layout/radial6"/>
    <dgm:cxn modelId="{3FC54221-412B-466C-A62C-1DC92F8EFAA7}" type="presParOf" srcId="{D5B7622F-17AC-467C-B10C-28C38C38C350}" destId="{2B016566-AAE3-46FD-A114-7C13E71734EF}" srcOrd="11" destOrd="0" presId="urn:microsoft.com/office/officeart/2005/8/layout/radial6"/>
    <dgm:cxn modelId="{11BCD08C-89B3-4FA8-ACEE-3E7CBC737B83}" type="presParOf" srcId="{D5B7622F-17AC-467C-B10C-28C38C38C350}" destId="{B5FF6E04-452A-4146-97F4-3BC94EB5BB87}" srcOrd="12" destOrd="0" presId="urn:microsoft.com/office/officeart/2005/8/layout/radial6"/>
    <dgm:cxn modelId="{99E04A17-7650-41B2-800B-9DA33C01194B}" type="presOf" srcId="{B5C730DE-1181-420B-A78D-195E914DCCF5}" destId="{B5FF6E04-452A-4146-97F4-3BC94EB5BB87}" srcOrd="0" destOrd="0" presId="urn:microsoft.com/office/officeart/2005/8/layout/radial6"/>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422390" cy="3743960"/>
        <a:chOff x="0" y="0"/>
        <a:chExt cx="6422390" cy="3743960"/>
      </a:xfrm>
    </dsp:grpSpPr>
    <dsp:sp modelId="{E561ED5B-86C5-4F33-9AFB-CF29287F5ADA}">
      <dsp:nvSpPr>
        <dsp:cNvPr id="3" name="流程图: 手动操作 2"/>
        <dsp:cNvSpPr/>
      </dsp:nvSpPr>
      <dsp:spPr bwMode="white">
        <a:xfrm rot="-5400000">
          <a:off x="-724208" y="724208"/>
          <a:ext cx="3743960" cy="2295544"/>
        </a:xfrm>
        <a:prstGeom prst="flowChartManualOperation">
          <a:avLst/>
        </a:prstGeom>
      </dsp:spPr>
      <dsp:style>
        <a:lnRef idx="0">
          <a:schemeClr val="lt1"/>
        </a:lnRef>
        <a:fillRef idx="3">
          <a:schemeClr val="accent5">
            <a:alpha val="90000"/>
            <a:hueOff val="0"/>
            <a:satOff val="0"/>
            <a:lumOff val="0"/>
            <a:alpha val="90196"/>
          </a:schemeClr>
        </a:fillRef>
        <a:effectRef idx="3">
          <a:scrgbClr r="0" g="0" b="0"/>
        </a:effectRef>
        <a:fontRef idx="minor">
          <a:schemeClr val="lt1"/>
        </a:fontRef>
      </dsp:style>
      <dsp:txBody>
        <a:bodyPr rot="5400000" vert="horz" wrap="square" lIns="228600" tIns="0" rIns="45720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3600"/>
            <a:t>日本</a:t>
          </a:r>
          <a:endParaRPr lang="zh-CN" altLang="en-US" sz="3600"/>
        </a:p>
        <a:p>
          <a:pPr marL="228600" lvl="1" indent="-228600">
            <a:lnSpc>
              <a:spcPct val="100000"/>
            </a:lnSpc>
            <a:spcBef>
              <a:spcPct val="0"/>
            </a:spcBef>
            <a:spcAft>
              <a:spcPct val="15000"/>
            </a:spcAft>
            <a:buChar char="•"/>
          </a:pPr>
          <a:r>
            <a:rPr lang="en-US" altLang="zh-CN" sz="2000"/>
            <a:t>65-&gt;70</a:t>
          </a:r>
          <a:endParaRPr lang="zh-CN" altLang="en-US" sz="2000"/>
        </a:p>
        <a:p>
          <a:pPr marL="228600" lvl="1" indent="-228600">
            <a:lnSpc>
              <a:spcPct val="100000"/>
            </a:lnSpc>
            <a:spcBef>
              <a:spcPct val="0"/>
            </a:spcBef>
            <a:spcAft>
              <a:spcPct val="15000"/>
            </a:spcAft>
            <a:buChar char="•"/>
          </a:pPr>
          <a:r>
            <a:rPr lang="en-US" altLang="zh-CN" sz="2000"/>
            <a:t>2021</a:t>
          </a:r>
          <a:r>
            <a:rPr lang="zh-CN" altLang="en-US" sz="2000"/>
            <a:t>年</a:t>
          </a:r>
          <a:endParaRPr lang="zh-CN" altLang="en-US" sz="2000"/>
        </a:p>
        <a:p>
          <a:pPr marL="228600" lvl="1" indent="-228600">
            <a:lnSpc>
              <a:spcPct val="100000"/>
            </a:lnSpc>
            <a:spcBef>
              <a:spcPct val="0"/>
            </a:spcBef>
            <a:spcAft>
              <a:spcPct val="15000"/>
            </a:spcAft>
            <a:buChar char="•"/>
          </a:pPr>
          <a:r>
            <a:rPr lang="zh-CN" altLang="en-US" sz="2000"/>
            <a:t>补贴</a:t>
          </a:r>
          <a:r>
            <a:rPr lang="zh-CN" altLang="en-US" sz="2000"/>
            <a:t>企业</a:t>
          </a:r>
          <a:endParaRPr lang="zh-CN" altLang="en-US" sz="2000"/>
        </a:p>
        <a:p>
          <a:pPr marL="228600" lvl="1" indent="-228600">
            <a:lnSpc>
              <a:spcPct val="100000"/>
            </a:lnSpc>
            <a:spcBef>
              <a:spcPct val="0"/>
            </a:spcBef>
            <a:spcAft>
              <a:spcPct val="15000"/>
            </a:spcAft>
            <a:buChar char="•"/>
          </a:pPr>
          <a:r>
            <a:rPr lang="zh-CN" altLang="en-US" sz="2000"/>
            <a:t>分段</a:t>
          </a:r>
          <a:r>
            <a:rPr lang="zh-CN" altLang="en-US" sz="2000"/>
            <a:t>养老金</a:t>
          </a:r>
          <a:endParaRPr lang="zh-CN" altLang="en-US" sz="2000"/>
        </a:p>
      </dsp:txBody>
      <dsp:txXfrm rot="-5400000">
        <a:off x="-724208" y="724208"/>
        <a:ext cx="3743960" cy="2295544"/>
      </dsp:txXfrm>
    </dsp:sp>
    <dsp:sp modelId="{CB90536C-45AA-4FBE-BCAF-99890DDD97C8}">
      <dsp:nvSpPr>
        <dsp:cNvPr id="4" name="流程图: 手动操作 3"/>
        <dsp:cNvSpPr/>
      </dsp:nvSpPr>
      <dsp:spPr bwMode="white">
        <a:xfrm rot="-5400000">
          <a:off x="1527255" y="912248"/>
          <a:ext cx="3743960" cy="1919463"/>
        </a:xfrm>
        <a:prstGeom prst="flowChartManualOperation">
          <a:avLst/>
        </a:prstGeom>
      </dsp:spPr>
      <dsp:style>
        <a:lnRef idx="0">
          <a:schemeClr val="lt1"/>
        </a:lnRef>
        <a:fillRef idx="3">
          <a:schemeClr val="accent5">
            <a:alpha val="90000"/>
            <a:hueOff val="0"/>
            <a:satOff val="0"/>
            <a:lumOff val="0"/>
            <a:alpha val="70196"/>
          </a:schemeClr>
        </a:fillRef>
        <a:effectRef idx="3">
          <a:scrgbClr r="0" g="0" b="0"/>
        </a:effectRef>
        <a:fontRef idx="minor">
          <a:schemeClr val="lt1"/>
        </a:fontRef>
      </dsp:style>
      <dsp:txBody>
        <a:bodyPr rot="5400000" vert="horz" wrap="square" lIns="203200" tIns="0" rIns="40640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3200"/>
            <a:t>德国</a:t>
          </a:r>
          <a:endParaRPr lang="zh-CN" altLang="en-US" sz="3200"/>
        </a:p>
        <a:p>
          <a:pPr marL="228600" lvl="1" indent="-228600">
            <a:lnSpc>
              <a:spcPct val="100000"/>
            </a:lnSpc>
            <a:spcBef>
              <a:spcPct val="0"/>
            </a:spcBef>
            <a:spcAft>
              <a:spcPct val="15000"/>
            </a:spcAft>
            <a:buChar char="•"/>
          </a:pPr>
          <a:r>
            <a:rPr lang="en-US" altLang="zh-CN" sz="2000"/>
            <a:t>65-&gt;67</a:t>
          </a:r>
          <a:endParaRPr lang="zh-CN" altLang="en-US" sz="2000"/>
        </a:p>
        <a:p>
          <a:pPr marL="228600" lvl="1" indent="-228600">
            <a:lnSpc>
              <a:spcPct val="100000"/>
            </a:lnSpc>
            <a:spcBef>
              <a:spcPct val="0"/>
            </a:spcBef>
            <a:spcAft>
              <a:spcPct val="15000"/>
            </a:spcAft>
            <a:buChar char="•"/>
          </a:pPr>
          <a:r>
            <a:rPr lang="en-US" altLang="zh-CN" sz="2000"/>
            <a:t>2031</a:t>
          </a:r>
          <a:r>
            <a:rPr lang="zh-CN" altLang="en-US" sz="2000"/>
            <a:t>年</a:t>
          </a:r>
          <a:endParaRPr lang="zh-CN" altLang="en-US" sz="2000"/>
        </a:p>
        <a:p>
          <a:pPr marL="228600" lvl="1" indent="-228600">
            <a:lnSpc>
              <a:spcPct val="100000"/>
            </a:lnSpc>
            <a:spcBef>
              <a:spcPct val="0"/>
            </a:spcBef>
            <a:spcAft>
              <a:spcPct val="15000"/>
            </a:spcAft>
            <a:buChar char="•"/>
          </a:pPr>
          <a:r>
            <a:rPr lang="zh-CN" altLang="en-US" sz="2000"/>
            <a:t>缴</a:t>
          </a:r>
          <a:r>
            <a:rPr lang="zh-CN" altLang="en-US" sz="2000"/>
            <a:t>满</a:t>
          </a:r>
          <a:r>
            <a:rPr lang="en-US" altLang="zh-CN" sz="2000"/>
            <a:t>45</a:t>
          </a:r>
          <a:r>
            <a:rPr lang="zh-CN" altLang="en-US" sz="2000"/>
            <a:t>年</a:t>
          </a:r>
          <a:r>
            <a:rPr lang="zh-CN" altLang="en-US" sz="2000"/>
            <a:t>养老金</a:t>
          </a:r>
          <a:r>
            <a:rPr lang="zh-CN" altLang="en-US" sz="2000"/>
            <a:t>可</a:t>
          </a:r>
          <a:r>
            <a:rPr lang="zh-CN" altLang="en-US" sz="2000"/>
            <a:t>提前</a:t>
          </a:r>
          <a:r>
            <a:rPr lang="en-US" altLang="zh-CN" sz="2000"/>
            <a:t>62</a:t>
          </a:r>
          <a:r>
            <a:rPr lang="zh-CN" altLang="en-US" sz="2000"/>
            <a:t>岁</a:t>
          </a:r>
          <a:r>
            <a:rPr lang="zh-CN" altLang="en-US" sz="2000"/>
            <a:t>退</a:t>
          </a:r>
          <a:r>
            <a:rPr lang="zh-CN" altLang="en-US" sz="2000"/>
            <a:t>休</a:t>
          </a:r>
          <a:endParaRPr lang="zh-CN" altLang="en-US" sz="2000"/>
        </a:p>
      </dsp:txBody>
      <dsp:txXfrm rot="-5400000">
        <a:off x="1527255" y="912248"/>
        <a:ext cx="3743960" cy="1919463"/>
      </dsp:txXfrm>
    </dsp:sp>
    <dsp:sp modelId="{35A89FA7-451D-44F0-A02E-1277ECD1BBE6}">
      <dsp:nvSpPr>
        <dsp:cNvPr id="5" name="流程图: 手动操作 4"/>
        <dsp:cNvSpPr/>
      </dsp:nvSpPr>
      <dsp:spPr bwMode="white">
        <a:xfrm rot="-5400000">
          <a:off x="3590678" y="912248"/>
          <a:ext cx="3743960" cy="1919463"/>
        </a:xfrm>
        <a:prstGeom prst="flowChartManualOperation">
          <a:avLst/>
        </a:prstGeom>
      </dsp:spPr>
      <dsp:style>
        <a:lnRef idx="0">
          <a:schemeClr val="lt1"/>
        </a:lnRef>
        <a:fillRef idx="3">
          <a:schemeClr val="accent5">
            <a:alpha val="90000"/>
            <a:hueOff val="0"/>
            <a:satOff val="0"/>
            <a:lumOff val="0"/>
            <a:alpha val="50196"/>
          </a:schemeClr>
        </a:fillRef>
        <a:effectRef idx="3">
          <a:scrgbClr r="0" g="0" b="0"/>
        </a:effectRef>
        <a:fontRef idx="minor">
          <a:schemeClr val="lt1"/>
        </a:fontRef>
      </dsp:style>
      <dsp:txBody>
        <a:bodyPr rot="5400000" vert="horz" wrap="square" lIns="203200" tIns="0" rIns="40640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3200"/>
            <a:t>法国</a:t>
          </a:r>
          <a:endParaRPr lang="zh-CN" altLang="en-US" sz="3200"/>
        </a:p>
        <a:p>
          <a:pPr marL="228600" lvl="1" indent="-228600">
            <a:lnSpc>
              <a:spcPct val="100000"/>
            </a:lnSpc>
            <a:spcBef>
              <a:spcPct val="0"/>
            </a:spcBef>
            <a:spcAft>
              <a:spcPct val="15000"/>
            </a:spcAft>
            <a:buChar char="•"/>
          </a:pPr>
          <a:r>
            <a:rPr lang="en-US" altLang="zh-CN" sz="2000"/>
            <a:t>62-&gt;64</a:t>
          </a:r>
          <a:endParaRPr lang="zh-CN" altLang="en-US" sz="2000"/>
        </a:p>
        <a:p>
          <a:pPr marL="228600" lvl="1" indent="-228600">
            <a:lnSpc>
              <a:spcPct val="100000"/>
            </a:lnSpc>
            <a:spcBef>
              <a:spcPct val="0"/>
            </a:spcBef>
            <a:spcAft>
              <a:spcPct val="15000"/>
            </a:spcAft>
            <a:buChar char="•"/>
          </a:pPr>
          <a:r>
            <a:rPr lang="en-US" altLang="zh-CN" sz="2000"/>
            <a:t>2023</a:t>
          </a:r>
          <a:endParaRPr lang="en-US" altLang="zh-CN" sz="2000"/>
        </a:p>
        <a:p>
          <a:pPr marL="228600" lvl="1" indent="-228600">
            <a:lnSpc>
              <a:spcPct val="100000"/>
            </a:lnSpc>
            <a:spcBef>
              <a:spcPct val="0"/>
            </a:spcBef>
            <a:spcAft>
              <a:spcPct val="15000"/>
            </a:spcAft>
            <a:buChar char="•"/>
          </a:pPr>
          <a:r>
            <a:rPr lang="zh-CN" altLang="en-US" sz="2000"/>
            <a:t>缴满</a:t>
          </a:r>
          <a:r>
            <a:rPr lang="en-US" altLang="zh-CN" sz="2000"/>
            <a:t>43</a:t>
          </a:r>
          <a:r>
            <a:rPr lang="zh-CN" altLang="en-US" sz="2000"/>
            <a:t>年</a:t>
          </a:r>
          <a:r>
            <a:rPr lang="zh-CN" altLang="en-US" sz="2000"/>
            <a:t>才能领</a:t>
          </a:r>
          <a:r>
            <a:rPr lang="zh-CN" altLang="en-US" sz="2000"/>
            <a:t>全额</a:t>
          </a:r>
          <a:endParaRPr lang="en-US" altLang="zh-CN" sz="2400"/>
        </a:p>
        <a:p>
          <a:pPr marL="228600" lvl="1" indent="-228600">
            <a:lnSpc>
              <a:spcPct val="100000"/>
            </a:lnSpc>
            <a:spcBef>
              <a:spcPct val="0"/>
            </a:spcBef>
            <a:spcAft>
              <a:spcPct val="15000"/>
            </a:spcAft>
            <a:buChar char="•"/>
          </a:pPr>
          <a:endParaRPr lang="en-US" altLang="zh-CN" sz="2400"/>
        </a:p>
      </dsp:txBody>
      <dsp:txXfrm rot="-5400000">
        <a:off x="3590678" y="912248"/>
        <a:ext cx="3743960" cy="1919463"/>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606925" cy="3703955"/>
        <a:chOff x="0" y="0"/>
        <a:chExt cx="4606925" cy="3703955"/>
      </a:xfrm>
    </dsp:grpSpPr>
    <dsp:sp modelId="{E561ED5B-86C5-4F33-9AFB-CF29287F5ADA}">
      <dsp:nvSpPr>
        <dsp:cNvPr id="3" name="流程图: 手动操作 2"/>
        <dsp:cNvSpPr/>
      </dsp:nvSpPr>
      <dsp:spPr bwMode="white">
        <a:xfrm rot="-5400000">
          <a:off x="-758197" y="758197"/>
          <a:ext cx="3703955" cy="2187562"/>
        </a:xfrm>
        <a:prstGeom prst="flowChartManualOperation">
          <a:avLst/>
        </a:prstGeom>
      </dsp:spPr>
      <dsp:style>
        <a:lnRef idx="0">
          <a:schemeClr val="lt1"/>
        </a:lnRef>
        <a:fillRef idx="3">
          <a:schemeClr val="accent5">
            <a:alpha val="90000"/>
            <a:hueOff val="0"/>
            <a:satOff val="0"/>
            <a:lumOff val="0"/>
            <a:alpha val="90196"/>
          </a:schemeClr>
        </a:fillRef>
        <a:effectRef idx="3">
          <a:scrgbClr r="0" g="0" b="0"/>
        </a:effectRef>
        <a:fontRef idx="minor">
          <a:schemeClr val="lt1"/>
        </a:fontRef>
      </dsp:style>
      <dsp:txBody>
        <a:bodyPr rot="5400000" vert="horz" wrap="square" lIns="177800" tIns="0" rIns="355600" bIns="0" anchor="t"/>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zh-CN" altLang="en-US" sz="2800"/>
            <a:t>美国</a:t>
          </a:r>
          <a:endParaRPr lang="zh-CN" altLang="en-US" sz="2800"/>
        </a:p>
        <a:p>
          <a:pPr marL="228600" lvl="1" indent="-228600">
            <a:lnSpc>
              <a:spcPct val="100000"/>
            </a:lnSpc>
            <a:spcBef>
              <a:spcPct val="0"/>
            </a:spcBef>
            <a:spcAft>
              <a:spcPct val="15000"/>
            </a:spcAft>
            <a:buChar char="•"/>
          </a:pPr>
          <a:r>
            <a:rPr lang="en-US" altLang="zh-CN" sz="2000"/>
            <a:t>62-&gt;67-&gt;70</a:t>
          </a:r>
          <a:endParaRPr lang="zh-CN" altLang="en-US" sz="2000"/>
        </a:p>
        <a:p>
          <a:pPr marL="228600" lvl="1" indent="-228600">
            <a:lnSpc>
              <a:spcPct val="100000"/>
            </a:lnSpc>
            <a:spcBef>
              <a:spcPct val="0"/>
            </a:spcBef>
            <a:spcAft>
              <a:spcPct val="15000"/>
            </a:spcAft>
            <a:buChar char="•"/>
          </a:pPr>
          <a:r>
            <a:rPr lang="zh-CN" altLang="en-US" sz="2000"/>
            <a:t>扣</a:t>
          </a:r>
          <a:r>
            <a:rPr lang="en-US" altLang="zh-CN" sz="2000"/>
            <a:t>30%</a:t>
          </a:r>
          <a:endParaRPr lang="zh-CN" altLang="en-US" sz="2000"/>
        </a:p>
        <a:p>
          <a:pPr marL="228600" lvl="1" indent="-228600">
            <a:lnSpc>
              <a:spcPct val="100000"/>
            </a:lnSpc>
            <a:spcBef>
              <a:spcPct val="0"/>
            </a:spcBef>
            <a:spcAft>
              <a:spcPct val="15000"/>
            </a:spcAft>
            <a:buChar char="•"/>
          </a:pPr>
          <a:r>
            <a:rPr lang="zh-CN" altLang="en-US" sz="2000"/>
            <a:t>全额</a:t>
          </a:r>
          <a:r>
            <a:rPr lang="zh-CN" altLang="en-US" sz="2000"/>
            <a:t>退休</a:t>
          </a:r>
          <a:endParaRPr lang="en-US" altLang="zh-CN" sz="2000"/>
        </a:p>
        <a:p>
          <a:pPr marL="228600" lvl="1" indent="-228600">
            <a:lnSpc>
              <a:spcPct val="100000"/>
            </a:lnSpc>
            <a:spcBef>
              <a:spcPct val="0"/>
            </a:spcBef>
            <a:spcAft>
              <a:spcPct val="15000"/>
            </a:spcAft>
            <a:buChar char="•"/>
          </a:pPr>
          <a:r>
            <a:rPr lang="en-US" altLang="zh-CN" sz="2000"/>
            <a:t>132%</a:t>
          </a:r>
          <a:r>
            <a:rPr lang="zh-CN" altLang="en-US" sz="2000"/>
            <a:t>养老金</a:t>
          </a:r>
          <a:endParaRPr lang="zh-CN" altLang="en-US" sz="2000"/>
        </a:p>
      </dsp:txBody>
      <dsp:txXfrm rot="-5400000">
        <a:off x="-758197" y="758197"/>
        <a:ext cx="3703955" cy="2187562"/>
      </dsp:txXfrm>
    </dsp:sp>
    <dsp:sp modelId="{CB90536C-45AA-4FBE-BCAF-99890DDD97C8}">
      <dsp:nvSpPr>
        <dsp:cNvPr id="4" name="流程图: 手动操作 3"/>
        <dsp:cNvSpPr/>
      </dsp:nvSpPr>
      <dsp:spPr bwMode="white">
        <a:xfrm rot="-5400000">
          <a:off x="1599344" y="696374"/>
          <a:ext cx="3703955" cy="2311207"/>
        </a:xfrm>
        <a:prstGeom prst="flowChartManualOperation">
          <a:avLst/>
        </a:prstGeom>
      </dsp:spPr>
      <dsp:style>
        <a:lnRef idx="0">
          <a:schemeClr val="lt1"/>
        </a:lnRef>
        <a:fillRef idx="3">
          <a:schemeClr val="accent5">
            <a:alpha val="90000"/>
            <a:hueOff val="0"/>
            <a:satOff val="0"/>
            <a:lumOff val="0"/>
            <a:alpha val="50196"/>
          </a:schemeClr>
        </a:fillRef>
        <a:effectRef idx="3">
          <a:scrgbClr r="0" g="0" b="0"/>
        </a:effectRef>
        <a:fontRef idx="minor">
          <a:schemeClr val="lt1"/>
        </a:fontRef>
      </dsp:style>
      <dsp:txBody>
        <a:bodyPr rot="5400000" vert="horz" wrap="square" lIns="158750" tIns="0" rIns="158750" bIns="0" anchor="t"/>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zh-CN" altLang="en-US"/>
            <a:t>中国</a:t>
          </a:r>
          <a:endParaRPr lang="zh-CN" altLang="en-US"/>
        </a:p>
        <a:p>
          <a:pPr lvl="1">
            <a:lnSpc>
              <a:spcPct val="100000"/>
            </a:lnSpc>
            <a:spcBef>
              <a:spcPct val="0"/>
            </a:spcBef>
            <a:spcAft>
              <a:spcPct val="15000"/>
            </a:spcAft>
            <a:buChar char="•"/>
          </a:pPr>
          <a:r>
            <a:rPr lang="zh-CN" altLang="en-US"/>
            <a:t>男</a:t>
          </a:r>
          <a:r>
            <a:rPr lang="en-US" altLang="zh-CN"/>
            <a:t>63 </a:t>
          </a:r>
          <a:endParaRPr lang="en-US" altLang="zh-CN"/>
        </a:p>
        <a:p>
          <a:pPr lvl="1">
            <a:lnSpc>
              <a:spcPct val="100000"/>
            </a:lnSpc>
            <a:spcBef>
              <a:spcPct val="0"/>
            </a:spcBef>
            <a:spcAft>
              <a:spcPct val="15000"/>
            </a:spcAft>
            <a:buChar char="•"/>
          </a:pPr>
          <a:r>
            <a:rPr lang="zh-CN" altLang="en-US"/>
            <a:t>女</a:t>
          </a:r>
          <a:r>
            <a:rPr lang="en-US" altLang="zh-CN"/>
            <a:t>55/58</a:t>
          </a:r>
          <a:endParaRPr lang="zh-CN" altLang="en-US"/>
        </a:p>
        <a:p>
          <a:pPr lvl="1">
            <a:lnSpc>
              <a:spcPct val="100000"/>
            </a:lnSpc>
            <a:spcBef>
              <a:spcPct val="0"/>
            </a:spcBef>
            <a:spcAft>
              <a:spcPct val="15000"/>
            </a:spcAft>
            <a:buChar char="•"/>
          </a:pPr>
          <a:r>
            <a:rPr lang="en-US" altLang="zh-CN"/>
            <a:t>2022</a:t>
          </a:r>
          <a:r>
            <a:rPr lang="zh-CN" altLang="en-US"/>
            <a:t>年</a:t>
          </a:r>
          <a:endParaRPr lang="en-US" altLang="zh-CN"/>
        </a:p>
        <a:p>
          <a:pPr lvl="1">
            <a:lnSpc>
              <a:spcPct val="100000"/>
            </a:lnSpc>
            <a:spcBef>
              <a:spcPct val="0"/>
            </a:spcBef>
            <a:spcAft>
              <a:spcPct val="15000"/>
            </a:spcAft>
            <a:buChar char="•"/>
          </a:pPr>
          <a:r>
            <a:rPr lang="en-US" altLang="zh-CN"/>
            <a:t>2050</a:t>
          </a:r>
          <a:r>
            <a:rPr lang="zh-CN" altLang="en-US"/>
            <a:t>年</a:t>
          </a:r>
          <a:r>
            <a:rPr lang="en-US" altLang="zh-CN"/>
            <a:t>65</a:t>
          </a:r>
          <a:r>
            <a:rPr lang="zh-CN" altLang="en-US"/>
            <a:t>岁</a:t>
          </a:r>
          <a:r>
            <a:rPr lang="zh-CN" altLang="en-US"/>
            <a:t>同龄退休</a:t>
          </a:r>
          <a:endParaRPr lang="zh-CN" altLang="en-US"/>
        </a:p>
      </dsp:txBody>
      <dsp:txXfrm rot="-5400000">
        <a:off x="1599344" y="696374"/>
        <a:ext cx="3703955" cy="2311207"/>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28000" cy="1703070"/>
        <a:chOff x="0" y="0"/>
        <a:chExt cx="8128000" cy="1703070"/>
      </a:xfrm>
    </dsp:grpSpPr>
    <dsp:sp modelId="{1450B55C-E4AF-4C4A-86D5-6F08C883C8A1}">
      <dsp:nvSpPr>
        <dsp:cNvPr id="3" name="五边形 2"/>
        <dsp:cNvSpPr/>
      </dsp:nvSpPr>
      <dsp:spPr bwMode="white">
        <a:xfrm>
          <a:off x="0" y="226304"/>
          <a:ext cx="3126154" cy="1250462"/>
        </a:xfrm>
        <a:prstGeom prst="homePlate">
          <a:avLst/>
        </a:prstGeom>
      </dsp:spPr>
      <dsp:style>
        <a:lnRef idx="3">
          <a:schemeClr val="lt1"/>
        </a:lnRef>
        <a:fillRef idx="1">
          <a:schemeClr val="accent1"/>
        </a:fillRef>
        <a:effectRef idx="1">
          <a:scrgbClr r="0" g="0" b="0"/>
        </a:effectRef>
        <a:fontRef idx="minor">
          <a:schemeClr val="lt1"/>
        </a:fontRef>
      </dsp:style>
      <dsp:txBody>
        <a:bodyPr vert="horz" wrap="square" lIns="176022" tIns="88011" rIns="44005" bIns="88011"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nSpc>
              <a:spcPct val="100000"/>
            </a:lnSpc>
            <a:spcBef>
              <a:spcPct val="0"/>
            </a:spcBef>
            <a:spcAft>
              <a:spcPct val="35000"/>
            </a:spcAft>
          </a:pPr>
          <a:r>
            <a:rPr lang="zh-CN" altLang="en-US"/>
            <a:t>代</a:t>
          </a:r>
          <a:r>
            <a:rPr lang="zh-CN" altLang="en-US"/>
            <a:t>际</a:t>
          </a:r>
          <a:r>
            <a:rPr lang="zh-CN" altLang="en-US"/>
            <a:t>公平</a:t>
          </a:r>
          <a:endParaRPr lang="zh-CN" altLang="en-US"/>
        </a:p>
      </dsp:txBody>
      <dsp:txXfrm>
        <a:off x="0" y="226304"/>
        <a:ext cx="3126154" cy="1250462"/>
      </dsp:txXfrm>
    </dsp:sp>
    <dsp:sp modelId="{97ED5984-E182-4084-893A-3007DB7F6057}">
      <dsp:nvSpPr>
        <dsp:cNvPr id="4" name="燕尾形 3"/>
        <dsp:cNvSpPr/>
      </dsp:nvSpPr>
      <dsp:spPr bwMode="white">
        <a:xfrm>
          <a:off x="2500923" y="226304"/>
          <a:ext cx="3126154" cy="1250462"/>
        </a:xfrm>
        <a:prstGeom prst="chevron">
          <a:avLst/>
        </a:prstGeom>
      </dsp:spPr>
      <dsp:style>
        <a:lnRef idx="3">
          <a:schemeClr val="lt1"/>
        </a:lnRef>
        <a:fillRef idx="1">
          <a:schemeClr val="accent1"/>
        </a:fillRef>
        <a:effectRef idx="1">
          <a:scrgbClr r="0" g="0" b="0"/>
        </a:effectRef>
        <a:fontRef idx="minor">
          <a:schemeClr val="lt1"/>
        </a:fontRef>
      </dsp:style>
      <dsp:txBody>
        <a:bodyPr vert="horz" wrap="square" lIns="132016" tIns="88011" rIns="44005" bIns="88011"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nSpc>
              <a:spcPct val="100000"/>
            </a:lnSpc>
            <a:spcBef>
              <a:spcPct val="0"/>
            </a:spcBef>
            <a:spcAft>
              <a:spcPct val="35000"/>
            </a:spcAft>
          </a:pPr>
          <a:r>
            <a:rPr lang="zh-CN" altLang="en-US"/>
            <a:t>性别</a:t>
          </a:r>
          <a:r>
            <a:rPr lang="zh-CN" altLang="en-US"/>
            <a:t>差异</a:t>
          </a:r>
          <a:endParaRPr lang="zh-CN" altLang="en-US"/>
        </a:p>
      </dsp:txBody>
      <dsp:txXfrm>
        <a:off x="2500923" y="226304"/>
        <a:ext cx="3126154" cy="1250462"/>
      </dsp:txXfrm>
    </dsp:sp>
    <dsp:sp modelId="{BA1BBACD-C964-4429-B8AC-A0F655E890BE}">
      <dsp:nvSpPr>
        <dsp:cNvPr id="5" name="燕尾形 4"/>
        <dsp:cNvSpPr/>
      </dsp:nvSpPr>
      <dsp:spPr bwMode="white">
        <a:xfrm>
          <a:off x="5001846" y="226304"/>
          <a:ext cx="3126154" cy="1250462"/>
        </a:xfrm>
        <a:prstGeom prst="chevron">
          <a:avLst/>
        </a:prstGeom>
      </dsp:spPr>
      <dsp:style>
        <a:lnRef idx="3">
          <a:schemeClr val="lt1"/>
        </a:lnRef>
        <a:fillRef idx="1">
          <a:schemeClr val="accent1"/>
        </a:fillRef>
        <a:effectRef idx="1">
          <a:scrgbClr r="0" g="0" b="0"/>
        </a:effectRef>
        <a:fontRef idx="minor">
          <a:schemeClr val="lt1"/>
        </a:fontRef>
      </dsp:style>
      <dsp:txBody>
        <a:bodyPr vert="horz" wrap="square" lIns="132016" tIns="88011" rIns="44005" bIns="88011"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nSpc>
              <a:spcPct val="100000"/>
            </a:lnSpc>
            <a:spcBef>
              <a:spcPct val="0"/>
            </a:spcBef>
            <a:spcAft>
              <a:spcPct val="35000"/>
            </a:spcAft>
          </a:pPr>
          <a:r>
            <a:rPr lang="zh-CN" altLang="en-US"/>
            <a:t>技术</a:t>
          </a:r>
          <a:r>
            <a:rPr lang="zh-CN" altLang="en-US"/>
            <a:t>代替</a:t>
          </a:r>
          <a:endParaRPr lang="zh-CN" altLang="en-US"/>
        </a:p>
      </dsp:txBody>
      <dsp:txXfrm>
        <a:off x="5001846" y="226304"/>
        <a:ext cx="3126154" cy="1250462"/>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28000" cy="5418455"/>
        <a:chOff x="0" y="0"/>
        <a:chExt cx="8128000" cy="5418455"/>
      </a:xfrm>
    </dsp:grpSpPr>
    <dsp:sp modelId="{A16E3110-57E1-4619-A55C-DCD0DD5CE084}">
      <dsp:nvSpPr>
        <dsp:cNvPr id="3" name="燕尾形 2"/>
        <dsp:cNvSpPr/>
      </dsp:nvSpPr>
      <dsp:spPr bwMode="white">
        <a:xfrm rot="5400000">
          <a:off x="-290039" y="290039"/>
          <a:ext cx="1933591" cy="1353514"/>
        </a:xfrm>
        <a:prstGeom prst="chevron">
          <a:avLst/>
        </a:prstGeom>
      </dsp:spPr>
      <dsp:style>
        <a:lnRef idx="1">
          <a:schemeClr val="accent1"/>
        </a:lnRef>
        <a:fillRef idx="3">
          <a:schemeClr val="accent1"/>
        </a:fillRef>
        <a:effectRef idx="3">
          <a:scrgbClr r="0" g="0" b="0"/>
        </a:effectRef>
        <a:fontRef idx="minor">
          <a:schemeClr val="lt1"/>
        </a:fontRef>
      </dsp:style>
      <dsp:txBody>
        <a:bodyPr rot="-5400000" vert="horz" wrap="square" lIns="16510" tIns="16510" rIns="16510" bIns="1651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US" altLang="zh-CN"/>
            <a:t>LDA</a:t>
          </a:r>
          <a:endParaRPr lang="en-US" altLang="zh-CN"/>
        </a:p>
      </dsp:txBody>
      <dsp:txXfrm rot="5400000">
        <a:off x="-290039" y="290039"/>
        <a:ext cx="1933591" cy="1353514"/>
      </dsp:txXfrm>
    </dsp:sp>
    <dsp:sp modelId="{544D3F38-216B-445A-B1B9-8008AEDB7A9D}">
      <dsp:nvSpPr>
        <dsp:cNvPr id="4" name="同侧圆角矩形 3"/>
        <dsp:cNvSpPr/>
      </dsp:nvSpPr>
      <dsp:spPr bwMode="white">
        <a:xfrm rot="5400000">
          <a:off x="4112340" y="-2758826"/>
          <a:ext cx="1256834" cy="6774486"/>
        </a:xfrm>
        <a:prstGeom prst="round2SameRect">
          <a:avLst/>
        </a:prstGeom>
      </dsp:spPr>
      <dsp:style>
        <a:lnRef idx="1">
          <a:schemeClr val="accent1"/>
        </a:lnRef>
        <a:fillRef idx="1">
          <a:schemeClr val="lt1">
            <a:alpha val="90000"/>
          </a:schemeClr>
        </a:fillRef>
        <a:effectRef idx="2">
          <a:scrgbClr r="0" g="0" b="0"/>
        </a:effectRef>
        <a:fontRef idx="minor"/>
      </dsp:style>
      <dsp:txBody>
        <a:bodyPr rot="-5400000" vert="horz" wrap="square" lIns="156464" tIns="13970" rIns="13970" bIns="13970" anchor="ctr"/>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nSpc>
              <a:spcPct val="100000"/>
            </a:lnSpc>
            <a:spcBef>
              <a:spcPct val="0"/>
            </a:spcBef>
            <a:spcAft>
              <a:spcPct val="15000"/>
            </a:spcAft>
            <a:buChar char="•"/>
          </a:pPr>
          <a:r>
            <a:rPr lang="en-US" altLang="zh-CN">
              <a:solidFill>
                <a:schemeClr val="dk1"/>
              </a:solidFill>
            </a:rPr>
            <a:t>LDA</a:t>
          </a:r>
          <a:r>
            <a:rPr lang="zh-CN" altLang="en-US">
              <a:solidFill>
                <a:schemeClr val="dk1"/>
              </a:solidFill>
            </a:rPr>
            <a:t>主题模型对收集的文本数据进行主题识别</a:t>
          </a:r>
          <a:endParaRPr lang="zh-CN" altLang="en-US">
            <a:solidFill>
              <a:schemeClr val="dk1"/>
            </a:solidFill>
          </a:endParaRPr>
        </a:p>
        <a:p>
          <a:pPr lvl="1">
            <a:lnSpc>
              <a:spcPct val="100000"/>
            </a:lnSpc>
            <a:spcBef>
              <a:spcPct val="0"/>
            </a:spcBef>
            <a:spcAft>
              <a:spcPct val="15000"/>
            </a:spcAft>
            <a:buChar char="•"/>
          </a:pPr>
          <a:r>
            <a:rPr lang="zh-CN" altLang="en-US">
              <a:solidFill>
                <a:schemeClr val="dk1"/>
              </a:solidFill>
            </a:rPr>
            <a:t>提取出影响老年群体再就业的</a:t>
          </a:r>
          <a:r>
            <a:rPr lang="en-US" altLang="zh-CN">
              <a:solidFill>
                <a:schemeClr val="dk1"/>
              </a:solidFill>
            </a:rPr>
            <a:t>10</a:t>
          </a:r>
          <a:r>
            <a:rPr lang="zh-CN" altLang="en-US">
              <a:solidFill>
                <a:schemeClr val="dk1"/>
              </a:solidFill>
            </a:rPr>
            <a:t>大</a:t>
          </a:r>
          <a:r>
            <a:rPr lang="zh-CN" altLang="en-US">
              <a:solidFill>
                <a:schemeClr val="dk1"/>
              </a:solidFill>
            </a:rPr>
            <a:t>关键因素</a:t>
          </a:r>
          <a:endParaRPr lang="zh-CN" altLang="en-US">
            <a:solidFill>
              <a:schemeClr val="dk1"/>
            </a:solidFill>
          </a:endParaRPr>
        </a:p>
      </dsp:txBody>
      <dsp:txXfrm rot="5400000">
        <a:off x="4112340" y="-2758826"/>
        <a:ext cx="1256834" cy="6774486"/>
      </dsp:txXfrm>
    </dsp:sp>
    <dsp:sp modelId="{722E1094-83C7-45E2-B20F-DB9D09AD94F0}">
      <dsp:nvSpPr>
        <dsp:cNvPr id="5" name="燕尾形 4"/>
        <dsp:cNvSpPr/>
      </dsp:nvSpPr>
      <dsp:spPr bwMode="white">
        <a:xfrm rot="5400000">
          <a:off x="-290039" y="2032471"/>
          <a:ext cx="1933591" cy="1353514"/>
        </a:xfrm>
        <a:prstGeom prst="chevron">
          <a:avLst/>
        </a:prstGeom>
      </dsp:spPr>
      <dsp:style>
        <a:lnRef idx="1">
          <a:schemeClr val="accent1"/>
        </a:lnRef>
        <a:fillRef idx="3">
          <a:schemeClr val="accent1"/>
        </a:fillRef>
        <a:effectRef idx="3">
          <a:scrgbClr r="0" g="0" b="0"/>
        </a:effectRef>
        <a:fontRef idx="minor">
          <a:schemeClr val="lt1"/>
        </a:fontRef>
      </dsp:style>
      <dsp:txBody>
        <a:bodyPr rot="-5400000" vert="horz" wrap="square" lIns="16510" tIns="16510" rIns="16510" bIns="1651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US" altLang="zh-CN"/>
            <a:t>DEMATEL</a:t>
          </a:r>
          <a:endParaRPr lang="en-US" altLang="zh-CN"/>
        </a:p>
      </dsp:txBody>
      <dsp:txXfrm rot="5400000">
        <a:off x="-290039" y="2032471"/>
        <a:ext cx="1933591" cy="1353514"/>
      </dsp:txXfrm>
    </dsp:sp>
    <dsp:sp modelId="{AC67BBE6-9B82-4D3D-BF22-48713AF46E9C}">
      <dsp:nvSpPr>
        <dsp:cNvPr id="6" name="同侧圆角矩形 5"/>
        <dsp:cNvSpPr/>
      </dsp:nvSpPr>
      <dsp:spPr bwMode="white">
        <a:xfrm rot="5400000">
          <a:off x="4112340" y="-1016394"/>
          <a:ext cx="1256834" cy="6774486"/>
        </a:xfrm>
        <a:prstGeom prst="round2SameRect">
          <a:avLst/>
        </a:prstGeom>
      </dsp:spPr>
      <dsp:style>
        <a:lnRef idx="1">
          <a:schemeClr val="accent1"/>
        </a:lnRef>
        <a:fillRef idx="1">
          <a:schemeClr val="lt1">
            <a:alpha val="90000"/>
          </a:schemeClr>
        </a:fillRef>
        <a:effectRef idx="2">
          <a:scrgbClr r="0" g="0" b="0"/>
        </a:effectRef>
        <a:fontRef idx="minor"/>
      </dsp:style>
      <dsp:txBody>
        <a:bodyPr rot="-5400000" vert="horz" wrap="square" lIns="156464" tIns="13970" rIns="13970" bIns="13970" anchor="ctr"/>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nSpc>
              <a:spcPct val="100000"/>
            </a:lnSpc>
            <a:spcBef>
              <a:spcPct val="0"/>
            </a:spcBef>
            <a:spcAft>
              <a:spcPct val="15000"/>
            </a:spcAft>
            <a:buChar char="•"/>
          </a:pPr>
          <a:r>
            <a:rPr lang="zh-CN" altLang="en-US">
              <a:solidFill>
                <a:schemeClr val="dk1"/>
              </a:solidFill>
            </a:rPr>
            <a:t>根据</a:t>
          </a:r>
          <a:r>
            <a:rPr lang="en-US" altLang="zh-CN">
              <a:solidFill>
                <a:schemeClr val="dk1"/>
              </a:solidFill>
            </a:rPr>
            <a:t>LDA</a:t>
          </a:r>
          <a:r>
            <a:rPr lang="zh-CN" altLang="en-US">
              <a:solidFill>
                <a:schemeClr val="dk1"/>
              </a:solidFill>
            </a:rPr>
            <a:t>识别结果构建因素之间的影响网络</a:t>
          </a:r>
          <a:endParaRPr lang="zh-CN" altLang="en-US">
            <a:solidFill>
              <a:schemeClr val="dk1"/>
            </a:solidFill>
          </a:endParaRPr>
        </a:p>
        <a:p>
          <a:pPr lvl="1">
            <a:lnSpc>
              <a:spcPct val="100000"/>
            </a:lnSpc>
            <a:spcBef>
              <a:spcPct val="0"/>
            </a:spcBef>
            <a:spcAft>
              <a:spcPct val="15000"/>
            </a:spcAft>
            <a:buChar char="•"/>
          </a:pPr>
          <a:r>
            <a:rPr lang="zh-CN" altLang="en-US">
              <a:solidFill>
                <a:schemeClr val="dk1"/>
              </a:solidFill>
            </a:rPr>
            <a:t>计算原因度中心度</a:t>
          </a:r>
          <a:r>
            <a:rPr lang="zh-CN" altLang="en-US">
              <a:solidFill>
                <a:schemeClr val="dk1"/>
              </a:solidFill>
            </a:rPr>
            <a:t>，</a:t>
          </a:r>
          <a:r>
            <a:rPr lang="zh-CN" altLang="en-US">
              <a:solidFill>
                <a:schemeClr val="dk1"/>
              </a:solidFill>
            </a:rPr>
            <a:t>分析其相互作用关系和重要度</a:t>
          </a:r>
          <a:endParaRPr lang="zh-CN" altLang="en-US">
            <a:solidFill>
              <a:schemeClr val="dk1"/>
            </a:solidFill>
          </a:endParaRPr>
        </a:p>
      </dsp:txBody>
      <dsp:txXfrm rot="5400000">
        <a:off x="4112340" y="-1016394"/>
        <a:ext cx="1256834" cy="6774486"/>
      </dsp:txXfrm>
    </dsp:sp>
    <dsp:sp modelId="{95C8A2DE-C1F8-4D5A-A3A4-1DC2FA1C0073}">
      <dsp:nvSpPr>
        <dsp:cNvPr id="7" name="燕尾形 6"/>
        <dsp:cNvSpPr/>
      </dsp:nvSpPr>
      <dsp:spPr bwMode="white">
        <a:xfrm rot="5400000">
          <a:off x="-290039" y="3774903"/>
          <a:ext cx="1933591" cy="1353514"/>
        </a:xfrm>
        <a:prstGeom prst="chevron">
          <a:avLst/>
        </a:prstGeom>
      </dsp:spPr>
      <dsp:style>
        <a:lnRef idx="1">
          <a:schemeClr val="accent1"/>
        </a:lnRef>
        <a:fillRef idx="3">
          <a:schemeClr val="accent1"/>
        </a:fillRef>
        <a:effectRef idx="3">
          <a:scrgbClr r="0" g="0" b="0"/>
        </a:effectRef>
        <a:fontRef idx="minor">
          <a:schemeClr val="lt1"/>
        </a:fontRef>
      </dsp:style>
      <dsp:txBody>
        <a:bodyPr rot="-5400000" vert="horz" wrap="square" lIns="16510" tIns="16510" rIns="16510" bIns="1651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US" altLang="zh-CN"/>
            <a:t>ISM</a:t>
          </a:r>
          <a:endParaRPr lang="en-US" altLang="zh-CN"/>
        </a:p>
      </dsp:txBody>
      <dsp:txXfrm rot="5400000">
        <a:off x="-290039" y="3774903"/>
        <a:ext cx="1933591" cy="1353514"/>
      </dsp:txXfrm>
    </dsp:sp>
    <dsp:sp modelId="{BE17FEF5-EEE1-41BB-96FD-8FBB3FCF3860}">
      <dsp:nvSpPr>
        <dsp:cNvPr id="8" name="同侧圆角矩形 7"/>
        <dsp:cNvSpPr/>
      </dsp:nvSpPr>
      <dsp:spPr bwMode="white">
        <a:xfrm rot="5400000">
          <a:off x="4112340" y="726038"/>
          <a:ext cx="1256834" cy="6774486"/>
        </a:xfrm>
        <a:prstGeom prst="round2SameRect">
          <a:avLst/>
        </a:prstGeom>
      </dsp:spPr>
      <dsp:style>
        <a:lnRef idx="1">
          <a:schemeClr val="accent1"/>
        </a:lnRef>
        <a:fillRef idx="1">
          <a:schemeClr val="lt1">
            <a:alpha val="90000"/>
          </a:schemeClr>
        </a:fillRef>
        <a:effectRef idx="2">
          <a:scrgbClr r="0" g="0" b="0"/>
        </a:effectRef>
        <a:fontRef idx="minor"/>
      </dsp:style>
      <dsp:txBody>
        <a:bodyPr rot="-5400000" vert="horz" wrap="square" lIns="156464" tIns="13970" rIns="13970" bIns="13970" anchor="ctr"/>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nSpc>
              <a:spcPct val="100000"/>
            </a:lnSpc>
            <a:spcBef>
              <a:spcPct val="0"/>
            </a:spcBef>
            <a:spcAft>
              <a:spcPct val="15000"/>
            </a:spcAft>
            <a:buChar char="•"/>
          </a:pPr>
          <a:r>
            <a:rPr lang="zh-CN" altLang="en-US">
              <a:solidFill>
                <a:schemeClr val="dk1"/>
              </a:solidFill>
            </a:rPr>
            <a:t>对各影响因素进行层级划分</a:t>
          </a:r>
          <a:endParaRPr lang="zh-CN" altLang="en-US">
            <a:solidFill>
              <a:schemeClr val="dk1"/>
            </a:solidFill>
          </a:endParaRPr>
        </a:p>
        <a:p>
          <a:pPr lvl="1">
            <a:lnSpc>
              <a:spcPct val="100000"/>
            </a:lnSpc>
            <a:spcBef>
              <a:spcPct val="0"/>
            </a:spcBef>
            <a:spcAft>
              <a:spcPct val="15000"/>
            </a:spcAft>
            <a:buChar char="•"/>
          </a:pPr>
          <a:r>
            <a:rPr lang="zh-CN" altLang="en-US">
              <a:solidFill>
                <a:schemeClr val="dk1"/>
              </a:solidFill>
              <a:sym typeface="+mn-ea"/>
            </a:rPr>
            <a:t>构建出老年劳动力再就业影响机制的层次模型</a:t>
          </a:r>
          <a:endParaRPr lang="zh-CN" altLang="en-US">
            <a:solidFill>
              <a:schemeClr val="dk1"/>
            </a:solidFill>
          </a:endParaRPr>
        </a:p>
      </dsp:txBody>
      <dsp:txXfrm rot="5400000">
        <a:off x="4112340" y="726038"/>
        <a:ext cx="1256834" cy="6774486"/>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823460" cy="3714115"/>
        <a:chOff x="0" y="0"/>
        <a:chExt cx="4823460" cy="3714115"/>
      </a:xfrm>
    </dsp:grpSpPr>
    <dsp:sp modelId="{C1069558-9A0D-4777-9B5C-1F8CC5A904D0}">
      <dsp:nvSpPr>
        <dsp:cNvPr id="3" name="直角上箭头 2"/>
        <dsp:cNvSpPr/>
      </dsp:nvSpPr>
      <dsp:spPr bwMode="white">
        <a:xfrm rot="5400000">
          <a:off x="625346" y="1059542"/>
          <a:ext cx="899146" cy="1023646"/>
        </a:xfrm>
        <a:prstGeom prst="bentUpArrow">
          <a:avLst>
            <a:gd name="adj1" fmla="val 32840"/>
            <a:gd name="adj2" fmla="val 25000"/>
            <a:gd name="adj3" fmla="val 35780"/>
          </a:avLst>
        </a:prstGeom>
      </dsp:spPr>
      <dsp:style>
        <a:lnRef idx="2">
          <a:schemeClr val="lt1"/>
        </a:lnRef>
        <a:fillRef idx="1">
          <a:schemeClr val="accent1">
            <a:tint val="50000"/>
          </a:schemeClr>
        </a:fillRef>
        <a:effectRef idx="0">
          <a:scrgbClr r="0" g="0" b="0"/>
        </a:effectRef>
        <a:fontRef idx="minor"/>
      </dsp:style>
      <dsp:txXfrm rot="5400000">
        <a:off x="625346" y="1059542"/>
        <a:ext cx="899146" cy="1023646"/>
      </dsp:txXfrm>
    </dsp:sp>
    <dsp:sp modelId="{B6B3DBAD-9628-4182-98C9-C3F56A96B563}">
      <dsp:nvSpPr>
        <dsp:cNvPr id="4" name="圆角矩形 3"/>
        <dsp:cNvSpPr/>
      </dsp:nvSpPr>
      <dsp:spPr bwMode="white">
        <a:xfrm>
          <a:off x="376688" y="0"/>
          <a:ext cx="1513632" cy="1059494"/>
        </a:xfrm>
        <a:prstGeom prst="roundRect">
          <a:avLst>
            <a:gd name="adj" fmla="val 16670"/>
          </a:avLst>
        </a:prstGeom>
      </dsp:spPr>
      <dsp:style>
        <a:lnRef idx="2">
          <a:schemeClr val="lt1"/>
        </a:lnRef>
        <a:fillRef idx="1">
          <a:schemeClr val="accent1"/>
        </a:fillRef>
        <a:effectRef idx="0">
          <a:scrgbClr r="0" g="0" b="0"/>
        </a:effectRef>
        <a:fontRef idx="minor">
          <a:schemeClr val="lt1"/>
        </a:fontRef>
      </dsp:style>
      <dsp:txBody>
        <a:bodyPr vert="horz" wrap="square" lIns="91439" tIns="91439" rIns="91439" bIns="91439"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a:t>表层核心</a:t>
          </a:r>
          <a:endParaRPr lang="zh-CN" altLang="en-US"/>
        </a:p>
      </dsp:txBody>
      <dsp:txXfrm>
        <a:off x="376688" y="0"/>
        <a:ext cx="1513632" cy="1059494"/>
      </dsp:txXfrm>
    </dsp:sp>
    <dsp:sp modelId="{CF563743-F0CD-43FF-8ED9-181590D5AEC7}">
      <dsp:nvSpPr>
        <dsp:cNvPr id="5" name="矩形 4"/>
        <dsp:cNvSpPr/>
      </dsp:nvSpPr>
      <dsp:spPr bwMode="white">
        <a:xfrm>
          <a:off x="1890320" y="107041"/>
          <a:ext cx="1100872" cy="85632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0970" tIns="140970" rIns="140970" bIns="140970" anchor="ctr"/>
        <a:lstStyle>
          <a:lvl1pPr algn="l">
            <a:defRPr sz="3700"/>
          </a:lvl1pPr>
          <a:lvl2pPr marL="285750" indent="-285750" algn="l">
            <a:defRPr sz="2900"/>
          </a:lvl2pPr>
          <a:lvl3pPr marL="571500" indent="-285750" algn="l">
            <a:defRPr sz="2900"/>
          </a:lvl3pPr>
          <a:lvl4pPr marL="857250" indent="-285750" algn="l">
            <a:defRPr sz="2900"/>
          </a:lvl4pPr>
          <a:lvl5pPr marL="1143000" indent="-285750" algn="l">
            <a:defRPr sz="2900"/>
          </a:lvl5pPr>
          <a:lvl6pPr marL="1428750" indent="-285750" algn="l">
            <a:defRPr sz="2900"/>
          </a:lvl6pPr>
          <a:lvl7pPr marL="1714500" indent="-285750" algn="l">
            <a:defRPr sz="2900"/>
          </a:lvl7pPr>
          <a:lvl8pPr marL="2000250" indent="-285750" algn="l">
            <a:defRPr sz="2900"/>
          </a:lvl8pPr>
          <a:lvl9pPr marL="2286000" indent="-285750" algn="l">
            <a:defRPr sz="2900"/>
          </a:lvl9pPr>
        </a:lstStyle>
        <a:p>
          <a:endParaRPr>
            <a:solidFill>
              <a:schemeClr val="tx1"/>
            </a:solidFill>
          </a:endParaRPr>
        </a:p>
      </dsp:txBody>
      <dsp:txXfrm>
        <a:off x="1890320" y="107041"/>
        <a:ext cx="1100872" cy="856329"/>
      </dsp:txXfrm>
    </dsp:sp>
    <dsp:sp modelId="{A3E57910-EB90-4850-9A4E-8662A513D003}">
      <dsp:nvSpPr>
        <dsp:cNvPr id="6" name="直角上箭头 5"/>
        <dsp:cNvSpPr/>
      </dsp:nvSpPr>
      <dsp:spPr bwMode="white">
        <a:xfrm rot="5400000">
          <a:off x="1903572" y="2386852"/>
          <a:ext cx="899146" cy="1023646"/>
        </a:xfrm>
        <a:prstGeom prst="bentUpArrow">
          <a:avLst>
            <a:gd name="adj1" fmla="val 32840"/>
            <a:gd name="adj2" fmla="val 25000"/>
            <a:gd name="adj3" fmla="val 35780"/>
          </a:avLst>
        </a:prstGeom>
      </dsp:spPr>
      <dsp:style>
        <a:lnRef idx="2">
          <a:schemeClr val="lt1"/>
        </a:lnRef>
        <a:fillRef idx="1">
          <a:schemeClr val="accent1">
            <a:tint val="50000"/>
          </a:schemeClr>
        </a:fillRef>
        <a:effectRef idx="0">
          <a:scrgbClr r="0" g="0" b="0"/>
        </a:effectRef>
        <a:fontRef idx="minor"/>
      </dsp:style>
      <dsp:txXfrm rot="5400000">
        <a:off x="1903572" y="2386852"/>
        <a:ext cx="899146" cy="1023646"/>
      </dsp:txXfrm>
    </dsp:sp>
    <dsp:sp modelId="{FAF4FC6F-67B2-4C23-BD82-FF5779C49F32}">
      <dsp:nvSpPr>
        <dsp:cNvPr id="7" name="圆角矩形 6"/>
        <dsp:cNvSpPr/>
      </dsp:nvSpPr>
      <dsp:spPr bwMode="white">
        <a:xfrm>
          <a:off x="1654914" y="1327311"/>
          <a:ext cx="1513632" cy="1059494"/>
        </a:xfrm>
        <a:prstGeom prst="roundRect">
          <a:avLst>
            <a:gd name="adj" fmla="val 16670"/>
          </a:avLst>
        </a:prstGeom>
      </dsp:spPr>
      <dsp:style>
        <a:lnRef idx="2">
          <a:schemeClr val="lt1"/>
        </a:lnRef>
        <a:fillRef idx="1">
          <a:schemeClr val="accent1"/>
        </a:fillRef>
        <a:effectRef idx="0">
          <a:scrgbClr r="0" g="0" b="0"/>
        </a:effectRef>
        <a:fontRef idx="minor">
          <a:schemeClr val="lt1"/>
        </a:fontRef>
      </dsp:style>
      <dsp:txBody>
        <a:bodyPr vert="horz" wrap="square" lIns="91439" tIns="91439" rIns="91439" bIns="91439"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a:t>浅层驱动</a:t>
          </a:r>
          <a:endParaRPr lang="zh-CN" altLang="en-US"/>
        </a:p>
      </dsp:txBody>
      <dsp:txXfrm>
        <a:off x="1654914" y="1327311"/>
        <a:ext cx="1513632" cy="1059494"/>
      </dsp:txXfrm>
    </dsp:sp>
    <dsp:sp modelId="{8F521252-50A6-4EA9-AC51-762FFBA643C9}">
      <dsp:nvSpPr>
        <dsp:cNvPr id="8" name="矩形 7"/>
        <dsp:cNvSpPr/>
      </dsp:nvSpPr>
      <dsp:spPr bwMode="white">
        <a:xfrm>
          <a:off x="3168546" y="1434352"/>
          <a:ext cx="1100872" cy="85632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0970" tIns="140970" rIns="140970" bIns="140970" anchor="ctr"/>
        <a:lstStyle>
          <a:lvl1pPr algn="l">
            <a:defRPr sz="3700"/>
          </a:lvl1pPr>
          <a:lvl2pPr marL="285750" indent="-285750" algn="l">
            <a:defRPr sz="2900"/>
          </a:lvl2pPr>
          <a:lvl3pPr marL="571500" indent="-285750" algn="l">
            <a:defRPr sz="2900"/>
          </a:lvl3pPr>
          <a:lvl4pPr marL="857250" indent="-285750" algn="l">
            <a:defRPr sz="2900"/>
          </a:lvl4pPr>
          <a:lvl5pPr marL="1143000" indent="-285750" algn="l">
            <a:defRPr sz="2900"/>
          </a:lvl5pPr>
          <a:lvl6pPr marL="1428750" indent="-285750" algn="l">
            <a:defRPr sz="2900"/>
          </a:lvl6pPr>
          <a:lvl7pPr marL="1714500" indent="-285750" algn="l">
            <a:defRPr sz="2900"/>
          </a:lvl7pPr>
          <a:lvl8pPr marL="2000250" indent="-285750" algn="l">
            <a:defRPr sz="2900"/>
          </a:lvl8pPr>
          <a:lvl9pPr marL="2286000" indent="-285750" algn="l">
            <a:defRPr sz="2900"/>
          </a:lvl9pPr>
        </a:lstStyle>
        <a:p>
          <a:endParaRPr>
            <a:solidFill>
              <a:schemeClr val="tx1"/>
            </a:solidFill>
          </a:endParaRPr>
        </a:p>
      </dsp:txBody>
      <dsp:txXfrm>
        <a:off x="3168546" y="1434352"/>
        <a:ext cx="1100872" cy="856329"/>
      </dsp:txXfrm>
    </dsp:sp>
    <dsp:sp modelId="{54F8B79A-809C-4F22-B417-84B1257C574F}">
      <dsp:nvSpPr>
        <dsp:cNvPr id="9" name="圆角矩形 8"/>
        <dsp:cNvSpPr/>
      </dsp:nvSpPr>
      <dsp:spPr bwMode="white">
        <a:xfrm>
          <a:off x="2933140" y="2654621"/>
          <a:ext cx="1513632" cy="1059494"/>
        </a:xfrm>
        <a:prstGeom prst="roundRect">
          <a:avLst>
            <a:gd name="adj" fmla="val 16670"/>
          </a:avLst>
        </a:prstGeom>
      </dsp:spPr>
      <dsp:style>
        <a:lnRef idx="2">
          <a:schemeClr val="lt1"/>
        </a:lnRef>
        <a:fillRef idx="1">
          <a:schemeClr val="accent1"/>
        </a:fillRef>
        <a:effectRef idx="0">
          <a:scrgbClr r="0" g="0" b="0"/>
        </a:effectRef>
        <a:fontRef idx="minor">
          <a:schemeClr val="lt1"/>
        </a:fontRef>
      </dsp:style>
      <dsp:txBody>
        <a:bodyPr lIns="91439" tIns="91439" rIns="91439" bIns="91439"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endParaRPr lang="zh-CN" altLang="en-US"/>
        </a:p>
      </dsp:txBody>
      <dsp:txXfrm>
        <a:off x="2933140" y="2654621"/>
        <a:ext cx="1513632" cy="1059494"/>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3319145" cy="2482850"/>
        <a:chOff x="0" y="0"/>
        <a:chExt cx="3319145" cy="2482850"/>
      </a:xfrm>
    </dsp:grpSpPr>
    <dsp:sp modelId="{A3E57910-EB90-4850-9A4E-8662A513D003}">
      <dsp:nvSpPr>
        <dsp:cNvPr id="3" name="直角上箭头 2"/>
        <dsp:cNvSpPr/>
      </dsp:nvSpPr>
      <dsp:spPr bwMode="white">
        <a:xfrm rot="5400000">
          <a:off x="466135" y="1102178"/>
          <a:ext cx="935328" cy="1064838"/>
        </a:xfrm>
        <a:prstGeom prst="bentUpArrow">
          <a:avLst>
            <a:gd name="adj1" fmla="val 32840"/>
            <a:gd name="adj2" fmla="val 25000"/>
            <a:gd name="adj3" fmla="val 35780"/>
          </a:avLst>
        </a:prstGeom>
      </dsp:spPr>
      <dsp:style>
        <a:lnRef idx="2">
          <a:schemeClr val="lt1"/>
        </a:lnRef>
        <a:fillRef idx="1">
          <a:schemeClr val="accent1">
            <a:tint val="50000"/>
          </a:schemeClr>
        </a:fillRef>
        <a:effectRef idx="0">
          <a:scrgbClr r="0" g="0" b="0"/>
        </a:effectRef>
        <a:fontRef idx="minor"/>
      </dsp:style>
      <dsp:txXfrm rot="5400000">
        <a:off x="466135" y="1102178"/>
        <a:ext cx="935328" cy="1064838"/>
      </dsp:txXfrm>
    </dsp:sp>
    <dsp:sp modelId="{FAF4FC6F-67B2-4C23-BD82-FF5779C49F32}">
      <dsp:nvSpPr>
        <dsp:cNvPr id="4" name="圆角矩形 3"/>
        <dsp:cNvSpPr/>
      </dsp:nvSpPr>
      <dsp:spPr bwMode="white">
        <a:xfrm>
          <a:off x="207471" y="0"/>
          <a:ext cx="1574541" cy="1102128"/>
        </a:xfrm>
        <a:prstGeom prst="roundRect">
          <a:avLst>
            <a:gd name="adj" fmla="val 16670"/>
          </a:avLst>
        </a:prstGeom>
      </dsp:spPr>
      <dsp:style>
        <a:lnRef idx="2">
          <a:schemeClr val="lt1"/>
        </a:lnRef>
        <a:fillRef idx="1">
          <a:schemeClr val="accent1"/>
        </a:fillRef>
        <a:effectRef idx="0">
          <a:scrgbClr r="0" g="0" b="0"/>
        </a:effectRef>
        <a:fontRef idx="minor">
          <a:schemeClr val="lt1"/>
        </a:fontRef>
      </dsp:style>
      <dsp:txBody>
        <a:bodyPr vert="horz" wrap="square"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a:t>中层</a:t>
          </a:r>
          <a:r>
            <a:rPr lang="zh-CN" altLang="en-US"/>
            <a:t>传导</a:t>
          </a:r>
          <a:endParaRPr lang="zh-CN" altLang="en-US"/>
        </a:p>
      </dsp:txBody>
      <dsp:txXfrm>
        <a:off x="207471" y="0"/>
        <a:ext cx="1574541" cy="1102128"/>
      </dsp:txXfrm>
    </dsp:sp>
    <dsp:sp modelId="{8F521252-50A6-4EA9-AC51-762FFBA643C9}">
      <dsp:nvSpPr>
        <dsp:cNvPr id="5" name="矩形 4"/>
        <dsp:cNvSpPr/>
      </dsp:nvSpPr>
      <dsp:spPr bwMode="white">
        <a:xfrm>
          <a:off x="1782012" y="111349"/>
          <a:ext cx="1145171" cy="890788"/>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4780" tIns="144780" rIns="144780" bIns="144780" anchor="ctr"/>
        <a:lstStyle>
          <a:lvl1pPr algn="l">
            <a:defRPr sz="3800"/>
          </a:lvl1pPr>
          <a:lvl2pPr marL="285750" indent="-285750" algn="l">
            <a:defRPr sz="3000"/>
          </a:lvl2pPr>
          <a:lvl3pPr marL="571500" indent="-285750" algn="l">
            <a:defRPr sz="3000"/>
          </a:lvl3pPr>
          <a:lvl4pPr marL="857250" indent="-285750" algn="l">
            <a:defRPr sz="3000"/>
          </a:lvl4pPr>
          <a:lvl5pPr marL="1143000" indent="-285750" algn="l">
            <a:defRPr sz="3000"/>
          </a:lvl5pPr>
          <a:lvl6pPr marL="1428750" indent="-285750" algn="l">
            <a:defRPr sz="3000"/>
          </a:lvl6pPr>
          <a:lvl7pPr marL="1714500" indent="-285750" algn="l">
            <a:defRPr sz="3000"/>
          </a:lvl7pPr>
          <a:lvl8pPr marL="2000250" indent="-285750" algn="l">
            <a:defRPr sz="3000"/>
          </a:lvl8pPr>
          <a:lvl9pPr marL="2286000" indent="-285750" algn="l">
            <a:defRPr sz="3000"/>
          </a:lvl9pPr>
        </a:lstStyle>
        <a:p>
          <a:endParaRPr>
            <a:solidFill>
              <a:schemeClr val="tx1"/>
            </a:solidFill>
          </a:endParaRPr>
        </a:p>
      </dsp:txBody>
      <dsp:txXfrm>
        <a:off x="1782012" y="111349"/>
        <a:ext cx="1145171" cy="890788"/>
      </dsp:txXfrm>
    </dsp:sp>
    <dsp:sp modelId="{54F8B79A-809C-4F22-B417-84B1257C574F}">
      <dsp:nvSpPr>
        <dsp:cNvPr id="6" name="圆角矩形 5"/>
        <dsp:cNvSpPr/>
      </dsp:nvSpPr>
      <dsp:spPr bwMode="white">
        <a:xfrm>
          <a:off x="1537133" y="1380722"/>
          <a:ext cx="1574541" cy="1102128"/>
        </a:xfrm>
        <a:prstGeom prst="roundRect">
          <a:avLst>
            <a:gd name="adj" fmla="val 16670"/>
          </a:avLst>
        </a:prstGeom>
      </dsp:spPr>
      <dsp:style>
        <a:lnRef idx="2">
          <a:schemeClr val="lt1"/>
        </a:lnRef>
        <a:fillRef idx="1">
          <a:schemeClr val="accent1"/>
        </a:fillRef>
        <a:effectRef idx="0">
          <a:scrgbClr r="0" g="0" b="0"/>
        </a:effectRef>
        <a:fontRef idx="minor">
          <a:schemeClr val="lt1"/>
        </a:fontRef>
      </dsp:style>
      <dsp:txBody>
        <a:bodyPr vert="horz" wrap="square" lIns="95250" tIns="95250" rIns="9525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a:t>底层约束</a:t>
          </a:r>
          <a:endParaRPr lang="zh-CN" altLang="en-US"/>
        </a:p>
      </dsp:txBody>
      <dsp:txXfrm>
        <a:off x="1537133" y="1380722"/>
        <a:ext cx="1574541" cy="1102128"/>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320280" cy="4730115"/>
        <a:chOff x="0" y="0"/>
        <a:chExt cx="7320280" cy="4730115"/>
      </a:xfrm>
    </dsp:grpSpPr>
    <dsp:sp modelId="{F3596884-C09F-4C70-900E-D61864BED5F1}">
      <dsp:nvSpPr>
        <dsp:cNvPr id="5" name="空心弧 4"/>
        <dsp:cNvSpPr/>
      </dsp:nvSpPr>
      <dsp:spPr bwMode="white">
        <a:xfrm>
          <a:off x="1741256" y="446174"/>
          <a:ext cx="3837767" cy="3837767"/>
        </a:xfrm>
        <a:prstGeom prst="blockArc">
          <a:avLst>
            <a:gd name="adj1" fmla="val 16199999"/>
            <a:gd name="adj2" fmla="val 0"/>
            <a:gd name="adj3" fmla="val 3962"/>
          </a:avLst>
        </a:prstGeom>
      </dsp:spPr>
      <dsp:style>
        <a:lnRef idx="0">
          <a:schemeClr val="accent5">
            <a:tint val="60000"/>
          </a:schemeClr>
        </a:lnRef>
        <a:fillRef idx="3">
          <a:schemeClr val="accent5">
            <a:tint val="60000"/>
          </a:schemeClr>
        </a:fillRef>
        <a:effectRef idx="3">
          <a:scrgbClr r="0" g="0" b="0"/>
        </a:effectRef>
        <a:fontRef idx="minor">
          <a:schemeClr val="lt1"/>
        </a:fontRef>
      </dsp:style>
      <dsp:txXfrm>
        <a:off x="1741256" y="446174"/>
        <a:ext cx="3837767" cy="3837767"/>
      </dsp:txXfrm>
    </dsp:sp>
    <dsp:sp modelId="{15715456-3418-4DF0-AF3A-DA59307B110D}">
      <dsp:nvSpPr>
        <dsp:cNvPr id="7" name="空心弧 6"/>
        <dsp:cNvSpPr/>
      </dsp:nvSpPr>
      <dsp:spPr bwMode="white">
        <a:xfrm>
          <a:off x="1741256" y="446174"/>
          <a:ext cx="3837767" cy="3837767"/>
        </a:xfrm>
        <a:prstGeom prst="blockArc">
          <a:avLst>
            <a:gd name="adj1" fmla="val 0"/>
            <a:gd name="adj2" fmla="val 5400000"/>
            <a:gd name="adj3" fmla="val 3962"/>
          </a:avLst>
        </a:prstGeom>
      </dsp:spPr>
      <dsp:style>
        <a:lnRef idx="0">
          <a:schemeClr val="accent5">
            <a:tint val="60000"/>
          </a:schemeClr>
        </a:lnRef>
        <a:fillRef idx="3">
          <a:schemeClr val="accent5">
            <a:tint val="60000"/>
          </a:schemeClr>
        </a:fillRef>
        <a:effectRef idx="3">
          <a:scrgbClr r="0" g="0" b="0"/>
        </a:effectRef>
        <a:fontRef idx="minor">
          <a:schemeClr val="lt1"/>
        </a:fontRef>
      </dsp:style>
      <dsp:txXfrm>
        <a:off x="1741256" y="446174"/>
        <a:ext cx="3837767" cy="3837767"/>
      </dsp:txXfrm>
    </dsp:sp>
    <dsp:sp modelId="{EBDCA107-8C73-4044-AC95-50DA28B759A8}">
      <dsp:nvSpPr>
        <dsp:cNvPr id="9" name="空心弧 8"/>
        <dsp:cNvSpPr/>
      </dsp:nvSpPr>
      <dsp:spPr bwMode="white">
        <a:xfrm>
          <a:off x="1741256" y="446174"/>
          <a:ext cx="3837767" cy="3837767"/>
        </a:xfrm>
        <a:prstGeom prst="blockArc">
          <a:avLst>
            <a:gd name="adj1" fmla="val 5400000"/>
            <a:gd name="adj2" fmla="val 10800000"/>
            <a:gd name="adj3" fmla="val 3962"/>
          </a:avLst>
        </a:prstGeom>
      </dsp:spPr>
      <dsp:style>
        <a:lnRef idx="0">
          <a:schemeClr val="accent5">
            <a:tint val="60000"/>
          </a:schemeClr>
        </a:lnRef>
        <a:fillRef idx="3">
          <a:schemeClr val="accent5">
            <a:tint val="60000"/>
          </a:schemeClr>
        </a:fillRef>
        <a:effectRef idx="3">
          <a:scrgbClr r="0" g="0" b="0"/>
        </a:effectRef>
        <a:fontRef idx="minor">
          <a:schemeClr val="lt1"/>
        </a:fontRef>
      </dsp:style>
      <dsp:txXfrm>
        <a:off x="1741256" y="446174"/>
        <a:ext cx="3837767" cy="3837767"/>
      </dsp:txXfrm>
    </dsp:sp>
    <dsp:sp modelId="{B5FF6E04-452A-4146-97F4-3BC94EB5BB87}">
      <dsp:nvSpPr>
        <dsp:cNvPr id="11" name="空心弧 10"/>
        <dsp:cNvSpPr/>
      </dsp:nvSpPr>
      <dsp:spPr bwMode="white">
        <a:xfrm>
          <a:off x="1741256" y="446174"/>
          <a:ext cx="3837767" cy="3837767"/>
        </a:xfrm>
        <a:prstGeom prst="blockArc">
          <a:avLst>
            <a:gd name="adj1" fmla="val 10800000"/>
            <a:gd name="adj2" fmla="val 16199999"/>
            <a:gd name="adj3" fmla="val 3962"/>
          </a:avLst>
        </a:prstGeom>
      </dsp:spPr>
      <dsp:style>
        <a:lnRef idx="0">
          <a:schemeClr val="accent5">
            <a:tint val="60000"/>
          </a:schemeClr>
        </a:lnRef>
        <a:fillRef idx="3">
          <a:schemeClr val="accent5">
            <a:tint val="60000"/>
          </a:schemeClr>
        </a:fillRef>
        <a:effectRef idx="3">
          <a:scrgbClr r="0" g="0" b="0"/>
        </a:effectRef>
        <a:fontRef idx="minor">
          <a:schemeClr val="lt1"/>
        </a:fontRef>
      </dsp:style>
      <dsp:txXfrm>
        <a:off x="1741256" y="446174"/>
        <a:ext cx="3837767" cy="3837767"/>
      </dsp:txXfrm>
    </dsp:sp>
    <dsp:sp modelId="{BADECBB5-37EA-4668-8A2F-BD2C2902F22A}">
      <dsp:nvSpPr>
        <dsp:cNvPr id="3" name="椭圆 2"/>
        <dsp:cNvSpPr/>
      </dsp:nvSpPr>
      <dsp:spPr bwMode="white">
        <a:xfrm>
          <a:off x="2821467" y="1526385"/>
          <a:ext cx="1677346" cy="1677346"/>
        </a:xfrm>
        <a:prstGeom prst="ellipse">
          <a:avLst/>
        </a:prstGeom>
      </dsp:spPr>
      <dsp:style>
        <a:lnRef idx="0">
          <a:schemeClr val="lt1"/>
        </a:lnRef>
        <a:fillRef idx="3">
          <a:schemeClr val="accent5"/>
        </a:fillRef>
        <a:effectRef idx="3">
          <a:scrgbClr r="0" g="0" b="0"/>
        </a:effectRef>
        <a:fontRef idx="minor">
          <a:schemeClr val="lt1"/>
        </a:fontRef>
      </dsp:style>
      <dsp:txBody>
        <a:bodyPr vert="horz" wrap="square" lIns="30480" tIns="30480" rIns="30480" bIns="3048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a:t>老年劳动力再就业</a:t>
          </a:r>
          <a:endParaRPr lang="zh-CN" altLang="en-US"/>
        </a:p>
      </dsp:txBody>
      <dsp:txXfrm>
        <a:off x="2821467" y="1526385"/>
        <a:ext cx="1677346" cy="1677346"/>
      </dsp:txXfrm>
    </dsp:sp>
    <dsp:sp modelId="{C2E7DEFD-0505-42BF-AE13-B6483BF86572}">
      <dsp:nvSpPr>
        <dsp:cNvPr id="4" name="椭圆 3"/>
        <dsp:cNvSpPr/>
      </dsp:nvSpPr>
      <dsp:spPr bwMode="white">
        <a:xfrm>
          <a:off x="3073069" y="0"/>
          <a:ext cx="1174142" cy="1174142"/>
        </a:xfrm>
        <a:prstGeom prst="ellipse">
          <a:avLst/>
        </a:prstGeom>
      </dsp:spPr>
      <dsp:style>
        <a:lnRef idx="0">
          <a:schemeClr val="lt1"/>
        </a:lnRef>
        <a:fillRef idx="3">
          <a:schemeClr val="accent5"/>
        </a:fillRef>
        <a:effectRef idx="3">
          <a:scrgbClr r="0" g="0" b="0"/>
        </a:effectRef>
        <a:fontRef idx="minor">
          <a:schemeClr val="lt1"/>
        </a:fontRef>
      </dsp:style>
      <dsp:txBody>
        <a:bodyPr vert="horz" wrap="square"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a:t>人力资本积累</a:t>
          </a:r>
          <a:endParaRPr lang="zh-CN" altLang="en-US"/>
        </a:p>
      </dsp:txBody>
      <dsp:txXfrm>
        <a:off x="3073069" y="0"/>
        <a:ext cx="1174142" cy="1174142"/>
      </dsp:txXfrm>
    </dsp:sp>
    <dsp:sp modelId="{44F31994-0027-4DC3-B39E-FEE01FB1A852}">
      <dsp:nvSpPr>
        <dsp:cNvPr id="6" name="椭圆 5"/>
        <dsp:cNvSpPr/>
      </dsp:nvSpPr>
      <dsp:spPr bwMode="white">
        <a:xfrm>
          <a:off x="4851055" y="1777986"/>
          <a:ext cx="1174142" cy="1174142"/>
        </a:xfrm>
        <a:prstGeom prst="ellipse">
          <a:avLst/>
        </a:prstGeom>
      </dsp:spPr>
      <dsp:style>
        <a:lnRef idx="0">
          <a:schemeClr val="lt1"/>
        </a:lnRef>
        <a:fillRef idx="3">
          <a:schemeClr val="accent5"/>
        </a:fillRef>
        <a:effectRef idx="3">
          <a:scrgbClr r="0" g="0" b="0"/>
        </a:effectRef>
        <a:fontRef idx="minor">
          <a:schemeClr val="lt1"/>
        </a:fontRef>
      </dsp:style>
      <dsp:txBody>
        <a:bodyPr vert="horz" wrap="square"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a:t>社会文化建构</a:t>
          </a:r>
          <a:endParaRPr lang="zh-CN" altLang="en-US"/>
        </a:p>
      </dsp:txBody>
      <dsp:txXfrm>
        <a:off x="4851055" y="1777986"/>
        <a:ext cx="1174142" cy="1174142"/>
      </dsp:txXfrm>
    </dsp:sp>
    <dsp:sp modelId="{0DA4B7DF-BD6B-46E8-940A-69050C019BB3}">
      <dsp:nvSpPr>
        <dsp:cNvPr id="8" name="椭圆 7"/>
        <dsp:cNvSpPr/>
      </dsp:nvSpPr>
      <dsp:spPr bwMode="white">
        <a:xfrm>
          <a:off x="3073069" y="3555973"/>
          <a:ext cx="1174142" cy="1174142"/>
        </a:xfrm>
        <a:prstGeom prst="ellipse">
          <a:avLst/>
        </a:prstGeom>
      </dsp:spPr>
      <dsp:style>
        <a:lnRef idx="0">
          <a:schemeClr val="lt1"/>
        </a:lnRef>
        <a:fillRef idx="3">
          <a:schemeClr val="accent5"/>
        </a:fillRef>
        <a:effectRef idx="3">
          <a:scrgbClr r="0" g="0" b="0"/>
        </a:effectRef>
        <a:fontRef idx="minor">
          <a:schemeClr val="lt1"/>
        </a:fontRef>
      </dsp:style>
      <dsp:txBody>
        <a:bodyPr vert="horz" wrap="square"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a:t>技术进步</a:t>
          </a:r>
          <a:r>
            <a:rPr lang="zh-CN" altLang="en-US"/>
            <a:t>适配</a:t>
          </a:r>
          <a:endParaRPr lang="zh-CN" altLang="en-US"/>
        </a:p>
      </dsp:txBody>
      <dsp:txXfrm>
        <a:off x="3073069" y="3555973"/>
        <a:ext cx="1174142" cy="1174142"/>
      </dsp:txXfrm>
    </dsp:sp>
    <dsp:sp modelId="{F539A410-44AA-4A02-9F1B-997DD2B71E87}">
      <dsp:nvSpPr>
        <dsp:cNvPr id="10" name="椭圆 9"/>
        <dsp:cNvSpPr/>
      </dsp:nvSpPr>
      <dsp:spPr bwMode="white">
        <a:xfrm>
          <a:off x="1295083" y="1777986"/>
          <a:ext cx="1174142" cy="1174142"/>
        </a:xfrm>
        <a:prstGeom prst="ellipse">
          <a:avLst/>
        </a:prstGeom>
      </dsp:spPr>
      <dsp:style>
        <a:lnRef idx="0">
          <a:schemeClr val="lt1"/>
        </a:lnRef>
        <a:fillRef idx="3">
          <a:schemeClr val="accent5"/>
        </a:fillRef>
        <a:effectRef idx="3">
          <a:scrgbClr r="0" g="0" b="0"/>
        </a:effectRef>
        <a:fontRef idx="minor">
          <a:schemeClr val="lt1"/>
        </a:fontRef>
      </dsp:style>
      <dsp:txBody>
        <a:bodyPr vert="horz" wrap="square"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a:t>政策环境支持</a:t>
          </a:r>
          <a:endParaRPr lang="zh-CN" altLang="en-US"/>
        </a:p>
      </dsp:txBody>
      <dsp:txXfrm>
        <a:off x="1295083" y="1777986"/>
        <a:ext cx="1174142" cy="1174142"/>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rSet csTypeId="urn:microsoft.com/office/officeart/2005/8/colors/accent6_5"/>
        </dgm:pt>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type="flowChartManualOperation" r:blip="" rot="-90">
              <dgm:adjLst/>
            </dgm:shape>
          </dgm:if>
          <dgm:else name="Name6">
            <dgm:shape xmlns:r="http://schemas.openxmlformats.org/officeDocument/2006/relationships" type="flowChartManualOperation" r:blip="" rot="90">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rSet csTypeId="urn:microsoft.com/office/officeart/2005/8/colors/accent6_5"/>
        </dgm:pt>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type="flowChartManualOperation" r:blip="" rot="-90">
              <dgm:adjLst/>
            </dgm:shape>
          </dgm:if>
          <dgm:else name="Name6">
            <dgm:shape xmlns:r="http://schemas.openxmlformats.org/officeDocument/2006/relationships" type="flowChartManualOperation" r:blip="" rot="90">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type="homePlate" r:blip="" rot="180">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type="chevron" r:blip="" rot="180">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type="homePlate" r:blip="" rot="180">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type="chevron" r:blip="" rot="180">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Lst>
      <dgm:cxnLst>
        <dgm:cxn modelId="4" srcId="0" destId="1" srcOrd="0" destOrd="0"/>
      </dgm:cxnLst>
      <dgm:bg/>
      <dgm:whole/>
    </dgm:dataModel>
  </dgm:styleData>
  <dgm:clrData>
    <dgm:dataModel>
      <dgm:ptLst>
        <dgm:pt modelId="0" type="doc">
          <dgm:prSet csTypeId="urn:microsoft.com/office/officeart/2005/8/colors/accent6_5"/>
        </dgm:pt>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rSet csTypeId="urn:microsoft.com/office/officeart/2005/8/colors/accent6_5"/>
        </dgm:pt>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rSet csTypeId="urn:microsoft.com/office/officeart/2005/8/colors/accent6_5"/>
        </dgm:pt>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rSet qsTypeId="urn:microsoft.com/office/officeart/2005/8/quickstyle/simple5"/>
        </dgm:pt>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rSet csTypeId="urn:microsoft.com/office/officeart/2005/8/colors/accent6_5"/>
        </dgm:pt>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A0A8682-ADC3-49CA-BB79-88DDE4BD7A7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743D9CF-0406-4B7D-9CB9-4C4EA74D6BB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115586-8F0B-4CB2-8259-BDACFDB4858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CD55FD-BF15-4ABB-9893-53916F3534EA}"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一共三个板块，先分析借鉴其他国家老年劳动力的就业政策来分析中国的政策，然后是具体的文本挖掘技术过程介绍，最后分析老年劳动力再就业的影响因素</a:t>
            </a:r>
            <a:r>
              <a:rPr lang="zh-CN" altLang="en-US"/>
              <a:t>结果</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由于全球老龄化严重，部分发达国家的退休年龄大多都在</a:t>
            </a:r>
            <a:r>
              <a:rPr lang="en-US" altLang="zh-CN"/>
              <a:t>65-70</a:t>
            </a:r>
            <a:r>
              <a:rPr lang="zh-CN" altLang="en-US"/>
              <a:t>岁之间，平均比我国晚</a:t>
            </a:r>
            <a:r>
              <a:rPr lang="en-US" altLang="zh-CN"/>
              <a:t>10</a:t>
            </a:r>
            <a:r>
              <a:rPr lang="zh-CN" altLang="en-US"/>
              <a:t>年</a:t>
            </a:r>
            <a:r>
              <a:rPr lang="zh-CN" altLang="en-US"/>
              <a:t>左右，具体取决于个人对养老金的</a:t>
            </a:r>
            <a:r>
              <a:rPr lang="zh-CN" altLang="en-US"/>
              <a:t>要求。</a:t>
            </a:r>
            <a:endParaRPr lang="zh-CN" altLang="en-US"/>
          </a:p>
          <a:p>
            <a:endParaRPr lang="zh-CN" altLang="en-US"/>
          </a:p>
          <a:p>
            <a:r>
              <a:rPr lang="zh-CN" altLang="en-US"/>
              <a:t>一、退休年龄对比</a:t>
            </a:r>
            <a:endParaRPr lang="zh-CN" altLang="en-US"/>
          </a:p>
          <a:p>
            <a:r>
              <a:rPr lang="zh-CN" altLang="en-US"/>
              <a:t>日本</a:t>
            </a:r>
            <a:endParaRPr lang="en-US" altLang="zh-CN"/>
          </a:p>
          <a:p>
            <a:r>
              <a:rPr lang="zh-CN" altLang="en-US"/>
              <a:t>现行退休年龄：逐步从</a:t>
            </a:r>
            <a:r>
              <a:rPr lang="en-US" altLang="zh-CN"/>
              <a:t>65</a:t>
            </a:r>
            <a:r>
              <a:rPr lang="zh-CN" altLang="en-US"/>
              <a:t>岁提高至</a:t>
            </a:r>
            <a:r>
              <a:rPr lang="en-US" altLang="zh-CN"/>
              <a:t>70</a:t>
            </a:r>
            <a:r>
              <a:rPr lang="zh-CN" altLang="en-US"/>
              <a:t>岁（</a:t>
            </a:r>
            <a:r>
              <a:rPr lang="en-US" altLang="zh-CN"/>
              <a:t>2021</a:t>
            </a:r>
            <a:r>
              <a:rPr lang="zh-CN" altLang="en-US"/>
              <a:t>年修订法律，允许工作至</a:t>
            </a:r>
            <a:r>
              <a:rPr lang="en-US" altLang="zh-CN"/>
              <a:t>70</a:t>
            </a:r>
            <a:r>
              <a:rPr lang="zh-CN" altLang="en-US"/>
              <a:t>岁）。</a:t>
            </a:r>
            <a:endParaRPr lang="en-US" altLang="zh-CN"/>
          </a:p>
          <a:p>
            <a:r>
              <a:rPr lang="zh-CN" altLang="en-US"/>
              <a:t>政策背景：日本</a:t>
            </a:r>
            <a:r>
              <a:rPr lang="en-US" altLang="zh-CN"/>
              <a:t>65</a:t>
            </a:r>
            <a:r>
              <a:rPr lang="zh-CN" altLang="en-US"/>
              <a:t>岁以上人口占比达</a:t>
            </a:r>
            <a:r>
              <a:rPr lang="en-US" altLang="zh-CN"/>
              <a:t>29.1%</a:t>
            </a:r>
            <a:r>
              <a:rPr lang="zh-CN" altLang="en-US"/>
              <a:t>（</a:t>
            </a:r>
            <a:r>
              <a:rPr lang="en-US" altLang="zh-CN"/>
              <a:t>2023</a:t>
            </a:r>
            <a:r>
              <a:rPr lang="zh-CN" altLang="en-US"/>
              <a:t>年），养老金压力巨大。政府通过补贴鼓励企业雇佣老年人，并允许分段领取养老金。</a:t>
            </a:r>
            <a:endParaRPr lang="zh-CN" altLang="en-US"/>
          </a:p>
          <a:p>
            <a:endParaRPr lang="en-US" altLang="zh-CN"/>
          </a:p>
          <a:p>
            <a:r>
              <a:rPr lang="zh-CN" altLang="en-US"/>
              <a:t>德国</a:t>
            </a:r>
            <a:endParaRPr lang="en-US" altLang="zh-CN"/>
          </a:p>
          <a:p>
            <a:r>
              <a:rPr lang="zh-CN" altLang="en-US"/>
              <a:t>现行退休年龄：</a:t>
            </a:r>
            <a:r>
              <a:rPr lang="en-US" altLang="zh-CN"/>
              <a:t>2031</a:t>
            </a:r>
            <a:r>
              <a:rPr lang="zh-CN" altLang="en-US"/>
              <a:t>年将逐步从</a:t>
            </a:r>
            <a:r>
              <a:rPr lang="en-US" altLang="zh-CN"/>
              <a:t>65</a:t>
            </a:r>
            <a:r>
              <a:rPr lang="zh-CN" altLang="en-US"/>
              <a:t>岁提高至</a:t>
            </a:r>
            <a:r>
              <a:rPr lang="en-US" altLang="zh-CN"/>
              <a:t>67</a:t>
            </a:r>
            <a:r>
              <a:rPr lang="zh-CN" altLang="en-US"/>
              <a:t>岁（</a:t>
            </a:r>
            <a:r>
              <a:rPr lang="en-US" altLang="zh-CN"/>
              <a:t>1964</a:t>
            </a:r>
            <a:r>
              <a:rPr lang="zh-CN" altLang="en-US"/>
              <a:t>年后出生者适用）。</a:t>
            </a:r>
            <a:endParaRPr lang="en-US" altLang="zh-CN"/>
          </a:p>
          <a:p>
            <a:r>
              <a:rPr lang="zh-CN" altLang="en-US"/>
              <a:t>特殊政策：缴纳养老金满</a:t>
            </a:r>
            <a:r>
              <a:rPr lang="en-US" altLang="zh-CN"/>
              <a:t>45</a:t>
            </a:r>
            <a:r>
              <a:rPr lang="zh-CN" altLang="en-US"/>
              <a:t>年可提前</a:t>
            </a:r>
            <a:r>
              <a:rPr lang="en-US" altLang="zh-CN"/>
              <a:t>62</a:t>
            </a:r>
            <a:r>
              <a:rPr lang="zh-CN" altLang="en-US"/>
              <a:t>岁退休，但提前退休会永久降低月领取额（约</a:t>
            </a:r>
            <a:r>
              <a:rPr lang="en-US" altLang="zh-CN"/>
              <a:t>14%</a:t>
            </a:r>
            <a:r>
              <a:rPr lang="zh-CN" altLang="en-US"/>
              <a:t>）。</a:t>
            </a:r>
            <a:endParaRPr lang="zh-CN" altLang="en-US"/>
          </a:p>
          <a:p>
            <a:endParaRPr lang="en-US" altLang="zh-CN"/>
          </a:p>
          <a:p>
            <a:r>
              <a:rPr lang="zh-CN" altLang="en-US"/>
              <a:t>法国</a:t>
            </a:r>
            <a:endParaRPr lang="en-US" altLang="zh-CN"/>
          </a:p>
          <a:p>
            <a:r>
              <a:rPr lang="zh-CN" altLang="en-US"/>
              <a:t>现行退休年龄：</a:t>
            </a:r>
            <a:r>
              <a:rPr lang="en-US" altLang="zh-CN"/>
              <a:t>2023</a:t>
            </a:r>
            <a:r>
              <a:rPr lang="zh-CN" altLang="en-US"/>
              <a:t>年改革引发争议，计划从</a:t>
            </a:r>
            <a:r>
              <a:rPr lang="en-US" altLang="zh-CN"/>
              <a:t>62</a:t>
            </a:r>
            <a:r>
              <a:rPr lang="zh-CN" altLang="en-US"/>
              <a:t>岁逐步提高至</a:t>
            </a:r>
            <a:r>
              <a:rPr lang="en-US" altLang="zh-CN"/>
              <a:t>64</a:t>
            </a:r>
            <a:r>
              <a:rPr lang="zh-CN" altLang="en-US"/>
              <a:t>岁（需缴满</a:t>
            </a:r>
            <a:r>
              <a:rPr lang="en-US" altLang="zh-CN"/>
              <a:t>43</a:t>
            </a:r>
            <a:r>
              <a:rPr lang="zh-CN" altLang="en-US"/>
              <a:t>年才能领全额）。</a:t>
            </a:r>
            <a:endParaRPr lang="en-US" altLang="zh-CN"/>
          </a:p>
          <a:p>
            <a:r>
              <a:rPr lang="zh-CN" altLang="en-US"/>
              <a:t>抗议焦点：工会反对改革，认为此举加重体力劳动者负担。</a:t>
            </a:r>
            <a:endParaRPr lang="zh-CN" altLang="en-US"/>
          </a:p>
          <a:p>
            <a:endParaRPr lang="en-US" altLang="zh-CN"/>
          </a:p>
          <a:p>
            <a:r>
              <a:rPr lang="zh-CN" altLang="en-US"/>
              <a:t>美国</a:t>
            </a:r>
            <a:endParaRPr lang="en-US" altLang="zh-CN"/>
          </a:p>
          <a:p>
            <a:r>
              <a:rPr lang="zh-CN" altLang="en-US"/>
              <a:t>弹性退休制：</a:t>
            </a:r>
            <a:r>
              <a:rPr lang="en-US" altLang="zh-CN"/>
              <a:t>62</a:t>
            </a:r>
            <a:r>
              <a:rPr lang="zh-CN" altLang="en-US"/>
              <a:t>岁可提前退休（养老金减少</a:t>
            </a:r>
            <a:r>
              <a:rPr lang="en-US" altLang="zh-CN"/>
              <a:t>30%</a:t>
            </a:r>
            <a:r>
              <a:rPr lang="zh-CN" altLang="en-US"/>
              <a:t>），全额退休年龄为</a:t>
            </a:r>
            <a:r>
              <a:rPr lang="en-US" altLang="zh-CN"/>
              <a:t>67</a:t>
            </a:r>
            <a:r>
              <a:rPr lang="zh-CN" altLang="en-US"/>
              <a:t>岁（</a:t>
            </a:r>
            <a:r>
              <a:rPr lang="en-US" altLang="zh-CN"/>
              <a:t>1960</a:t>
            </a:r>
            <a:r>
              <a:rPr lang="zh-CN" altLang="en-US"/>
              <a:t>年后出生者）。</a:t>
            </a:r>
            <a:endParaRPr lang="en-US" altLang="zh-CN"/>
          </a:p>
          <a:p>
            <a:r>
              <a:rPr lang="zh-CN" altLang="en-US"/>
              <a:t>延迟激励：</a:t>
            </a:r>
            <a:r>
              <a:rPr lang="en-US" altLang="zh-CN"/>
              <a:t>70</a:t>
            </a:r>
            <a:r>
              <a:rPr lang="zh-CN" altLang="en-US"/>
              <a:t>岁退休可获</a:t>
            </a:r>
            <a:r>
              <a:rPr lang="en-US" altLang="zh-CN"/>
              <a:t>132%</a:t>
            </a:r>
            <a:r>
              <a:rPr lang="zh-CN" altLang="en-US"/>
              <a:t>的养老金增幅。</a:t>
            </a:r>
            <a:endParaRPr lang="zh-CN" altLang="en-US"/>
          </a:p>
          <a:p>
            <a:endParaRPr lang="en-US" altLang="zh-CN"/>
          </a:p>
          <a:p>
            <a:r>
              <a:rPr lang="zh-CN" altLang="en-US"/>
              <a:t>中国</a:t>
            </a:r>
            <a:endParaRPr lang="en-US" altLang="zh-CN"/>
          </a:p>
          <a:p>
            <a:r>
              <a:rPr lang="zh-CN" altLang="en-US"/>
              <a:t>现行政策：男性</a:t>
            </a:r>
            <a:r>
              <a:rPr lang="en-US" altLang="zh-CN"/>
              <a:t>60</a:t>
            </a:r>
            <a:r>
              <a:rPr lang="zh-CN" altLang="en-US"/>
              <a:t>岁，女干部</a:t>
            </a:r>
            <a:r>
              <a:rPr lang="en-US" altLang="zh-CN"/>
              <a:t>55</a:t>
            </a:r>
            <a:r>
              <a:rPr lang="zh-CN" altLang="en-US"/>
              <a:t>岁</a:t>
            </a:r>
            <a:r>
              <a:rPr lang="en-US" altLang="zh-CN"/>
              <a:t>/</a:t>
            </a:r>
            <a:r>
              <a:rPr lang="zh-CN" altLang="en-US"/>
              <a:t>女工人</a:t>
            </a:r>
            <a:r>
              <a:rPr lang="en-US" altLang="zh-CN"/>
              <a:t>50</a:t>
            </a:r>
            <a:r>
              <a:rPr lang="zh-CN" altLang="en-US"/>
              <a:t>岁。</a:t>
            </a:r>
            <a:endParaRPr lang="en-US" altLang="zh-CN"/>
          </a:p>
          <a:p>
            <a:r>
              <a:rPr lang="zh-CN" altLang="en-US"/>
              <a:t>改革方向：</a:t>
            </a:r>
            <a:r>
              <a:rPr lang="en-US" altLang="zh-CN"/>
              <a:t>2022</a:t>
            </a:r>
            <a:r>
              <a:rPr lang="zh-CN" altLang="en-US"/>
              <a:t>年启动渐进式延迟退休方案，预计</a:t>
            </a:r>
            <a:r>
              <a:rPr lang="en-US" altLang="zh-CN"/>
              <a:t>2050</a:t>
            </a:r>
            <a:r>
              <a:rPr lang="zh-CN" altLang="en-US"/>
              <a:t>年前后实现男女</a:t>
            </a:r>
            <a:r>
              <a:rPr lang="en-US" altLang="zh-CN"/>
              <a:t>65</a:t>
            </a:r>
            <a:r>
              <a:rPr lang="zh-CN" altLang="en-US"/>
              <a:t>岁同龄退休。</a:t>
            </a:r>
            <a:endParaRPr lang="zh-CN" altLang="en-US"/>
          </a:p>
          <a:p>
            <a:endParaRPr lang="en-US" altLang="zh-CN"/>
          </a:p>
          <a:p>
            <a:endParaRPr lang="en-US" altLang="zh-CN"/>
          </a:p>
          <a:p>
            <a:r>
              <a:rPr lang="zh-CN" altLang="en-US">
                <a:sym typeface="+mn-ea"/>
              </a:rPr>
              <a:t>四、典型案例</a:t>
            </a:r>
            <a:endParaRPr lang="zh-CN" altLang="en-US"/>
          </a:p>
          <a:p>
            <a:r>
              <a:rPr lang="zh-CN" altLang="en-US">
                <a:sym typeface="+mn-ea"/>
              </a:rPr>
              <a:t>荷兰：</a:t>
            </a:r>
            <a:r>
              <a:rPr lang="en-US" altLang="zh-CN">
                <a:sym typeface="+mn-ea"/>
              </a:rPr>
              <a:t>2019</a:t>
            </a:r>
            <a:r>
              <a:rPr lang="zh-CN" altLang="en-US">
                <a:sym typeface="+mn-ea"/>
              </a:rPr>
              <a:t>年废除强制退休年龄，雇主需证明员工</a:t>
            </a:r>
            <a:r>
              <a:rPr lang="en-US" altLang="zh-CN">
                <a:sym typeface="+mn-ea"/>
              </a:rPr>
              <a:t>“</a:t>
            </a:r>
            <a:r>
              <a:rPr lang="zh-CN" altLang="en-US">
                <a:sym typeface="+mn-ea"/>
              </a:rPr>
              <a:t>不胜任</a:t>
            </a:r>
            <a:r>
              <a:rPr lang="en-US" altLang="zh-CN">
                <a:sym typeface="+mn-ea"/>
              </a:rPr>
              <a:t>”</a:t>
            </a:r>
            <a:r>
              <a:rPr lang="zh-CN" altLang="en-US">
                <a:sym typeface="+mn-ea"/>
              </a:rPr>
              <a:t>才能解雇，导致老年就业率升至</a:t>
            </a:r>
            <a:r>
              <a:rPr lang="en-US" altLang="zh-CN">
                <a:sym typeface="+mn-ea"/>
              </a:rPr>
              <a:t>18.4%</a:t>
            </a:r>
            <a:r>
              <a:rPr lang="zh-CN" altLang="en-US">
                <a:sym typeface="+mn-ea"/>
              </a:rPr>
              <a:t>。</a:t>
            </a:r>
            <a:endParaRPr lang="zh-CN" altLang="en-US"/>
          </a:p>
          <a:p>
            <a:endParaRPr lang="en-US" altLang="zh-CN"/>
          </a:p>
          <a:p>
            <a:r>
              <a:rPr lang="zh-CN" altLang="en-US">
                <a:sym typeface="+mn-ea"/>
              </a:rPr>
              <a:t>澳大利亚：</a:t>
            </a:r>
            <a:r>
              <a:rPr lang="en-US" altLang="zh-CN">
                <a:sym typeface="+mn-ea"/>
              </a:rPr>
              <a:t>67</a:t>
            </a:r>
            <a:r>
              <a:rPr lang="zh-CN" altLang="en-US">
                <a:sym typeface="+mn-ea"/>
              </a:rPr>
              <a:t>岁退休，但允许</a:t>
            </a:r>
            <a:r>
              <a:rPr lang="en-US" altLang="zh-CN">
                <a:sym typeface="+mn-ea"/>
              </a:rPr>
              <a:t>55</a:t>
            </a:r>
            <a:r>
              <a:rPr lang="zh-CN" altLang="en-US">
                <a:sym typeface="+mn-ea"/>
              </a:rPr>
              <a:t>岁以上提取养老金投资小生意，引发退休储蓄不足风险。</a:t>
            </a:r>
            <a:endParaRPr lang="en-US" altLang="zh-CN"/>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sym typeface="+mn-ea"/>
              </a:rPr>
              <a:t>那么延迟退修政策除了在养老金的发放方面有影响，还有</a:t>
            </a:r>
            <a:r>
              <a:rPr lang="en-US" altLang="zh-CN">
                <a:sym typeface="+mn-ea"/>
              </a:rPr>
              <a:t>“</a:t>
            </a:r>
            <a:r>
              <a:rPr lang="zh-CN" altLang="en-US">
                <a:sym typeface="+mn-ea"/>
              </a:rPr>
              <a:t>银发岗位</a:t>
            </a:r>
            <a:r>
              <a:rPr lang="en-US" altLang="zh-CN">
                <a:sym typeface="+mn-ea"/>
              </a:rPr>
              <a:t>”</a:t>
            </a:r>
            <a:r>
              <a:rPr lang="zh-CN" altLang="en-US">
                <a:sym typeface="+mn-ea"/>
              </a:rPr>
              <a:t>和技能培训的支持。不过这个也带来了抢占青年就业岗位、性别退休年龄差异不平等的问题以及</a:t>
            </a:r>
            <a:r>
              <a:rPr lang="en-US" altLang="zh-CN">
                <a:sym typeface="+mn-ea"/>
              </a:rPr>
              <a:t>IT</a:t>
            </a:r>
            <a:r>
              <a:rPr lang="zh-CN" altLang="en-US">
                <a:sym typeface="+mn-ea"/>
              </a:rPr>
              <a:t>技术</a:t>
            </a:r>
            <a:r>
              <a:rPr lang="zh-CN" altLang="en-US">
                <a:sym typeface="+mn-ea"/>
              </a:rPr>
              <a:t>代替</a:t>
            </a:r>
            <a:endParaRPr lang="zh-CN" altLang="en-US">
              <a:sym typeface="+mn-ea"/>
            </a:endParaRPr>
          </a:p>
          <a:p>
            <a:endParaRPr lang="zh-CN" altLang="en-US">
              <a:sym typeface="+mn-ea"/>
            </a:endParaRPr>
          </a:p>
          <a:p>
            <a:r>
              <a:rPr lang="zh-CN" altLang="en-US">
                <a:sym typeface="+mn-ea"/>
              </a:rPr>
              <a:t>二、政策工具箱</a:t>
            </a:r>
            <a:endParaRPr lang="zh-CN" altLang="en-US"/>
          </a:p>
          <a:p>
            <a:r>
              <a:rPr lang="en-US" altLang="zh-CN">
                <a:sym typeface="+mn-ea"/>
              </a:rPr>
              <a:t>1. </a:t>
            </a:r>
            <a:r>
              <a:rPr lang="zh-CN" altLang="en-US">
                <a:sym typeface="+mn-ea"/>
              </a:rPr>
              <a:t>经济激励</a:t>
            </a:r>
            <a:endParaRPr lang="zh-CN" altLang="en-US"/>
          </a:p>
          <a:p>
            <a:r>
              <a:rPr lang="zh-CN" altLang="en-US">
                <a:sym typeface="+mn-ea"/>
              </a:rPr>
              <a:t>瑞典：养老金与终身收入挂钩，多工作一年可增加约</a:t>
            </a:r>
            <a:r>
              <a:rPr lang="en-US" altLang="zh-CN">
                <a:sym typeface="+mn-ea"/>
              </a:rPr>
              <a:t>10%</a:t>
            </a:r>
            <a:r>
              <a:rPr lang="zh-CN" altLang="en-US">
                <a:sym typeface="+mn-ea"/>
              </a:rPr>
              <a:t>的养老金。</a:t>
            </a:r>
            <a:endParaRPr lang="zh-CN" altLang="en-US"/>
          </a:p>
          <a:p>
            <a:r>
              <a:rPr lang="zh-CN" altLang="en-US">
                <a:sym typeface="+mn-ea"/>
              </a:rPr>
              <a:t>新加坡：中央公积金（</a:t>
            </a:r>
            <a:r>
              <a:rPr lang="en-US" altLang="zh-CN">
                <a:sym typeface="+mn-ea"/>
              </a:rPr>
              <a:t>CPF</a:t>
            </a:r>
            <a:r>
              <a:rPr lang="zh-CN" altLang="en-US">
                <a:sym typeface="+mn-ea"/>
              </a:rPr>
              <a:t>）允许</a:t>
            </a:r>
            <a:r>
              <a:rPr lang="en-US" altLang="zh-CN">
                <a:sym typeface="+mn-ea"/>
              </a:rPr>
              <a:t>55</a:t>
            </a:r>
            <a:r>
              <a:rPr lang="zh-CN" altLang="en-US">
                <a:sym typeface="+mn-ea"/>
              </a:rPr>
              <a:t>岁提取部分存款，但全额领取需满足更高年龄和存款条件。</a:t>
            </a:r>
            <a:endParaRPr lang="zh-CN" altLang="en-US"/>
          </a:p>
          <a:p>
            <a:r>
              <a:rPr lang="en-US" altLang="zh-CN">
                <a:sym typeface="+mn-ea"/>
              </a:rPr>
              <a:t>2. </a:t>
            </a:r>
            <a:r>
              <a:rPr lang="zh-CN" altLang="en-US">
                <a:sym typeface="+mn-ea"/>
              </a:rPr>
              <a:t>就业支持</a:t>
            </a:r>
            <a:endParaRPr lang="zh-CN" altLang="en-US"/>
          </a:p>
          <a:p>
            <a:r>
              <a:rPr lang="zh-CN" altLang="en-US">
                <a:sym typeface="+mn-ea"/>
              </a:rPr>
              <a:t>韩国：为</a:t>
            </a:r>
            <a:r>
              <a:rPr lang="en-US" altLang="zh-CN">
                <a:sym typeface="+mn-ea"/>
              </a:rPr>
              <a:t>60</a:t>
            </a:r>
            <a:r>
              <a:rPr lang="zh-CN" altLang="en-US">
                <a:sym typeface="+mn-ea"/>
              </a:rPr>
              <a:t>岁以上劳动者提供</a:t>
            </a:r>
            <a:r>
              <a:rPr lang="en-US" altLang="zh-CN">
                <a:sym typeface="+mn-ea"/>
              </a:rPr>
              <a:t>“</a:t>
            </a:r>
            <a:r>
              <a:rPr lang="zh-CN" altLang="en-US">
                <a:sym typeface="+mn-ea"/>
              </a:rPr>
              <a:t>银发招聘</a:t>
            </a:r>
            <a:r>
              <a:rPr lang="en-US" altLang="zh-CN">
                <a:sym typeface="+mn-ea"/>
              </a:rPr>
              <a:t>”</a:t>
            </a:r>
            <a:r>
              <a:rPr lang="zh-CN" altLang="en-US">
                <a:sym typeface="+mn-ea"/>
              </a:rPr>
              <a:t>岗位（如快递、环卫），但实际就业率仅</a:t>
            </a:r>
            <a:r>
              <a:rPr lang="en-US" altLang="zh-CN">
                <a:sym typeface="+mn-ea"/>
              </a:rPr>
              <a:t>34%</a:t>
            </a:r>
            <a:r>
              <a:rPr lang="zh-CN" altLang="en-US">
                <a:sym typeface="+mn-ea"/>
              </a:rPr>
              <a:t>。</a:t>
            </a:r>
            <a:endParaRPr lang="zh-CN" altLang="en-US"/>
          </a:p>
          <a:p>
            <a:r>
              <a:rPr lang="zh-CN" altLang="en-US">
                <a:sym typeface="+mn-ea"/>
              </a:rPr>
              <a:t>丹麦：政府资助企业为</a:t>
            </a:r>
            <a:r>
              <a:rPr lang="en-US" altLang="zh-CN">
                <a:sym typeface="+mn-ea"/>
              </a:rPr>
              <a:t>50</a:t>
            </a:r>
            <a:r>
              <a:rPr lang="zh-CN" altLang="en-US">
                <a:sym typeface="+mn-ea"/>
              </a:rPr>
              <a:t>岁以上员工提供技能培训，防止职场歧视。</a:t>
            </a:r>
            <a:endParaRPr lang="zh-CN" altLang="en-US"/>
          </a:p>
          <a:p>
            <a:r>
              <a:rPr lang="en-US" altLang="zh-CN">
                <a:sym typeface="+mn-ea"/>
              </a:rPr>
              <a:t>3. </a:t>
            </a:r>
            <a:r>
              <a:rPr lang="zh-CN" altLang="en-US">
                <a:sym typeface="+mn-ea"/>
              </a:rPr>
              <a:t>福利调整</a:t>
            </a:r>
            <a:endParaRPr lang="zh-CN" altLang="en-US"/>
          </a:p>
          <a:p>
            <a:r>
              <a:rPr lang="zh-CN" altLang="en-US">
                <a:sym typeface="+mn-ea"/>
              </a:rPr>
              <a:t>意大利：</a:t>
            </a:r>
            <a:r>
              <a:rPr lang="en-US" altLang="zh-CN">
                <a:sym typeface="+mn-ea"/>
              </a:rPr>
              <a:t>2011</a:t>
            </a:r>
            <a:r>
              <a:rPr lang="zh-CN" altLang="en-US">
                <a:sym typeface="+mn-ea"/>
              </a:rPr>
              <a:t>年改革引入</a:t>
            </a:r>
            <a:r>
              <a:rPr lang="en-US" altLang="zh-CN">
                <a:sym typeface="+mn-ea"/>
              </a:rPr>
              <a:t>“</a:t>
            </a:r>
            <a:r>
              <a:rPr lang="zh-CN" altLang="en-US">
                <a:sym typeface="+mn-ea"/>
              </a:rPr>
              <a:t>自动平衡机制</a:t>
            </a:r>
            <a:r>
              <a:rPr lang="en-US" altLang="zh-CN">
                <a:sym typeface="+mn-ea"/>
              </a:rPr>
              <a:t>”</a:t>
            </a:r>
            <a:r>
              <a:rPr lang="zh-CN" altLang="en-US">
                <a:sym typeface="+mn-ea"/>
              </a:rPr>
              <a:t>，根据预期寿命动态调整养老金发放额。</a:t>
            </a:r>
            <a:endParaRPr lang="zh-CN" altLang="en-US"/>
          </a:p>
          <a:p>
            <a:r>
              <a:rPr lang="zh-CN" altLang="en-US">
                <a:sym typeface="+mn-ea"/>
              </a:rPr>
              <a:t>加拿大：允许</a:t>
            </a:r>
            <a:r>
              <a:rPr lang="en-US" altLang="zh-CN">
                <a:sym typeface="+mn-ea"/>
              </a:rPr>
              <a:t>70</a:t>
            </a:r>
            <a:r>
              <a:rPr lang="zh-CN" altLang="en-US">
                <a:sym typeface="+mn-ea"/>
              </a:rPr>
              <a:t>岁后继续工作，养老金（</a:t>
            </a:r>
            <a:r>
              <a:rPr lang="en-US" altLang="zh-CN">
                <a:sym typeface="+mn-ea"/>
              </a:rPr>
              <a:t>OAS</a:t>
            </a:r>
            <a:r>
              <a:rPr lang="zh-CN" altLang="en-US">
                <a:sym typeface="+mn-ea"/>
              </a:rPr>
              <a:t>）每年自动递增</a:t>
            </a:r>
            <a:r>
              <a:rPr lang="en-US" altLang="zh-CN">
                <a:sym typeface="+mn-ea"/>
              </a:rPr>
              <a:t>0.6%</a:t>
            </a:r>
            <a:r>
              <a:rPr lang="zh-CN" altLang="en-US">
                <a:sym typeface="+mn-ea"/>
              </a:rPr>
              <a:t>（上限</a:t>
            </a:r>
            <a:r>
              <a:rPr lang="en-US" altLang="zh-CN">
                <a:sym typeface="+mn-ea"/>
              </a:rPr>
              <a:t>36%</a:t>
            </a:r>
            <a:r>
              <a:rPr lang="zh-CN" altLang="en-US">
                <a:sym typeface="+mn-ea"/>
              </a:rPr>
              <a:t>）。</a:t>
            </a:r>
            <a:endParaRPr lang="zh-CN" altLang="en-US"/>
          </a:p>
          <a:p>
            <a:r>
              <a:rPr lang="en-US" altLang="zh-CN">
                <a:sym typeface="+mn-ea"/>
              </a:rPr>
              <a:t>4. </a:t>
            </a:r>
            <a:r>
              <a:rPr lang="zh-CN" altLang="en-US">
                <a:sym typeface="+mn-ea"/>
              </a:rPr>
              <a:t>特殊群体照顾</a:t>
            </a:r>
            <a:endParaRPr lang="en-US" altLang="zh-CN"/>
          </a:p>
          <a:p>
            <a:r>
              <a:rPr lang="zh-CN" altLang="en-US">
                <a:sym typeface="+mn-ea"/>
              </a:rPr>
              <a:t>北欧国家：对重体力劳动者（如矿工、护士）设置更低退休年龄。</a:t>
            </a:r>
            <a:endParaRPr lang="en-US" altLang="zh-CN"/>
          </a:p>
          <a:p>
            <a:r>
              <a:rPr lang="zh-CN" altLang="en-US">
                <a:sym typeface="+mn-ea"/>
              </a:rPr>
              <a:t>巴西：农村劳动者可比城市居民早</a:t>
            </a:r>
            <a:r>
              <a:rPr lang="en-US" altLang="zh-CN">
                <a:sym typeface="+mn-ea"/>
              </a:rPr>
              <a:t>5</a:t>
            </a:r>
            <a:r>
              <a:rPr lang="zh-CN" altLang="en-US">
                <a:sym typeface="+mn-ea"/>
              </a:rPr>
              <a:t>年退休。</a:t>
            </a:r>
            <a:endParaRPr lang="zh-CN" altLang="en-US"/>
          </a:p>
          <a:p>
            <a:endParaRPr lang="en-US" altLang="zh-CN"/>
          </a:p>
          <a:p>
            <a:r>
              <a:rPr lang="zh-CN" altLang="en-US">
                <a:sym typeface="+mn-ea"/>
              </a:rPr>
              <a:t>三、挑战与争议</a:t>
            </a:r>
            <a:endParaRPr lang="zh-CN" altLang="en-US"/>
          </a:p>
          <a:p>
            <a:r>
              <a:rPr lang="zh-CN" altLang="en-US">
                <a:sym typeface="+mn-ea"/>
              </a:rPr>
              <a:t>代际公平：韩国青年失业率达</a:t>
            </a:r>
            <a:r>
              <a:rPr lang="en-US" altLang="zh-CN">
                <a:sym typeface="+mn-ea"/>
              </a:rPr>
              <a:t>9.3%</a:t>
            </a:r>
            <a:r>
              <a:rPr lang="zh-CN" altLang="en-US">
                <a:sym typeface="+mn-ea"/>
              </a:rPr>
              <a:t>（</a:t>
            </a:r>
            <a:r>
              <a:rPr lang="en-US" altLang="zh-CN">
                <a:sym typeface="+mn-ea"/>
              </a:rPr>
              <a:t>2023</a:t>
            </a:r>
            <a:r>
              <a:rPr lang="zh-CN" altLang="en-US">
                <a:sym typeface="+mn-ea"/>
              </a:rPr>
              <a:t>年），反对</a:t>
            </a:r>
            <a:r>
              <a:rPr lang="en-US" altLang="zh-CN">
                <a:sym typeface="+mn-ea"/>
              </a:rPr>
              <a:t>“</a:t>
            </a:r>
            <a:r>
              <a:rPr lang="zh-CN" altLang="en-US">
                <a:sym typeface="+mn-ea"/>
              </a:rPr>
              <a:t>老年人占据优质岗位</a:t>
            </a:r>
            <a:r>
              <a:rPr lang="en-US" altLang="zh-CN">
                <a:sym typeface="+mn-ea"/>
              </a:rPr>
              <a:t>”</a:t>
            </a:r>
            <a:r>
              <a:rPr lang="zh-CN" altLang="en-US">
                <a:sym typeface="+mn-ea"/>
              </a:rPr>
              <a:t>的声音强烈。</a:t>
            </a:r>
            <a:endParaRPr lang="zh-CN" altLang="en-US"/>
          </a:p>
          <a:p>
            <a:endParaRPr lang="en-US" altLang="zh-CN"/>
          </a:p>
          <a:p>
            <a:r>
              <a:rPr lang="zh-CN" altLang="en-US">
                <a:sym typeface="+mn-ea"/>
              </a:rPr>
              <a:t>性别差异：意大利女性平均比男性早退休</a:t>
            </a:r>
            <a:r>
              <a:rPr lang="en-US" altLang="zh-CN">
                <a:sym typeface="+mn-ea"/>
              </a:rPr>
              <a:t>5</a:t>
            </a:r>
            <a:r>
              <a:rPr lang="zh-CN" altLang="en-US">
                <a:sym typeface="+mn-ea"/>
              </a:rPr>
              <a:t>年，但养老金差距达</a:t>
            </a:r>
            <a:r>
              <a:rPr lang="en-US" altLang="zh-CN">
                <a:sym typeface="+mn-ea"/>
              </a:rPr>
              <a:t>37%</a:t>
            </a:r>
            <a:r>
              <a:rPr lang="zh-CN" altLang="en-US">
                <a:sym typeface="+mn-ea"/>
              </a:rPr>
              <a:t>。</a:t>
            </a:r>
            <a:endParaRPr lang="zh-CN" altLang="en-US"/>
          </a:p>
          <a:p>
            <a:endParaRPr lang="en-US" altLang="zh-CN"/>
          </a:p>
          <a:p>
            <a:r>
              <a:rPr lang="zh-CN" altLang="en-US">
                <a:sym typeface="+mn-ea"/>
              </a:rPr>
              <a:t>技术替代：日本推广老年人</a:t>
            </a:r>
            <a:r>
              <a:rPr lang="en-US" altLang="zh-CN">
                <a:sym typeface="+mn-ea"/>
              </a:rPr>
              <a:t>IT</a:t>
            </a:r>
            <a:r>
              <a:rPr lang="zh-CN" altLang="en-US">
                <a:sym typeface="+mn-ea"/>
              </a:rPr>
              <a:t>培训，但</a:t>
            </a:r>
            <a:r>
              <a:rPr lang="en-US" altLang="zh-CN">
                <a:sym typeface="+mn-ea"/>
              </a:rPr>
              <a:t>60</a:t>
            </a:r>
            <a:r>
              <a:rPr lang="zh-CN" altLang="en-US">
                <a:sym typeface="+mn-ea"/>
              </a:rPr>
              <a:t>岁以上仅</a:t>
            </a:r>
            <a:r>
              <a:rPr lang="en-US" altLang="zh-CN">
                <a:sym typeface="+mn-ea"/>
              </a:rPr>
              <a:t>12%</a:t>
            </a:r>
            <a:r>
              <a:rPr lang="zh-CN" altLang="en-US">
                <a:sym typeface="+mn-ea"/>
              </a:rPr>
              <a:t>能胜任数字化岗位。</a:t>
            </a:r>
            <a:endParaRPr lang="zh-CN" altLang="en-US"/>
          </a:p>
          <a:p>
            <a:endParaRPr lang="en-US" altLang="zh-CN"/>
          </a:p>
          <a:p>
            <a:endParaRPr lang="zh-CN" altLang="en-US"/>
          </a:p>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那么我国的延迟退休政策，简单说就是</a:t>
            </a:r>
            <a:r>
              <a:rPr lang="en-US" altLang="zh-CN"/>
              <a:t>“</a:t>
            </a:r>
            <a:r>
              <a:rPr lang="zh-CN" altLang="en-US"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小步调整、弹性实施、分类推进、统筹兼顾</a:t>
            </a:r>
            <a:r>
              <a:rPr lang="en-US" altLang="zh-CN"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的渐进式退休，</a:t>
            </a:r>
            <a:r>
              <a:rPr lang="zh-CN" altLang="en-US"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下面我就采集到的数据分析具体是哪些因素对老龄劳动力的再就业产生影响。</a:t>
            </a:r>
            <a:br>
              <a:rPr lang="zh-CN" altLang="en-US"/>
            </a:br>
            <a:br>
              <a:rPr lang="zh-CN" altLang="en-US"/>
            </a:br>
            <a:r>
              <a:rPr lang="zh-CN" altLang="en-US"/>
              <a:t>第一条　从</a:t>
            </a:r>
            <a:r>
              <a:rPr lang="en-US" altLang="zh-CN"/>
              <a:t>2025</a:t>
            </a:r>
            <a:r>
              <a:rPr lang="zh-CN" altLang="en-US"/>
              <a:t>年</a:t>
            </a:r>
            <a:r>
              <a:rPr lang="en-US" altLang="zh-CN"/>
              <a:t>1</a:t>
            </a:r>
            <a:r>
              <a:rPr lang="zh-CN" altLang="en-US"/>
              <a:t>月</a:t>
            </a:r>
            <a:r>
              <a:rPr lang="en-US" altLang="zh-CN"/>
              <a:t>1</a:t>
            </a:r>
            <a:r>
              <a:rPr lang="zh-CN" altLang="en-US"/>
              <a:t>日起，男职工和原法定退休年龄为五十五周岁的女职工，法定退休年龄每四个月延迟一个月，分别逐步延迟至六十三周岁和五十八周岁；原法定退休年龄为五十周岁的女职工，法定退休年龄每二个月延迟一个月，逐步延迟至五十五周岁。国家另有规定的，从其规定。</a:t>
            </a:r>
            <a:endParaRPr lang="zh-CN" altLang="en-US"/>
          </a:p>
          <a:p>
            <a:endParaRPr lang="en-US" altLang="zh-CN"/>
          </a:p>
          <a:p>
            <a:r>
              <a:rPr lang="zh-CN" altLang="en-US"/>
              <a:t>第二条　从</a:t>
            </a:r>
            <a:r>
              <a:rPr lang="en-US" altLang="zh-CN"/>
              <a:t>2030</a:t>
            </a:r>
            <a:r>
              <a:rPr lang="zh-CN" altLang="en-US"/>
              <a:t>年</a:t>
            </a:r>
            <a:r>
              <a:rPr lang="en-US" altLang="zh-CN"/>
              <a:t>1</a:t>
            </a:r>
            <a:r>
              <a:rPr lang="zh-CN" altLang="en-US"/>
              <a:t>月</a:t>
            </a:r>
            <a:r>
              <a:rPr lang="en-US" altLang="zh-CN"/>
              <a:t>1</a:t>
            </a:r>
            <a:r>
              <a:rPr lang="zh-CN" altLang="en-US"/>
              <a:t>日起，将职工按月领取基本养老金最低缴费年限由十五年逐步提高至二十年，每年提高六个月。职工达到法定退休年龄但不满最低缴费年限的，可以按照规定通过延长缴费或者一次性缴费的办法达到最低缴费年限，按月领取基本养老金。</a:t>
            </a:r>
            <a:endParaRPr lang="zh-CN" altLang="en-US"/>
          </a:p>
          <a:p>
            <a:endParaRPr lang="en-US" altLang="zh-CN"/>
          </a:p>
          <a:p>
            <a:r>
              <a:rPr lang="zh-CN" altLang="en-US"/>
              <a:t>第三条　职工达到最低缴费年限，可以自愿选择弹性提前退休，提前时间最长不超过三年，且退休年龄不得低于女职工五十周岁、五十五周岁及男职工六十周岁的原法定退休年龄。职工达到法定退休年龄，所在单位与职工协商一致的，可以弹性延迟退休，延迟时间最长不超过三年。国家另有规定的，从其规定。实施中不得违背职工意愿，违法强制或者变相强制职工选择退休年龄。</a:t>
            </a:r>
            <a:endParaRPr lang="zh-CN" altLang="en-US"/>
          </a:p>
          <a:p>
            <a:endParaRPr lang="en-US" altLang="zh-CN"/>
          </a:p>
          <a:p>
            <a:r>
              <a:rPr lang="zh-CN" altLang="en-US"/>
              <a:t>第四条　国家健全养老保险激励机制。鼓励职工长缴多得、多缴多得、晚退多得。基础养老金计发比例与个人累计缴费年限挂钩，基础养老金计发基数与个人实际缴费挂钩，个人账户养老金根据个人退休年龄、个人账户储存额等因素确定。</a:t>
            </a:r>
            <a:endParaRPr lang="zh-CN" altLang="en-US"/>
          </a:p>
          <a:p>
            <a:endParaRPr lang="en-US" altLang="zh-CN"/>
          </a:p>
          <a:p>
            <a:r>
              <a:rPr lang="zh-CN" altLang="en-US"/>
              <a:t>第五条　国家实施就业优先战略，促进高质量充分就业。完善就业公共服务体系，健全终身职业技能培训制度。支持青年人就业创业，强化大龄劳动者就业岗位开发，完善困难人员就业援助制度。加强对就业年龄歧视的防范和治理，激励用人单位吸纳更多大龄劳动者就业。</a:t>
            </a:r>
            <a:endParaRPr lang="zh-CN" altLang="en-US"/>
          </a:p>
          <a:p>
            <a:endParaRPr lang="en-US" altLang="zh-CN"/>
          </a:p>
          <a:p>
            <a:r>
              <a:rPr lang="zh-CN" altLang="en-US"/>
              <a:t>第六条　用人单位招用超过法定退休年龄的劳动者，应当保障劳动者获得劳动报酬、休息休假、劳动安全卫生、工伤保障等基本权益。</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首先，我简要介绍下用到的方法及其作用。整体用到一个</a:t>
            </a:r>
            <a:r>
              <a:rPr lang="en-US" altLang="zh-CN"/>
              <a:t>LDA-DEMATEL-ISM</a:t>
            </a:r>
            <a:r>
              <a:rPr lang="zh-CN" altLang="en-US"/>
              <a:t>的文本处理的结构模型，先用主题模型将整个数据集提取出</a:t>
            </a:r>
            <a:r>
              <a:rPr lang="en-US" altLang="zh-CN"/>
              <a:t>10</a:t>
            </a:r>
            <a:r>
              <a:rPr lang="zh-CN" altLang="en-US"/>
              <a:t>大关键因素，然后用</a:t>
            </a:r>
            <a:r>
              <a:rPr lang="zh-CN" altLang="en-US">
                <a:solidFill>
                  <a:schemeClr val="dk1"/>
                </a:solidFill>
                <a:sym typeface="+mn-ea"/>
              </a:rPr>
              <a:t>余弦相似度改进的决策实验室法算出各个影响因素之间的关联性和重要程度，最后是</a:t>
            </a:r>
            <a:r>
              <a:rPr lang="zh-CN" altLang="en-US">
                <a:sym typeface="+mn-ea"/>
              </a:rPr>
              <a:t>解释结构模型</a:t>
            </a:r>
            <a:r>
              <a:rPr lang="en-US" altLang="zh-CN">
                <a:sym typeface="+mn-ea"/>
              </a:rPr>
              <a:t>ISM</a:t>
            </a:r>
            <a:r>
              <a:rPr lang="zh-CN" altLang="en-US">
                <a:sym typeface="+mn-ea"/>
              </a:rPr>
              <a:t>对影响因素进行层级划分，再结合刚才算出的关联路径，就可以作出层次模型图。</a:t>
            </a:r>
            <a:endParaRPr lang="zh-CN" altLang="en-US">
              <a:solidFill>
                <a:schemeClr val="dk1"/>
              </a:solidFill>
              <a:sym typeface="+mn-ea"/>
            </a:endParaRPr>
          </a:p>
          <a:p>
            <a:endParaRPr lang="en-US" altLang="zh-CN"/>
          </a:p>
          <a:p>
            <a:r>
              <a:rPr lang="en-US" altLang="zh-CN"/>
              <a:t>LDA</a:t>
            </a:r>
            <a:r>
              <a:rPr lang="zh-CN" altLang="en-US"/>
              <a:t>：</a:t>
            </a:r>
            <a:r>
              <a:rPr lang="zh-CN" altLang="en-US"/>
              <a:t>主题模型</a:t>
            </a:r>
            <a:endParaRPr lang="zh-CN" altLang="en-US"/>
          </a:p>
          <a:p>
            <a:r>
              <a:rPr lang="en-US" altLang="zh-CN"/>
              <a:t>DEMATEL</a:t>
            </a:r>
            <a:r>
              <a:rPr lang="zh-CN" altLang="en-US"/>
              <a:t>：</a:t>
            </a:r>
            <a:r>
              <a:rPr lang="zh-CN" altLang="en-US">
                <a:solidFill>
                  <a:schemeClr val="dk1"/>
                </a:solidFill>
                <a:sym typeface="+mn-ea"/>
              </a:rPr>
              <a:t>以余弦相似度改进的决策实验室法（</a:t>
            </a:r>
            <a:r>
              <a:rPr lang="en-US" altLang="zh-CN">
                <a:solidFill>
                  <a:schemeClr val="dk1"/>
                </a:solidFill>
                <a:sym typeface="+mn-ea"/>
              </a:rPr>
              <a:t>DEMATEL</a:t>
            </a:r>
            <a:r>
              <a:rPr lang="zh-CN" altLang="en-US">
                <a:solidFill>
                  <a:schemeClr val="dk1"/>
                </a:solidFill>
                <a:sym typeface="+mn-ea"/>
              </a:rPr>
              <a:t>）</a:t>
            </a:r>
            <a:endParaRPr lang="zh-CN" altLang="en-US">
              <a:solidFill>
                <a:schemeClr val="dk1"/>
              </a:solidFill>
              <a:sym typeface="+mn-ea"/>
            </a:endParaRPr>
          </a:p>
          <a:p>
            <a:r>
              <a:rPr lang="en-US" altLang="zh-CN"/>
              <a:t>ISM</a:t>
            </a:r>
            <a:r>
              <a:rPr lang="zh-CN" altLang="en-US"/>
              <a:t>：解释结构模型（</a:t>
            </a:r>
            <a:r>
              <a:rPr lang="en-US" altLang="zh-CN"/>
              <a:t>ISM</a:t>
            </a:r>
            <a:r>
              <a:rPr lang="zh-CN" altLang="en-US"/>
              <a:t>）方法对各影响因素进行层级划分，构建出老年劳动力再就业影响机制的层次模型，进一步揭示其内在的因果逻辑和结构特征</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这个分析的文本数据来源于官网的政策文本和社会与个体的社媒文本</a:t>
            </a:r>
            <a:r>
              <a:rPr lang="zh-CN"/>
              <a:t>，尽可能全面的采集多方意见，</a:t>
            </a:r>
            <a:r>
              <a:rPr lang="zh-CN" altLang="en-US"/>
              <a:t>爬取时间是从延迟退休政策开始爬到今年六月初，总共</a:t>
            </a:r>
            <a:r>
              <a:rPr lang="en-US" altLang="zh-CN"/>
              <a:t>15</a:t>
            </a:r>
            <a:r>
              <a:rPr lang="zh-CN" altLang="en-US"/>
              <a:t>万字左右，然后进行常见的文本清洗</a:t>
            </a:r>
            <a:r>
              <a:rPr lang="zh-CN" altLang="en-US"/>
              <a:t>步骤</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在主题模型阶段，我做了个网页可视化，里面分出了</a:t>
            </a:r>
            <a:r>
              <a:rPr lang="en-US" altLang="zh-CN"/>
              <a:t>10</a:t>
            </a:r>
            <a:r>
              <a:rPr lang="zh-CN" altLang="en-US"/>
              <a:t>个影响因素对应的关键词及其对该影响因素的重要程度，其中可以看到</a:t>
            </a:r>
            <a:br>
              <a:rPr lang="en-US" altLang="zh-CN"/>
            </a:br>
            <a:r>
              <a:rPr lang="en-US" altLang="zh-CN"/>
              <a:t>topic3</a:t>
            </a:r>
            <a:r>
              <a:rPr lang="zh-CN" altLang="en-US"/>
              <a:t>：</a:t>
            </a:r>
            <a:r>
              <a:rPr lang="en-US" altLang="zh-CN"/>
              <a:t>“</a:t>
            </a:r>
            <a:r>
              <a:rPr lang="zh-CN" altLang="en-US"/>
              <a:t>父母</a:t>
            </a:r>
            <a:r>
              <a:rPr lang="en-US" altLang="zh-CN"/>
              <a:t>”-&gt;  </a:t>
            </a:r>
            <a:r>
              <a:rPr lang="zh-CN" altLang="en-US"/>
              <a:t>家庭职责</a:t>
            </a:r>
            <a:r>
              <a:rPr lang="zh-CN" altLang="en-US"/>
              <a:t>冲突</a:t>
            </a:r>
            <a:endParaRPr lang="zh-CN" altLang="en-US"/>
          </a:p>
          <a:p>
            <a:r>
              <a:rPr lang="en-US" altLang="zh-CN"/>
              <a:t>topic5</a:t>
            </a:r>
            <a:r>
              <a:rPr lang="zh-CN" altLang="en-US"/>
              <a:t>：</a:t>
            </a:r>
            <a:r>
              <a:rPr lang="en-US" altLang="zh-CN"/>
              <a:t>“</a:t>
            </a:r>
            <a:r>
              <a:rPr lang="zh-CN" altLang="en-US"/>
              <a:t>自愿</a:t>
            </a:r>
            <a:r>
              <a:rPr lang="en-US" altLang="zh-CN"/>
              <a:t>”-&gt; </a:t>
            </a:r>
            <a:r>
              <a:rPr lang="zh-CN" altLang="en-US"/>
              <a:t>在就业意愿</a:t>
            </a:r>
            <a:endParaRPr lang="zh-CN" altLang="en-US"/>
          </a:p>
          <a:p>
            <a:r>
              <a:rPr lang="en-US" altLang="zh-CN"/>
              <a:t>topic7</a:t>
            </a:r>
            <a:r>
              <a:rPr lang="zh-CN" altLang="en-US"/>
              <a:t>：</a:t>
            </a:r>
            <a:r>
              <a:rPr lang="en-US" altLang="zh-CN"/>
              <a:t> “</a:t>
            </a:r>
            <a:r>
              <a:rPr lang="zh-CN" altLang="en-US"/>
              <a:t>健康</a:t>
            </a:r>
            <a:r>
              <a:rPr lang="en-US" altLang="zh-CN"/>
              <a:t>”-&gt; </a:t>
            </a:r>
            <a:r>
              <a:rPr lang="zh-CN" altLang="en-US"/>
              <a:t>健康体能条件</a:t>
            </a:r>
            <a:endParaRPr lang="zh-CN" altLang="en-US"/>
          </a:p>
          <a:p>
            <a:r>
              <a:rPr lang="en-US" altLang="zh-CN"/>
              <a:t>topic8</a:t>
            </a:r>
            <a:r>
              <a:rPr lang="zh-CN" altLang="en-US"/>
              <a:t>：</a:t>
            </a:r>
            <a:r>
              <a:rPr lang="en-US" altLang="zh-CN"/>
              <a:t> “</a:t>
            </a:r>
            <a:r>
              <a:rPr lang="zh-CN" altLang="en-US"/>
              <a:t>法定</a:t>
            </a:r>
            <a:r>
              <a:rPr lang="en-US" altLang="zh-CN"/>
              <a:t>”-&gt; </a:t>
            </a:r>
            <a:r>
              <a:rPr lang="zh-CN" altLang="en-US"/>
              <a:t>政策制度</a:t>
            </a:r>
            <a:r>
              <a:rPr lang="en-US" altLang="zh-CN"/>
              <a:t> </a:t>
            </a:r>
            <a:r>
              <a:rPr lang="zh-CN" altLang="en-US"/>
              <a:t>等</a:t>
            </a:r>
            <a:endParaRPr lang="zh-CN" altLang="en-US"/>
          </a:p>
          <a:p>
            <a:endParaRPr lang="zh-CN" altLang="en-US"/>
          </a:p>
          <a:p>
            <a:r>
              <a:rPr lang="zh-CN" altLang="en-US"/>
              <a:t>最后依据</a:t>
            </a:r>
            <a:r>
              <a:rPr lang="en-US" altLang="zh-CN"/>
              <a:t>lda</a:t>
            </a:r>
            <a:r>
              <a:rPr lang="zh-CN" altLang="en-US"/>
              <a:t>结果进行人工辨识，总共分了个体、技术、社会、政府制度四个维度，里面一共</a:t>
            </a:r>
            <a:r>
              <a:rPr lang="en-US" altLang="zh-CN"/>
              <a:t>10</a:t>
            </a:r>
            <a:r>
              <a:rPr lang="zh-CN" altLang="en-US"/>
              <a:t>个影响因素，</a:t>
            </a:r>
            <a:r>
              <a:rPr lang="zh-CN" altLang="en-US"/>
              <a:t>分别是：</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olidFill>
                  <a:schemeClr val="dk1"/>
                </a:solidFill>
                <a:sym typeface="+mn-ea"/>
              </a:rPr>
              <a:t>第二部分</a:t>
            </a:r>
            <a:r>
              <a:rPr lang="zh-CN" altLang="en-US">
                <a:solidFill>
                  <a:schemeClr val="dk1"/>
                </a:solidFill>
                <a:sym typeface="+mn-ea"/>
              </a:rPr>
              <a:t>使用决策实验室法，用影响矩阵算出中心度与</a:t>
            </a:r>
            <a:r>
              <a:rPr lang="zh-CN" altLang="en-US">
                <a:solidFill>
                  <a:schemeClr val="dk1"/>
                </a:solidFill>
                <a:sym typeface="+mn-ea"/>
              </a:rPr>
              <a:t>原因度。</a:t>
            </a:r>
            <a:endParaRPr lang="zh-CN" altLang="en-US">
              <a:solidFill>
                <a:schemeClr val="dk1"/>
              </a:solidFill>
              <a:sym typeface="+mn-ea"/>
            </a:endParaRPr>
          </a:p>
          <a:p>
            <a:r>
              <a:rPr lang="zh-CN" altLang="en-US">
                <a:solidFill>
                  <a:schemeClr val="dk1"/>
                </a:solidFill>
                <a:sym typeface="+mn-ea"/>
              </a:rPr>
              <a:t>这里是用相似度矩阵代替专家评分得到影响矩阵，先用词频</a:t>
            </a:r>
            <a:r>
              <a:rPr lang="en-US" altLang="zh-CN">
                <a:solidFill>
                  <a:schemeClr val="dk1"/>
                </a:solidFill>
                <a:sym typeface="+mn-ea"/>
              </a:rPr>
              <a:t>-</a:t>
            </a:r>
            <a:r>
              <a:rPr lang="zh-CN" altLang="en-US">
                <a:solidFill>
                  <a:schemeClr val="dk1"/>
                </a:solidFill>
                <a:sym typeface="+mn-ea"/>
              </a:rPr>
              <a:t>逆文档和词向量把文本数据转换成向量的数据形式，便于计算余弦相似度，并且做了归一化，得到的</a:t>
            </a:r>
            <a:r>
              <a:rPr lang="zh-CN" altLang="en-US">
                <a:solidFill>
                  <a:schemeClr val="dk1"/>
                </a:solidFill>
                <a:sym typeface="+mn-ea"/>
              </a:rPr>
              <a:t>矩阵刻画各影响因素之间的语义关联强度</a:t>
            </a:r>
            <a:endParaRPr lang="zh-CN" altLang="en-US">
              <a:solidFill>
                <a:schemeClr val="dk1"/>
              </a:solidFill>
              <a:sym typeface="+mn-ea"/>
            </a:endParaRPr>
          </a:p>
          <a:p>
            <a:endParaRPr lang="zh-CN" altLang="en-US">
              <a:solidFill>
                <a:schemeClr val="dk1"/>
              </a:solidFill>
              <a:sym typeface="+mn-ea"/>
            </a:endParaRPr>
          </a:p>
          <a:p>
            <a:r>
              <a:rPr lang="zh-CN" altLang="en-US">
                <a:solidFill>
                  <a:schemeClr val="dk1"/>
                </a:solidFill>
                <a:sym typeface="+mn-ea"/>
              </a:rPr>
              <a:t>里面中心度最高的</a:t>
            </a:r>
            <a:r>
              <a:rPr lang="en-US" altLang="zh-CN">
                <a:solidFill>
                  <a:schemeClr val="dk1"/>
                </a:solidFill>
                <a:sym typeface="+mn-ea"/>
              </a:rPr>
              <a:t>S3</a:t>
            </a:r>
            <a:r>
              <a:rPr lang="zh-CN" altLang="en-US">
                <a:solidFill>
                  <a:schemeClr val="dk1"/>
                </a:solidFill>
                <a:sym typeface="+mn-ea"/>
              </a:rPr>
              <a:t>因素在整个体系中的重要性最强，在后面的层级关心图可以看出</a:t>
            </a:r>
            <a:r>
              <a:rPr lang="zh-CN" altLang="en-US">
                <a:solidFill>
                  <a:schemeClr val="dk1"/>
                </a:solidFill>
                <a:sym typeface="+mn-ea"/>
              </a:rPr>
              <a:t>来</a:t>
            </a:r>
            <a:endParaRPr lang="zh-CN" altLang="en-US">
              <a:solidFill>
                <a:schemeClr val="dk1"/>
              </a:solidFill>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第三个</a:t>
            </a:r>
            <a:r>
              <a:rPr lang="en-US" altLang="zh-CN"/>
              <a:t>ISM</a:t>
            </a:r>
            <a:r>
              <a:rPr lang="zh-CN" altLang="en-US"/>
              <a:t>板块，先遍历出一个合适的阈值</a:t>
            </a:r>
            <a:r>
              <a:rPr lang="en-US" altLang="zh-CN"/>
              <a:t>λ</a:t>
            </a:r>
            <a:r>
              <a:rPr lang="zh-CN" altLang="en-US"/>
              <a:t>，这里取</a:t>
            </a:r>
            <a:r>
              <a:rPr lang="en-US" altLang="zh-CN"/>
              <a:t>0.72</a:t>
            </a:r>
            <a:r>
              <a:rPr lang="zh-CN" altLang="en-US"/>
              <a:t>时效果最佳，得到可达矩阵，意思就是某个影响因素是否对另一个因素有</a:t>
            </a:r>
            <a:r>
              <a:rPr lang="zh-CN" altLang="en-US"/>
              <a:t>显著影响，而且它是去影响其他因素的，还是被其他因素影响的</a:t>
            </a:r>
            <a:endParaRPr lang="zh-CN" altLang="en-US"/>
          </a:p>
          <a:p>
            <a:endParaRPr lang="zh-CN" altLang="en-US"/>
          </a:p>
          <a:p>
            <a:r>
              <a:rPr lang="zh-CN" altLang="en-US"/>
              <a:t>接着得到可达集与前因集，再次划分层次。</a:t>
            </a:r>
            <a:r>
              <a:rPr lang="en-US" altLang="zh-CN"/>
              <a:t>eg. S3</a:t>
            </a:r>
            <a:r>
              <a:rPr lang="zh-CN" altLang="en-US"/>
              <a:t>，可达集只有自己，然后其他因素全是它的前因集，也就是它是所有因素的</a:t>
            </a:r>
            <a:r>
              <a:rPr lang="zh-CN" altLang="en-US"/>
              <a:t>最终导向</a:t>
            </a:r>
            <a:endParaRPr lang="zh-CN" altLang="en-US"/>
          </a:p>
          <a:p>
            <a:endParaRPr lang="zh-CN" altLang="en-US"/>
          </a:p>
          <a:p>
            <a:r>
              <a:rPr lang="zh-CN" altLang="en-US"/>
              <a:t>最后，我们就得到一个层次关系图，分出表、浅、中、底，然后每个层级有对应的影响因素。这个图还是挺明显的，比较直观的因素都与个人有关，主要还是看主观能动性，然后比较偏底层引导因素的都是社会、政府的比较隐性的</a:t>
            </a:r>
            <a:r>
              <a:rPr lang="zh-CN" altLang="en-US"/>
              <a:t>影响。下面我就结合劳动经济学的</a:t>
            </a:r>
            <a:r>
              <a:rPr lang="zh-CN" altLang="en-US"/>
              <a:t>生命周期理论、人力资本理论、收入效应与替代效应理论及劳动供给决策理论，具体对结果进行</a:t>
            </a:r>
            <a:r>
              <a:rPr lang="zh-CN" altLang="en-US"/>
              <a:t>分析。</a:t>
            </a:r>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表层仅包含技能适应能力这一因素，它不仅是整个系统的核心枢纽，更是其他因素交互作用的最终体现。从人力资本理论来看，老年人职业生涯中积累的专业知识、学习能力，直接决定了他们在劳动力市场的竞争力。</a:t>
            </a:r>
            <a:endParaRPr lang="zh-CN" altLang="en-US"/>
          </a:p>
          <a:p>
            <a:r>
              <a:rPr lang="zh-CN" altLang="en-US"/>
              <a:t>掌握数字化技能的老年技术顾问，可以轻松应对新兴岗位需求；</a:t>
            </a:r>
            <a:endParaRPr lang="en-US" altLang="zh-CN"/>
          </a:p>
          <a:p>
            <a:r>
              <a:rPr lang="zh-CN" altLang="en-US"/>
              <a:t>而技能滞后的群体，往往被挤压到低端岗位</a:t>
            </a:r>
            <a:r>
              <a:rPr lang="en-US" altLang="zh-CN"/>
              <a:t>——</a:t>
            </a:r>
            <a:r>
              <a:rPr lang="zh-CN" altLang="en-US"/>
              <a:t>这正印证了经济学中的收入效应与替代效应理论。</a:t>
            </a:r>
            <a:endParaRPr lang="zh-CN" altLang="en-US"/>
          </a:p>
          <a:p>
            <a:r>
              <a:rPr lang="zh-CN" altLang="en-US"/>
              <a:t>因此，技能适应能力直接决定了老年劳动力在市场中的岗位适配结构，</a:t>
            </a:r>
            <a:r>
              <a:rPr lang="zh-CN" altLang="en-US"/>
              <a:t>是再就业体系中的关键</a:t>
            </a:r>
            <a:r>
              <a:rPr lang="en-US" altLang="zh-CN"/>
              <a:t> “</a:t>
            </a:r>
            <a:r>
              <a:rPr lang="zh-CN" altLang="en-US"/>
              <a:t>临门一脚</a:t>
            </a:r>
            <a:r>
              <a:rPr lang="en-US" altLang="zh-CN"/>
              <a:t>”</a:t>
            </a:r>
            <a:r>
              <a:rPr lang="zh-CN" altLang="en-US"/>
              <a:t>。</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要完成</a:t>
            </a:r>
            <a:r>
              <a:rPr lang="en-US" altLang="zh-CN" dirty="0"/>
              <a:t>“</a:t>
            </a:r>
            <a:r>
              <a:rPr lang="zh-CN" altLang="en-US" dirty="0"/>
              <a:t>临门一脚</a:t>
            </a:r>
            <a:r>
              <a:rPr lang="en-US" altLang="zh-CN" dirty="0"/>
              <a:t>”</a:t>
            </a:r>
            <a:r>
              <a:rPr lang="zh-CN" altLang="en-US" dirty="0"/>
              <a:t>需要三个前置条件，也就是浅层包含</a:t>
            </a:r>
            <a:r>
              <a:rPr lang="zh-CN" altLang="en-US" dirty="0"/>
              <a:t>的健康体能条件、再就业意愿和数字获取能力三个影响因素，它们是老年劳动力踏入再就业市场的前置条件与直接驱动力，深刻影响着个体的就业决策与参与程度。</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健康体能条件是生理基础，再就业意愿受到收入与替代效应共同影响，在经济压力或心理需求驱动下转化为就业行动，数字获取能力</a:t>
            </a:r>
            <a:r>
              <a:rPr lang="zh-CN" altLang="en-US" dirty="0">
                <a:sym typeface="+mn-ea"/>
              </a:rPr>
              <a:t>不仅直接决定老年劳动力对新兴就业形态的参与度，也反向作用于就业决策与岗位选择，体现为从传统就业向数字技能型就业的适应性转向，成为拓宽就业渠道的关键赋能要素。</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中层因素是一个链接个体与</a:t>
            </a:r>
            <a:r>
              <a:rPr lang="zh-CN" altLang="en-US"/>
              <a:t>宏观的</a:t>
            </a:r>
            <a:r>
              <a:rPr lang="zh-CN" altLang="en-US"/>
              <a:t>纽带，包含技术替代风险、家庭职责冲突、政策扶持力度和制度配套完善度四个影响因素，</a:t>
            </a:r>
            <a:endParaRPr lang="zh-CN" altLang="en-US"/>
          </a:p>
          <a:p>
            <a:endParaRPr lang="zh-CN" altLang="en-US"/>
          </a:p>
          <a:p>
            <a:r>
              <a:rPr lang="zh-CN" altLang="en-US"/>
              <a:t>老年劳动力若不能及时提升技能、向非常规任务岗位转移，将面临就业机会锐减的困境，导致老年劳动力市场呈现明显的技能两极分化现象，低技能老年群体的就业空间被不断压缩。</a:t>
            </a:r>
            <a:endParaRPr lang="zh-CN" altLang="en-US"/>
          </a:p>
          <a:p>
            <a:endParaRPr lang="zh-CN" altLang="en-US" b="1"/>
          </a:p>
          <a:p>
            <a:r>
              <a:rPr lang="zh-CN" altLang="en-US"/>
              <a:t>家庭职责冲突，比如</a:t>
            </a:r>
            <a:r>
              <a:rPr lang="zh-CN" altLang="en-US" b="1"/>
              <a:t>隔代抚养、配偶照料等家庭责任</a:t>
            </a:r>
            <a:r>
              <a:rPr lang="zh-CN"/>
              <a:t>，</a:t>
            </a:r>
            <a:r>
              <a:rPr lang="zh-CN" altLang="en-US"/>
              <a:t>为平衡家庭与工作，他们更倾向于选择工作时间灵活、强度较低的岗位，从而塑造了独特的劳动时间供给结构。</a:t>
            </a:r>
            <a:endParaRPr lang="zh-CN" altLang="en-US"/>
          </a:p>
          <a:p>
            <a:endParaRPr lang="zh-CN" altLang="en-US"/>
          </a:p>
          <a:p>
            <a:r>
              <a:rPr lang="zh-CN" altLang="en-US"/>
              <a:t>而政策扶持力度和制度配套完善度则充分体现了政府在调节劳动力市场中的积极作用。</a:t>
            </a:r>
            <a:endParaRPr lang="zh-CN" altLang="en-US"/>
          </a:p>
          <a:p>
            <a:r>
              <a:rPr lang="zh-CN" altLang="en-US"/>
              <a:t>两者共同构建起有利于老年劳动力再就业的政策支持体系，显著提升了市场的</a:t>
            </a:r>
            <a:r>
              <a:rPr lang="zh-CN" altLang="en-US" b="1"/>
              <a:t>活跃度与规范性</a:t>
            </a:r>
            <a:r>
              <a:rPr lang="zh-CN" altLang="en-US"/>
              <a:t>。</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底层包含职场年龄歧视、群体规范效应两个影响因素，它们作为深层的制度与文化约束，虽不直接作用于就业行为，但却潜移默化地塑造着老年劳动力再就业的社会环境与群体认知。</a:t>
            </a:r>
            <a:endParaRPr lang="zh-CN" altLang="en-US"/>
          </a:p>
          <a:p>
            <a:endParaRPr lang="zh-CN" altLang="en-US"/>
          </a:p>
          <a:p>
            <a:r>
              <a:rPr lang="zh-CN" altLang="en-US"/>
              <a:t>职场年龄歧视源于</a:t>
            </a:r>
            <a:r>
              <a:rPr lang="en-US" altLang="zh-CN"/>
              <a:t> “</a:t>
            </a:r>
            <a:r>
              <a:rPr lang="zh-CN" altLang="en-US"/>
              <a:t>统计性歧视</a:t>
            </a:r>
            <a:r>
              <a:rPr lang="en-US" altLang="zh-CN"/>
              <a:t>” </a:t>
            </a:r>
            <a:r>
              <a:rPr lang="zh-CN" altLang="en-US"/>
              <a:t>理论，雇主往往将年龄作为评判生产力的替代指标，忽视老年个体间的能力差异，在招聘、晋升、薪资评定等环节设置隐形门槛，使老年劳动力面临严重的就业排斥，形成劳动力市场中的横向与纵向隔离结构，将他们挤压至边缘岗位，限制其职业发展与收入增长。</a:t>
            </a:r>
            <a:endParaRPr lang="zh-CN" altLang="en-US"/>
          </a:p>
          <a:p>
            <a:endParaRPr lang="zh-CN" altLang="en-US"/>
          </a:p>
          <a:p>
            <a:r>
              <a:rPr lang="zh-CN" altLang="en-US"/>
              <a:t>群体规范效应则深受</a:t>
            </a:r>
            <a:r>
              <a:rPr lang="en-US" altLang="zh-CN"/>
              <a:t> “</a:t>
            </a:r>
            <a:r>
              <a:rPr lang="zh-CN" altLang="en-US"/>
              <a:t>社会规范理论</a:t>
            </a:r>
            <a:r>
              <a:rPr lang="en-US" altLang="zh-CN"/>
              <a:t>” </a:t>
            </a:r>
            <a:r>
              <a:rPr lang="zh-CN" altLang="en-US"/>
              <a:t>影响，传统观念将老年阶段定义为</a:t>
            </a:r>
            <a:r>
              <a:rPr lang="en-US" altLang="zh-CN"/>
              <a:t> “</a:t>
            </a:r>
            <a:r>
              <a:rPr lang="zh-CN" altLang="en-US"/>
              <a:t>退休安享晚年</a:t>
            </a:r>
            <a:r>
              <a:rPr lang="en-US" altLang="zh-CN"/>
              <a:t>” </a:t>
            </a:r>
            <a:r>
              <a:rPr lang="zh-CN" altLang="en-US"/>
              <a:t>的时期，同辈群体的退休选择与社会舆论压力，容易让老年人形成</a:t>
            </a:r>
            <a:r>
              <a:rPr lang="en-US" altLang="zh-CN"/>
              <a:t> “</a:t>
            </a:r>
            <a:r>
              <a:rPr lang="zh-CN" altLang="en-US"/>
              <a:t>就业非必需</a:t>
            </a:r>
            <a:r>
              <a:rPr lang="en-US" altLang="zh-CN"/>
              <a:t>” </a:t>
            </a:r>
            <a:r>
              <a:rPr lang="zh-CN" altLang="en-US"/>
              <a:t>的认知，即便自身具备就业意愿与能力，也可能因社会认同的压力而放弃或推迟再就业计划。</a:t>
            </a:r>
            <a:endParaRPr lang="zh-CN" altLang="en-US"/>
          </a:p>
          <a:p>
            <a:endParaRPr lang="zh-CN" altLang="en-US"/>
          </a:p>
          <a:p>
            <a:r>
              <a:rPr lang="zh-CN" altLang="en-US"/>
              <a:t>这两种底层因素如同无形的枷锁，从社会文化与制度层面束缚着老年劳动力的再就业行为，成为阻碍老年人力资源有效开发的顽固障碍。</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最终，我们得到了一个由表及里、从显著特征到隐形</a:t>
            </a:r>
            <a:r>
              <a:rPr lang="zh-CN" altLang="en-US"/>
              <a:t>机理的</a:t>
            </a:r>
            <a:r>
              <a:rPr lang="zh-CN" altLang="en-US"/>
              <a:t>模型结构。</a:t>
            </a:r>
            <a:endParaRPr lang="zh-CN" altLang="en-US"/>
          </a:p>
          <a:p>
            <a:endParaRPr lang="zh-CN" altLang="en-US"/>
          </a:p>
          <a:p>
            <a:r>
              <a:rPr lang="zh-CN" altLang="en-US"/>
              <a:t>从劳动经济学理论视角看，老年劳动力再就业本质上是</a:t>
            </a:r>
            <a:r>
              <a:rPr lang="zh-CN" altLang="en-US" b="1"/>
              <a:t>人力资本积累</a:t>
            </a:r>
            <a:r>
              <a:rPr lang="zh-CN" altLang="en-US"/>
              <a:t>、</a:t>
            </a:r>
            <a:r>
              <a:rPr lang="zh-CN" altLang="en-US" b="1"/>
              <a:t>政策环境支持</a:t>
            </a:r>
            <a:r>
              <a:rPr lang="zh-CN" altLang="en-US"/>
              <a:t>、</a:t>
            </a:r>
            <a:r>
              <a:rPr lang="zh-CN" altLang="en-US" b="1"/>
              <a:t>技术进步适配</a:t>
            </a:r>
            <a:r>
              <a:rPr lang="zh-CN" altLang="en-US"/>
              <a:t>与</a:t>
            </a:r>
            <a:r>
              <a:rPr lang="zh-CN" altLang="en-US" b="1"/>
              <a:t>社会文化建构</a:t>
            </a:r>
            <a:r>
              <a:rPr lang="zh-CN" altLang="en-US"/>
              <a:t>共同作用的结果，任一环节的失衡都会导致整体系统效能的损耗。</a:t>
            </a:r>
            <a:br>
              <a:rPr lang="zh-CN" altLang="en-US"/>
            </a:br>
            <a:br>
              <a:rPr lang="zh-CN" altLang="en-US"/>
            </a:br>
            <a:r>
              <a:rPr lang="zh-CN" altLang="en-US"/>
              <a:t>那么，我们就得到这四个方面</a:t>
            </a:r>
            <a:r>
              <a:rPr lang="zh-CN" altLang="en-US"/>
              <a:t>的启示</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首先在个体层面，要强化人力资本投资，提升就业韧性，比如精准技能培训可以开发</a:t>
            </a:r>
            <a:r>
              <a:rPr lang="en-US" altLang="zh-CN"/>
              <a:t>“</a:t>
            </a:r>
            <a:r>
              <a:rPr lang="zh-CN" altLang="en-US"/>
              <a:t>银发人才</a:t>
            </a:r>
            <a:r>
              <a:rPr lang="en-US" altLang="zh-CN"/>
              <a:t>”</a:t>
            </a:r>
            <a:r>
              <a:rPr lang="zh-CN" altLang="en-US"/>
              <a:t>专项培训项目，使用智能设备辅助提高生产效率，让老年群体更有竞争力；还有对大龄劳动力健康的管理与监测，针对不同健康程度的老年群体可以适配不同的工种，</a:t>
            </a:r>
            <a:r>
              <a:rPr lang="zh-CN" altLang="en-US"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以健康资本增值延长职业生命周期</a:t>
            </a:r>
            <a:r>
              <a:rPr lang="zh-CN" altLang="en-US"/>
              <a:t>。</a:t>
            </a:r>
            <a:endParaRPr lang="zh-CN" altLang="en-US"/>
          </a:p>
          <a:p>
            <a:endParaRPr lang="zh-CN" altLang="en-US"/>
          </a:p>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在社会层面，可以</a:t>
            </a:r>
            <a:r>
              <a:rPr lang="zh-CN" b="1">
                <a:gradFill>
                  <a:gsLst>
                    <a:gs pos="50000">
                      <a:srgbClr val="3474CB"/>
                    </a:gs>
                    <a:gs pos="0">
                      <a:srgbClr val="03BEC1"/>
                    </a:gs>
                    <a:gs pos="100000">
                      <a:srgbClr val="8E52DF"/>
                    </a:gs>
                  </a:gsLst>
                  <a:lin ang="5400000" scaled="1"/>
                </a:gradFill>
                <a:ea typeface="宋体" panose="02010600030101010101" pitchFamily="2" charset="-122"/>
                <a:sym typeface="+mn-ea"/>
              </a:rPr>
              <a:t>优化就业生态，重塑社会认知</a:t>
            </a:r>
            <a:r>
              <a:rPr lang="zh-CN" altLang="en-US"/>
              <a:t>。</a:t>
            </a:r>
            <a:endParaRPr lang="zh-CN" altLang="en-US"/>
          </a:p>
          <a:p>
            <a:endParaRPr lang="zh-CN" altLang="en-US"/>
          </a:p>
          <a:p>
            <a:r>
              <a:rPr lang="zh-CN" altLang="en-US"/>
              <a:t>摒除</a:t>
            </a:r>
            <a:r>
              <a:rPr lang="en-US" altLang="zh-CN"/>
              <a:t>“</a:t>
            </a:r>
            <a:r>
              <a:rPr lang="zh-CN" altLang="en-US"/>
              <a:t>雇主歧视</a:t>
            </a:r>
            <a:r>
              <a:rPr lang="en-US" altLang="zh-CN"/>
              <a:t>”“</a:t>
            </a:r>
            <a:r>
              <a:rPr lang="zh-CN" altLang="en-US"/>
              <a:t>年龄歧视</a:t>
            </a:r>
            <a:r>
              <a:rPr lang="en-US" altLang="zh-CN"/>
              <a:t>”</a:t>
            </a:r>
            <a:r>
              <a:rPr lang="zh-CN" altLang="en-US"/>
              <a:t>，对企业行业倡导</a:t>
            </a:r>
            <a:r>
              <a:rPr lang="en-US" altLang="zh-CN"/>
              <a:t>“</a:t>
            </a:r>
            <a:r>
              <a:rPr lang="zh-CN" altLang="en-US"/>
              <a:t>年龄多样性</a:t>
            </a:r>
            <a:r>
              <a:rPr lang="en-US" altLang="zh-CN"/>
              <a:t>”</a:t>
            </a:r>
            <a:r>
              <a:rPr lang="zh-CN" altLang="en-US"/>
              <a:t>，利用老年员工的经验优势与青年员工的技术优势形成</a:t>
            </a:r>
            <a:r>
              <a:rPr lang="zh-CN" altLang="en-US"/>
              <a:t>互补</a:t>
            </a:r>
            <a:endParaRPr lang="zh-CN" altLang="en-US"/>
          </a:p>
          <a:p>
            <a:r>
              <a:rPr lang="zh-CN" altLang="en-US"/>
              <a:t>新兴业态可以关注于开发与老年人力资本特征契合的服务、文旅康养、知识付费领域等，借助数字技术降低就业</a:t>
            </a:r>
            <a:r>
              <a:rPr lang="zh-CN" altLang="en-US"/>
              <a:t>门槛</a:t>
            </a:r>
            <a:endParaRPr lang="zh-CN" altLang="en-US"/>
          </a:p>
          <a:p>
            <a:endParaRPr lang="zh-CN" altLang="en-US"/>
          </a:p>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在政府层面，要</a:t>
            </a:r>
            <a:r>
              <a:rPr lang="zh-CN" b="1">
                <a:gradFill>
                  <a:gsLst>
                    <a:gs pos="50000">
                      <a:srgbClr val="3474CB"/>
                    </a:gs>
                    <a:gs pos="0">
                      <a:srgbClr val="03BEC1"/>
                    </a:gs>
                    <a:gs pos="100000">
                      <a:srgbClr val="8E52DF"/>
                    </a:gs>
                  </a:gsLst>
                  <a:lin ang="5400000" scaled="1"/>
                </a:gradFill>
                <a:ea typeface="宋体" panose="02010600030101010101" pitchFamily="2" charset="-122"/>
                <a:sym typeface="+mn-ea"/>
              </a:rPr>
              <a:t>完善政策体系，消除制度性障碍</a:t>
            </a:r>
            <a:r>
              <a:rPr lang="zh-CN" altLang="en-US"/>
              <a:t>。</a:t>
            </a:r>
            <a:endParaRPr lang="zh-CN" altLang="en-US"/>
          </a:p>
          <a:p>
            <a:r>
              <a:rPr lang="zh-CN" altLang="en-US"/>
              <a:t>秉持</a:t>
            </a:r>
            <a:r>
              <a:rPr lang="zh-CN" altLang="en-US"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小步调整、弹性实施、分类推进、统筹兼顾的原则</a:t>
            </a:r>
            <a:r>
              <a:rPr lang="zh-CN" altLang="en-US"/>
              <a:t>，构建系统化政策支持框架</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在技术层面，可以通过智能设备的适老化设计和技术赋能的就业场景，</a:t>
            </a:r>
            <a:r>
              <a:rPr lang="zh-CN" b="1">
                <a:gradFill>
                  <a:gsLst>
                    <a:gs pos="50000">
                      <a:srgbClr val="3474CB"/>
                    </a:gs>
                    <a:gs pos="0">
                      <a:srgbClr val="03BEC1"/>
                    </a:gs>
                    <a:gs pos="100000">
                      <a:srgbClr val="8E52DF"/>
                    </a:gs>
                  </a:gsLst>
                  <a:lin ang="5400000" scaled="1"/>
                </a:gradFill>
                <a:ea typeface="宋体" panose="02010600030101010101" pitchFamily="2" charset="-122"/>
                <a:sym typeface="+mn-ea"/>
              </a:rPr>
              <a:t>推动适老化改造，降低数字鸿沟</a:t>
            </a:r>
            <a:endParaRPr lang="zh-CN" b="1">
              <a:gradFill>
                <a:gsLst>
                  <a:gs pos="50000">
                    <a:srgbClr val="3474CB"/>
                  </a:gs>
                  <a:gs pos="0">
                    <a:srgbClr val="03BEC1"/>
                  </a:gs>
                  <a:gs pos="100000">
                    <a:srgbClr val="8E52DF"/>
                  </a:gs>
                </a:gsLst>
                <a:lin ang="5400000" scaled="1"/>
              </a:gradFill>
              <a:ea typeface="宋体" panose="02010600030101010101" pitchFamily="2" charset="-122"/>
            </a:endParaRPr>
          </a:p>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总体来说，破解老年劳动力再就业难题需以</a:t>
            </a:r>
            <a:r>
              <a:rPr lang="en-US" altLang="zh-CN"/>
              <a:t>“</a:t>
            </a:r>
            <a:r>
              <a:rPr lang="zh-CN" altLang="en-US"/>
              <a:t>分层干预、协同赋能</a:t>
            </a:r>
            <a:r>
              <a:rPr lang="en-US" altLang="zh-CN"/>
              <a:t>”</a:t>
            </a:r>
            <a:r>
              <a:rPr lang="zh-CN" altLang="en-US"/>
              <a:t>为原则：</a:t>
            </a:r>
            <a:endParaRPr lang="zh-CN" altLang="en-US"/>
          </a:p>
          <a:p>
            <a:r>
              <a:rPr lang="zh-CN" altLang="en-US"/>
              <a:t>从底层破除歧视性制度与文化壁垒，</a:t>
            </a:r>
            <a:endParaRPr lang="zh-CN" altLang="en-US"/>
          </a:p>
          <a:p>
            <a:r>
              <a:rPr lang="zh-CN" altLang="en-US"/>
              <a:t>在中层完善政策支持与市场机制，</a:t>
            </a:r>
            <a:endParaRPr lang="zh-CN" altLang="en-US"/>
          </a:p>
          <a:p>
            <a:r>
              <a:rPr lang="zh-CN" altLang="en-US"/>
              <a:t>浅层</a:t>
            </a:r>
            <a:r>
              <a:rPr lang="zh-CN" altLang="en-US"/>
              <a:t>上提升个体禀赋与技术适配性，</a:t>
            </a:r>
            <a:endParaRPr lang="zh-CN" altLang="en-US"/>
          </a:p>
          <a:p>
            <a:r>
              <a:rPr lang="zh-CN" altLang="en-US"/>
              <a:t>最终</a:t>
            </a:r>
            <a:r>
              <a:rPr lang="zh-CN" altLang="en-US"/>
              <a:t>在表层释放人力资本价值。</a:t>
            </a:r>
            <a:endParaRPr lang="zh-CN" altLang="en-US"/>
          </a:p>
          <a:p>
            <a:r>
              <a:rPr lang="zh-CN" altLang="en-US"/>
              <a:t>通过多主体联动与多维度改革，最终实现老年劳动力资源的高效配置，使其成为应对人口老龄化挑战的积极力量。</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TextBox 2"/>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dirty="0">
              <a:solidFill>
                <a:schemeClr val="tx1">
                  <a:alpha val="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9" name="圆角矩形 8"/>
          <p:cNvSpPr/>
          <p:nvPr userDrawn="1"/>
        </p:nvSpPr>
        <p:spPr>
          <a:xfrm flipH="1">
            <a:off x="-1" y="383060"/>
            <a:ext cx="12192000" cy="667265"/>
          </a:xfrm>
          <a:prstGeom prst="roundRect">
            <a:avLst>
              <a:gd name="adj" fmla="val 0"/>
            </a:avLst>
          </a:prstGeom>
          <a:gradFill>
            <a:gsLst>
              <a:gs pos="13000">
                <a:srgbClr val="E6CEBC">
                  <a:alpha val="0"/>
                </a:srgbClr>
              </a:gs>
              <a:gs pos="100000">
                <a:srgbClr val="E6CEBC">
                  <a:alpha val="40000"/>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平行四边形 1"/>
          <p:cNvSpPr/>
          <p:nvPr userDrawn="1"/>
        </p:nvSpPr>
        <p:spPr>
          <a:xfrm>
            <a:off x="10073640" y="759292"/>
            <a:ext cx="1756410" cy="157236"/>
          </a:xfrm>
          <a:prstGeom prst="parallelogram">
            <a:avLst>
              <a:gd name="adj" fmla="val 52561"/>
            </a:avLst>
          </a:prstGeom>
          <a:solidFill>
            <a:srgbClr val="E6CEBC">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userDrawn="1"/>
        </p:nvGrpSpPr>
        <p:grpSpPr>
          <a:xfrm rot="2700000">
            <a:off x="389019" y="429694"/>
            <a:ext cx="548840" cy="548840"/>
            <a:chOff x="871795" y="3048012"/>
            <a:chExt cx="2935580" cy="2935588"/>
          </a:xfrm>
        </p:grpSpPr>
        <p:sp>
          <p:nvSpPr>
            <p:cNvPr id="6" name="圆角矩形 5"/>
            <p:cNvSpPr/>
            <p:nvPr/>
          </p:nvSpPr>
          <p:spPr>
            <a:xfrm>
              <a:off x="871795" y="3461420"/>
              <a:ext cx="2522179" cy="2522180"/>
            </a:xfrm>
            <a:prstGeom prst="roundRect">
              <a:avLst>
                <a:gd name="adj" fmla="val 13590"/>
              </a:avLst>
            </a:prstGeom>
            <a:solidFill>
              <a:srgbClr val="3264CF"/>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2474561" y="3048012"/>
              <a:ext cx="1332814" cy="1332813"/>
            </a:xfrm>
            <a:prstGeom prst="roundRect">
              <a:avLst>
                <a:gd name="adj" fmla="val 13590"/>
              </a:avLst>
            </a:prstGeom>
            <a:solidFill>
              <a:srgbClr val="4A82DE"/>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PA-文本框 8"/>
          <p:cNvSpPr txBox="1"/>
          <p:nvPr userDrawn="1">
            <p:custDataLst>
              <p:tags r:id="rId2"/>
            </p:custDataLst>
          </p:nvPr>
        </p:nvSpPr>
        <p:spPr>
          <a:xfrm>
            <a:off x="9993629" y="512779"/>
            <a:ext cx="1899133" cy="400110"/>
          </a:xfrm>
          <a:prstGeom prst="rect">
            <a:avLst/>
          </a:prstGeom>
          <a:noFill/>
        </p:spPr>
        <p:txBody>
          <a:bodyPr vert="horz" wrap="square" rtlCol="0">
            <a:spAutoFit/>
          </a:bodyPr>
          <a:lstStyle/>
          <a:p>
            <a:pPr algn="ctr"/>
            <a:r>
              <a:rPr lang="zh-CN" altLang="en-US" sz="2000" b="0" i="1" dirty="0">
                <a:solidFill>
                  <a:srgbClr val="2E61FA"/>
                </a:solidFill>
                <a:effectLst>
                  <a:outerShdw blurRad="25400" dist="25400" dir="2700000" algn="tl" rotWithShape="0">
                    <a:prstClr val="black">
                      <a:alpha val="15000"/>
                    </a:prstClr>
                  </a:outerShdw>
                </a:effectLst>
                <a:latin typeface="思源宋体 CN Heavy" panose="02020900000000000000" pitchFamily="18" charset="-122"/>
                <a:ea typeface="思源宋体 CN Heavy" panose="02020900000000000000" pitchFamily="18" charset="-122"/>
                <a:cs typeface="Aa楷体" panose="02000500000000000000" pitchFamily="2" charset="-122"/>
                <a:sym typeface="阿里巴巴普惠体" panose="00020600040101010101" pitchFamily="18" charset="-122"/>
              </a:rPr>
              <a:t>就业指导 </a:t>
            </a:r>
            <a:r>
              <a:rPr lang="zh-CN" altLang="en-US" sz="1600" b="0" i="1" dirty="0">
                <a:solidFill>
                  <a:srgbClr val="2E61FA"/>
                </a:solidFill>
                <a:effectLst>
                  <a:outerShdw blurRad="25400" dist="25400" dir="2700000" algn="tl" rotWithShape="0">
                    <a:prstClr val="black">
                      <a:alpha val="15000"/>
                    </a:prstClr>
                  </a:outerShdw>
                </a:effectLst>
                <a:latin typeface="思源宋体 CN Heavy" panose="02020900000000000000" pitchFamily="18" charset="-122"/>
                <a:ea typeface="思源宋体 CN Heavy" panose="02020900000000000000" pitchFamily="18" charset="-122"/>
                <a:cs typeface="Aa楷体" panose="02000500000000000000" pitchFamily="2" charset="-122"/>
                <a:sym typeface="阿里巴巴普惠体" panose="00020600040101010101" pitchFamily="18" charset="-122"/>
              </a:rPr>
              <a:t>培训</a:t>
            </a:r>
            <a:endParaRPr lang="zh-CN" altLang="en-US" sz="1600" b="0" i="1" dirty="0">
              <a:solidFill>
                <a:srgbClr val="2E61FA"/>
              </a:solidFill>
              <a:effectLst>
                <a:outerShdw blurRad="25400" dist="25400" dir="2700000" algn="tl" rotWithShape="0">
                  <a:prstClr val="black">
                    <a:alpha val="15000"/>
                  </a:prstClr>
                </a:outerShdw>
              </a:effectLst>
              <a:latin typeface="思源宋体 CN Heavy" panose="02020900000000000000" pitchFamily="18" charset="-122"/>
              <a:ea typeface="思源宋体 CN Heavy" panose="02020900000000000000" pitchFamily="18" charset="-122"/>
              <a:cs typeface="Aa楷体" panose="02000500000000000000" pitchFamily="2" charset="-122"/>
              <a:sym typeface="阿里巴巴普惠体" panose="00020600040101010101" pitchFamily="18"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Shape 15"/>
        <p:cNvGrpSpPr/>
        <p:nvPr/>
      </p:nvGrpSpPr>
      <p:grpSpPr>
        <a:xfrm>
          <a:off x="0" y="0"/>
          <a:ext cx="0" cy="0"/>
          <a:chOff x="0" y="0"/>
          <a:chExt cx="0" cy="0"/>
        </a:xfrm>
      </p:grpSpPr>
      <p:grpSp>
        <p:nvGrpSpPr>
          <p:cNvPr id="14" name="组合 13"/>
          <p:cNvGrpSpPr/>
          <p:nvPr userDrawn="1"/>
        </p:nvGrpSpPr>
        <p:grpSpPr>
          <a:xfrm>
            <a:off x="3320458" y="458741"/>
            <a:ext cx="5572519" cy="785143"/>
            <a:chOff x="1679798" y="438128"/>
            <a:chExt cx="5572519" cy="785143"/>
          </a:xfrm>
        </p:grpSpPr>
        <p:sp>
          <p:nvSpPr>
            <p:cNvPr id="23" name="文本框 22"/>
            <p:cNvSpPr txBox="1"/>
            <p:nvPr/>
          </p:nvSpPr>
          <p:spPr>
            <a:xfrm>
              <a:off x="3142618" y="438128"/>
              <a:ext cx="2646878" cy="584775"/>
            </a:xfrm>
            <a:prstGeom prst="rect">
              <a:avLst/>
            </a:prstGeom>
            <a:noFill/>
          </p:spPr>
          <p:txBody>
            <a:bodyPr wrap="none" rtlCol="0">
              <a:spAutoFit/>
              <a:scene3d>
                <a:camera prst="orthographicFront"/>
                <a:lightRig rig="threePt" dir="t"/>
              </a:scene3d>
              <a:sp3d contourW="12700"/>
            </a:bodyPr>
            <a:lstStyle/>
            <a:p>
              <a:pPr lvl="0" algn="ctr">
                <a:defRPr/>
              </a:pPr>
              <a:r>
                <a:rPr lang="zh-CN" altLang="en-US" sz="3200" b="1" dirty="0">
                  <a:solidFill>
                    <a:schemeClr val="tx1">
                      <a:lumMod val="85000"/>
                      <a:lumOff val="15000"/>
                    </a:schemeClr>
                  </a:solidFill>
                  <a:latin typeface="思源黑体" panose="020B0500000000000000" pitchFamily="34" charset="-122"/>
                  <a:ea typeface="思源黑体" panose="020B0500000000000000" pitchFamily="34" charset="-122"/>
                </a:rPr>
                <a:t>成功项目展示</a:t>
              </a:r>
              <a:endParaRPr lang="zh-CN" altLang="en-US" sz="3200" b="1" dirty="0">
                <a:solidFill>
                  <a:schemeClr val="tx1">
                    <a:lumMod val="85000"/>
                    <a:lumOff val="15000"/>
                  </a:schemeClr>
                </a:solidFill>
                <a:latin typeface="思源黑体" panose="020B0500000000000000" pitchFamily="34" charset="-122"/>
                <a:ea typeface="思源黑体" panose="020B0500000000000000" pitchFamily="34" charset="-122"/>
              </a:endParaRPr>
            </a:p>
          </p:txBody>
        </p:sp>
        <p:sp>
          <p:nvSpPr>
            <p:cNvPr id="24" name="文本框 23"/>
            <p:cNvSpPr txBox="1"/>
            <p:nvPr/>
          </p:nvSpPr>
          <p:spPr>
            <a:xfrm>
              <a:off x="1679798" y="977050"/>
              <a:ext cx="5572519" cy="246221"/>
            </a:xfrm>
            <a:prstGeom prst="rect">
              <a:avLst/>
            </a:prstGeom>
            <a:noFill/>
          </p:spPr>
          <p:txBody>
            <a:bodyPr wrap="square" rtlCol="0">
              <a:spAutoFit/>
              <a:scene3d>
                <a:camera prst="orthographicFront"/>
                <a:lightRig rig="threePt" dir="t"/>
              </a:scene3d>
              <a:sp3d contourW="12700"/>
            </a:bodyPr>
            <a:lstStyle/>
            <a:p>
              <a:pPr lvl="0" algn="ctr">
                <a:defRPr/>
              </a:pPr>
              <a:r>
                <a:rPr lang="en-US" altLang="zh-CN" sz="1000" dirty="0">
                  <a:solidFill>
                    <a:schemeClr val="bg1">
                      <a:lumMod val="50000"/>
                    </a:schemeClr>
                  </a:solidFill>
                  <a:latin typeface="思源黑体" panose="020B0500000000000000" pitchFamily="34" charset="-122"/>
                  <a:ea typeface="思源黑体" panose="020B0500000000000000" pitchFamily="34" charset="-122"/>
                </a:rPr>
                <a:t>Financial industry investment return analysis marketing report</a:t>
              </a:r>
              <a:endParaRPr lang="zh-CN" altLang="en-US" sz="1000" dirty="0">
                <a:solidFill>
                  <a:schemeClr val="bg1">
                    <a:lumMod val="50000"/>
                  </a:schemeClr>
                </a:solidFill>
                <a:latin typeface="思源黑体" panose="020B0500000000000000" pitchFamily="34" charset="-122"/>
                <a:ea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8" Type="http://schemas.openxmlformats.org/officeDocument/2006/relationships/theme" Target="../theme/theme1.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50.xml"/><Relationship Id="rId2" Type="http://schemas.openxmlformats.org/officeDocument/2006/relationships/slideLayout" Target="../slideLayouts/slideLayout49.xml"/><Relationship Id="rId1"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Lst>
  <mc:AlternateContent xmlns:mc="http://schemas.openxmlformats.org/markup-compatibility/2006">
    <mc:Choice xmlns:p14="http://schemas.microsoft.com/office/powerpoint/2010/main" Requires="p14">
      <p:transition spd="slow" p14:dur="2000"/>
    </mc:Choice>
    <mc:Fallback>
      <p:transition spd="slow"/>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Lst>
  <mc:AlternateContent xmlns:mc="http://schemas.openxmlformats.org/markup-compatibility/2006">
    <mc:Choice xmlns:p14="http://schemas.microsoft.com/office/powerpoint/2010/main" Requires="p14">
      <p:transition spd="slow" p14:dur="2000"/>
    </mc:Choice>
    <mc:Fallback>
      <p:transition spd="slow"/>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0" Type="http://schemas.openxmlformats.org/officeDocument/2006/relationships/notesSlide" Target="../notesSlides/notesSlide2.xml"/><Relationship Id="rId2" Type="http://schemas.openxmlformats.org/officeDocument/2006/relationships/tags" Target="../tags/tag7.xml"/><Relationship Id="rId19" Type="http://schemas.openxmlformats.org/officeDocument/2006/relationships/slideLayout" Target="../slideLayouts/slideLayout2.xml"/><Relationship Id="rId18" Type="http://schemas.openxmlformats.org/officeDocument/2006/relationships/tags" Target="../tags/tag23.xml"/><Relationship Id="rId17" Type="http://schemas.openxmlformats.org/officeDocument/2006/relationships/tags" Target="../tags/tag22.xml"/><Relationship Id="rId16" Type="http://schemas.openxmlformats.org/officeDocument/2006/relationships/tags" Target="../tags/tag21.xml"/><Relationship Id="rId15" Type="http://schemas.openxmlformats.org/officeDocument/2006/relationships/tags" Target="../tags/tag20.xml"/><Relationship Id="rId14" Type="http://schemas.openxmlformats.org/officeDocument/2006/relationships/tags" Target="../tags/tag19.xml"/><Relationship Id="rId13" Type="http://schemas.openxmlformats.org/officeDocument/2006/relationships/tags" Target="../tags/tag18.xml"/><Relationship Id="rId12" Type="http://schemas.openxmlformats.org/officeDocument/2006/relationships/tags" Target="../tags/tag17.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9" Type="http://schemas.openxmlformats.org/officeDocument/2006/relationships/diagramQuickStyle" Target="../diagrams/quickStyle2.xml"/><Relationship Id="rId8" Type="http://schemas.openxmlformats.org/officeDocument/2006/relationships/diagramLayout" Target="../diagrams/layout2.xml"/><Relationship Id="rId7" Type="http://schemas.openxmlformats.org/officeDocument/2006/relationships/diagramData" Target="../diagrams/data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3" Type="http://schemas.openxmlformats.org/officeDocument/2006/relationships/notesSlide" Target="../notesSlides/notesSlide3.xml"/><Relationship Id="rId12" Type="http://schemas.openxmlformats.org/officeDocument/2006/relationships/slideLayout" Target="../slideLayouts/slideLayout46.xml"/><Relationship Id="rId11" Type="http://schemas.microsoft.com/office/2007/relationships/diagramDrawing" Target="../diagrams/drawing2.xml"/><Relationship Id="rId10" Type="http://schemas.openxmlformats.org/officeDocument/2006/relationships/diagramColors" Target="../diagrams/colors2.xml"/><Relationship Id="rId1" Type="http://schemas.openxmlformats.org/officeDocument/2006/relationships/tags" Target="../tags/tag24.xml"/></Relationships>
</file>

<file path=ppt/slides/_rels/slide4.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4" Type="http://schemas.openxmlformats.org/officeDocument/2006/relationships/notesSlide" Target="../notesSlides/notesSlide4.xml"/><Relationship Id="rId23" Type="http://schemas.openxmlformats.org/officeDocument/2006/relationships/slideLayout" Target="../slideLayouts/slideLayout46.xml"/><Relationship Id="rId22" Type="http://schemas.microsoft.com/office/2007/relationships/diagramDrawing" Target="../diagrams/drawing3.xml"/><Relationship Id="rId21" Type="http://schemas.openxmlformats.org/officeDocument/2006/relationships/diagramColors" Target="../diagrams/colors3.xml"/><Relationship Id="rId20" Type="http://schemas.openxmlformats.org/officeDocument/2006/relationships/diagramQuickStyle" Target="../diagrams/quickStyle3.xml"/><Relationship Id="rId2" Type="http://schemas.openxmlformats.org/officeDocument/2006/relationships/tags" Target="../tags/tag26.xml"/><Relationship Id="rId19" Type="http://schemas.openxmlformats.org/officeDocument/2006/relationships/diagramLayout" Target="../diagrams/layout3.xml"/><Relationship Id="rId18" Type="http://schemas.openxmlformats.org/officeDocument/2006/relationships/diagramData" Target="../diagrams/data3.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5.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4" Type="http://schemas.openxmlformats.org/officeDocument/2006/relationships/notesSlide" Target="../notesSlides/notesSlide5.xml"/><Relationship Id="rId23" Type="http://schemas.openxmlformats.org/officeDocument/2006/relationships/slideLayout" Target="../slideLayouts/slideLayout46.xml"/><Relationship Id="rId22" Type="http://schemas.openxmlformats.org/officeDocument/2006/relationships/image" Target="../media/image4.svg"/><Relationship Id="rId21" Type="http://schemas.openxmlformats.org/officeDocument/2006/relationships/image" Target="../media/image3.png"/><Relationship Id="rId20" Type="http://schemas.openxmlformats.org/officeDocument/2006/relationships/tags" Target="../tags/tag60.xml"/><Relationship Id="rId2" Type="http://schemas.openxmlformats.org/officeDocument/2006/relationships/tags" Target="../tags/tag42.xml"/><Relationship Id="rId19" Type="http://schemas.openxmlformats.org/officeDocument/2006/relationships/tags" Target="../tags/tag59.xml"/><Relationship Id="rId18" Type="http://schemas.openxmlformats.org/officeDocument/2006/relationships/tags" Target="../tags/tag58.xml"/><Relationship Id="rId17" Type="http://schemas.openxmlformats.org/officeDocument/2006/relationships/tags" Target="../tags/tag57.xml"/><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4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tags" Target="../tags/tag6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6.xml"/><Relationship Id="rId1" Type="http://schemas.openxmlformats.org/officeDocument/2006/relationships/tags" Target="../tags/tag62.xml"/></Relationships>
</file>

<file path=ppt/slides/_rels/slide8.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image" Target="../media/image6.wmf"/><Relationship Id="rId4" Type="http://schemas.openxmlformats.org/officeDocument/2006/relationships/oleObject" Target="../embeddings/oleObject1.bin"/><Relationship Id="rId33" Type="http://schemas.openxmlformats.org/officeDocument/2006/relationships/notesSlide" Target="../notesSlides/notesSlide8.xml"/><Relationship Id="rId32" Type="http://schemas.openxmlformats.org/officeDocument/2006/relationships/vmlDrawing" Target="../drawings/vmlDrawing1.vml"/><Relationship Id="rId31" Type="http://schemas.openxmlformats.org/officeDocument/2006/relationships/slideLayout" Target="../slideLayouts/slideLayout46.xml"/><Relationship Id="rId30" Type="http://schemas.openxmlformats.org/officeDocument/2006/relationships/tags" Target="../tags/tag89.xml"/><Relationship Id="rId3" Type="http://schemas.openxmlformats.org/officeDocument/2006/relationships/tags" Target="../tags/tag64.xml"/><Relationship Id="rId29" Type="http://schemas.openxmlformats.org/officeDocument/2006/relationships/tags" Target="../tags/tag88.xml"/><Relationship Id="rId28" Type="http://schemas.openxmlformats.org/officeDocument/2006/relationships/tags" Target="../tags/tag87.xml"/><Relationship Id="rId27" Type="http://schemas.openxmlformats.org/officeDocument/2006/relationships/tags" Target="../tags/tag86.xml"/><Relationship Id="rId26" Type="http://schemas.openxmlformats.org/officeDocument/2006/relationships/tags" Target="../tags/tag85.xml"/><Relationship Id="rId25" Type="http://schemas.openxmlformats.org/officeDocument/2006/relationships/tags" Target="../tags/tag84.xml"/><Relationship Id="rId24" Type="http://schemas.openxmlformats.org/officeDocument/2006/relationships/tags" Target="../tags/tag83.xml"/><Relationship Id="rId23" Type="http://schemas.openxmlformats.org/officeDocument/2006/relationships/tags" Target="../tags/tag82.xml"/><Relationship Id="rId22" Type="http://schemas.openxmlformats.org/officeDocument/2006/relationships/tags" Target="../tags/tag81.xml"/><Relationship Id="rId21" Type="http://schemas.openxmlformats.org/officeDocument/2006/relationships/tags" Target="../tags/tag80.xml"/><Relationship Id="rId20" Type="http://schemas.openxmlformats.org/officeDocument/2006/relationships/tags" Target="../tags/tag79.xml"/><Relationship Id="rId2" Type="http://schemas.openxmlformats.org/officeDocument/2006/relationships/image" Target="../media/image5.png"/><Relationship Id="rId19" Type="http://schemas.openxmlformats.org/officeDocument/2006/relationships/tags" Target="../tags/tag78.xml"/><Relationship Id="rId18" Type="http://schemas.openxmlformats.org/officeDocument/2006/relationships/tags" Target="../tags/tag77.xml"/><Relationship Id="rId17" Type="http://schemas.openxmlformats.org/officeDocument/2006/relationships/tags" Target="../tags/tag76.xml"/><Relationship Id="rId16" Type="http://schemas.openxmlformats.org/officeDocument/2006/relationships/tags" Target="../tags/tag75.xml"/><Relationship Id="rId15" Type="http://schemas.openxmlformats.org/officeDocument/2006/relationships/tags" Target="../tags/tag74.xml"/><Relationship Id="rId14" Type="http://schemas.openxmlformats.org/officeDocument/2006/relationships/tags" Target="../tags/tag73.xml"/><Relationship Id="rId13" Type="http://schemas.openxmlformats.org/officeDocument/2006/relationships/tags" Target="../tags/tag72.xml"/><Relationship Id="rId12" Type="http://schemas.openxmlformats.org/officeDocument/2006/relationships/tags" Target="../tags/tag71.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tags" Target="../tags/tag6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2" Type="http://schemas.openxmlformats.org/officeDocument/2006/relationships/notesSlide" Target="../notesSlides/notesSlide9.xml"/><Relationship Id="rId11" Type="http://schemas.openxmlformats.org/officeDocument/2006/relationships/slideLayout" Target="../slideLayouts/slideLayout46.xml"/><Relationship Id="rId10" Type="http://schemas.openxmlformats.org/officeDocument/2006/relationships/image" Target="../media/image11.png"/><Relationship Id="rId1" Type="http://schemas.openxmlformats.org/officeDocument/2006/relationships/tags" Target="../tags/tag90.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46.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tags" Target="../tags/tag98.xml"/></Relationships>
</file>

<file path=ppt/slides/_rels/slide14.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7" Type="http://schemas.openxmlformats.org/officeDocument/2006/relationships/notesSlide" Target="../notesSlides/notesSlide11.xml"/><Relationship Id="rId16" Type="http://schemas.openxmlformats.org/officeDocument/2006/relationships/slideLayout" Target="../slideLayouts/slideLayout46.xml"/><Relationship Id="rId15" Type="http://schemas.openxmlformats.org/officeDocument/2006/relationships/image" Target="../media/image14.png"/><Relationship Id="rId14" Type="http://schemas.openxmlformats.org/officeDocument/2006/relationships/tags" Target="../tags/tag112.xml"/><Relationship Id="rId13" Type="http://schemas.openxmlformats.org/officeDocument/2006/relationships/tags" Target="../tags/tag111.xml"/><Relationship Id="rId12" Type="http://schemas.openxmlformats.org/officeDocument/2006/relationships/tags" Target="../tags/tag110.xml"/><Relationship Id="rId11" Type="http://schemas.openxmlformats.org/officeDocument/2006/relationships/tags" Target="../tags/tag109.xml"/><Relationship Id="rId10" Type="http://schemas.openxmlformats.org/officeDocument/2006/relationships/tags" Target="../tags/tag108.xml"/><Relationship Id="rId1" Type="http://schemas.openxmlformats.org/officeDocument/2006/relationships/tags" Target="../tags/tag99.xml"/></Relationships>
</file>

<file path=ppt/slides/_rels/slide15.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9" Type="http://schemas.openxmlformats.org/officeDocument/2006/relationships/notesSlide" Target="../notesSlides/notesSlide12.xml"/><Relationship Id="rId28" Type="http://schemas.openxmlformats.org/officeDocument/2006/relationships/slideLayout" Target="../slideLayouts/slideLayout46.xml"/><Relationship Id="rId27" Type="http://schemas.openxmlformats.org/officeDocument/2006/relationships/tags" Target="../tags/tag138.xml"/><Relationship Id="rId26" Type="http://schemas.openxmlformats.org/officeDocument/2006/relationships/image" Target="../media/image14.png"/><Relationship Id="rId25" Type="http://schemas.openxmlformats.org/officeDocument/2006/relationships/tags" Target="../tags/tag137.xml"/><Relationship Id="rId24" Type="http://schemas.openxmlformats.org/officeDocument/2006/relationships/tags" Target="../tags/tag136.xml"/><Relationship Id="rId23" Type="http://schemas.openxmlformats.org/officeDocument/2006/relationships/tags" Target="../tags/tag135.xml"/><Relationship Id="rId22" Type="http://schemas.openxmlformats.org/officeDocument/2006/relationships/tags" Target="../tags/tag134.xml"/><Relationship Id="rId21" Type="http://schemas.openxmlformats.org/officeDocument/2006/relationships/tags" Target="../tags/tag133.xml"/><Relationship Id="rId20" Type="http://schemas.openxmlformats.org/officeDocument/2006/relationships/tags" Target="../tags/tag132.xml"/><Relationship Id="rId2" Type="http://schemas.openxmlformats.org/officeDocument/2006/relationships/tags" Target="../tags/tag114.xml"/><Relationship Id="rId19" Type="http://schemas.openxmlformats.org/officeDocument/2006/relationships/tags" Target="../tags/tag131.xml"/><Relationship Id="rId18" Type="http://schemas.openxmlformats.org/officeDocument/2006/relationships/tags" Target="../tags/tag130.xml"/><Relationship Id="rId17" Type="http://schemas.openxmlformats.org/officeDocument/2006/relationships/tags" Target="../tags/tag129.xml"/><Relationship Id="rId16" Type="http://schemas.openxmlformats.org/officeDocument/2006/relationships/tags" Target="../tags/tag128.xml"/><Relationship Id="rId15" Type="http://schemas.openxmlformats.org/officeDocument/2006/relationships/tags" Target="../tags/tag127.xml"/><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tags" Target="../tags/tag123.xml"/><Relationship Id="rId10" Type="http://schemas.openxmlformats.org/officeDocument/2006/relationships/tags" Target="../tags/tag122.xml"/><Relationship Id="rId1" Type="http://schemas.openxmlformats.org/officeDocument/2006/relationships/tags" Target="../tags/tag113.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46.xml"/><Relationship Id="rId5" Type="http://schemas.openxmlformats.org/officeDocument/2006/relationships/tags" Target="../tags/tag139.xml"/><Relationship Id="rId4" Type="http://schemas.openxmlformats.org/officeDocument/2006/relationships/image" Target="../media/image18.jpeg"/><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slides/_rels/slide17.xml.rels><?xml version="1.0" encoding="UTF-8" standalone="yes"?>
<Relationships xmlns="http://schemas.openxmlformats.org/package/2006/relationships"><Relationship Id="rId9" Type="http://schemas.openxmlformats.org/officeDocument/2006/relationships/tags" Target="../tags/tag147.xml"/><Relationship Id="rId8" Type="http://schemas.openxmlformats.org/officeDocument/2006/relationships/tags" Target="../tags/tag146.xml"/><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image" Target="../media/image19.jpeg"/><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2" Type="http://schemas.openxmlformats.org/officeDocument/2006/relationships/notesSlide" Target="../notesSlides/notesSlide14.xml"/><Relationship Id="rId11" Type="http://schemas.openxmlformats.org/officeDocument/2006/relationships/slideLayout" Target="../slideLayouts/slideLayout46.xml"/><Relationship Id="rId10" Type="http://schemas.openxmlformats.org/officeDocument/2006/relationships/tags" Target="../tags/tag148.xml"/><Relationship Id="rId1" Type="http://schemas.openxmlformats.org/officeDocument/2006/relationships/tags" Target="../tags/tag140.xml"/></Relationships>
</file>

<file path=ppt/slides/_rels/slide18.xml.rels><?xml version="1.0" encoding="UTF-8" standalone="yes"?>
<Relationships xmlns="http://schemas.openxmlformats.org/package/2006/relationships"><Relationship Id="rId9" Type="http://schemas.openxmlformats.org/officeDocument/2006/relationships/diagramQuickStyle" Target="../diagrams/quickStyle6.xml"/><Relationship Id="rId8" Type="http://schemas.openxmlformats.org/officeDocument/2006/relationships/diagramLayout" Target="../diagrams/layout6.xml"/><Relationship Id="rId7" Type="http://schemas.openxmlformats.org/officeDocument/2006/relationships/diagramData" Target="../diagrams/data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 Id="rId3" Type="http://schemas.openxmlformats.org/officeDocument/2006/relationships/diagramLayout" Target="../diagrams/layout5.xml"/><Relationship Id="rId2" Type="http://schemas.openxmlformats.org/officeDocument/2006/relationships/diagramData" Target="../diagrams/data5.xml"/><Relationship Id="rId18" Type="http://schemas.openxmlformats.org/officeDocument/2006/relationships/notesSlide" Target="../notesSlides/notesSlide15.xml"/><Relationship Id="rId17" Type="http://schemas.openxmlformats.org/officeDocument/2006/relationships/slideLayout" Target="../slideLayouts/slideLayout46.xml"/><Relationship Id="rId16" Type="http://schemas.microsoft.com/office/2007/relationships/diagramDrawing" Target="../diagrams/drawing7.xml"/><Relationship Id="rId15" Type="http://schemas.openxmlformats.org/officeDocument/2006/relationships/diagramColors" Target="../diagrams/colors7.xml"/><Relationship Id="rId14" Type="http://schemas.openxmlformats.org/officeDocument/2006/relationships/diagramQuickStyle" Target="../diagrams/quickStyle7.xml"/><Relationship Id="rId13" Type="http://schemas.openxmlformats.org/officeDocument/2006/relationships/diagramLayout" Target="../diagrams/layout7.xml"/><Relationship Id="rId12" Type="http://schemas.openxmlformats.org/officeDocument/2006/relationships/diagramData" Target="../diagrams/data7.xml"/><Relationship Id="rId11" Type="http://schemas.microsoft.com/office/2007/relationships/diagramDrawing" Target="../diagrams/drawing6.xml"/><Relationship Id="rId10" Type="http://schemas.openxmlformats.org/officeDocument/2006/relationships/diagramColors" Target="../diagrams/colors6.xml"/><Relationship Id="rId1" Type="http://schemas.openxmlformats.org/officeDocument/2006/relationships/tags" Target="../tags/tag149.xml"/></Relationships>
</file>

<file path=ppt/slides/_rels/slide19.xml.rels><?xml version="1.0" encoding="UTF-8" standalone="yes"?>
<Relationships xmlns="http://schemas.openxmlformats.org/package/2006/relationships"><Relationship Id="rId9" Type="http://schemas.openxmlformats.org/officeDocument/2006/relationships/image" Target="../media/image20.jpeg"/><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3" Type="http://schemas.openxmlformats.org/officeDocument/2006/relationships/notesSlide" Target="../notesSlides/notesSlide16.xml"/><Relationship Id="rId12" Type="http://schemas.openxmlformats.org/officeDocument/2006/relationships/slideLayout" Target="../slideLayouts/slideLayout46.xml"/><Relationship Id="rId11" Type="http://schemas.openxmlformats.org/officeDocument/2006/relationships/tags" Target="../tags/tag158.xml"/><Relationship Id="rId10" Type="http://schemas.openxmlformats.org/officeDocument/2006/relationships/image" Target="../media/image21.jpeg"/><Relationship Id="rId1" Type="http://schemas.openxmlformats.org/officeDocument/2006/relationships/tags" Target="../tags/tag150.xml"/></Relationships>
</file>

<file path=ppt/slides/_rels/slide20.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tags" Target="../tags/tag166.xml"/><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1" Type="http://schemas.openxmlformats.org/officeDocument/2006/relationships/notesSlide" Target="../notesSlides/notesSlide17.xml"/><Relationship Id="rId20" Type="http://schemas.openxmlformats.org/officeDocument/2006/relationships/slideLayout" Target="../slideLayouts/slideLayout46.xml"/><Relationship Id="rId2" Type="http://schemas.openxmlformats.org/officeDocument/2006/relationships/tags" Target="../tags/tag160.xml"/><Relationship Id="rId19" Type="http://schemas.openxmlformats.org/officeDocument/2006/relationships/tags" Target="../tags/tag177.xml"/><Relationship Id="rId18" Type="http://schemas.openxmlformats.org/officeDocument/2006/relationships/tags" Target="../tags/tag176.xml"/><Relationship Id="rId17" Type="http://schemas.openxmlformats.org/officeDocument/2006/relationships/tags" Target="../tags/tag175.xml"/><Relationship Id="rId16" Type="http://schemas.openxmlformats.org/officeDocument/2006/relationships/tags" Target="../tags/tag174.xml"/><Relationship Id="rId15" Type="http://schemas.openxmlformats.org/officeDocument/2006/relationships/tags" Target="../tags/tag173.xml"/><Relationship Id="rId14" Type="http://schemas.openxmlformats.org/officeDocument/2006/relationships/tags" Target="../tags/tag172.xml"/><Relationship Id="rId13" Type="http://schemas.openxmlformats.org/officeDocument/2006/relationships/tags" Target="../tags/tag171.xml"/><Relationship Id="rId12" Type="http://schemas.openxmlformats.org/officeDocument/2006/relationships/tags" Target="../tags/tag170.xml"/><Relationship Id="rId11" Type="http://schemas.openxmlformats.org/officeDocument/2006/relationships/tags" Target="../tags/tag169.xml"/><Relationship Id="rId10" Type="http://schemas.openxmlformats.org/officeDocument/2006/relationships/tags" Target="../tags/tag168.xml"/><Relationship Id="rId1" Type="http://schemas.openxmlformats.org/officeDocument/2006/relationships/tags" Target="../tags/tag159.xml"/></Relationships>
</file>

<file path=ppt/slides/_rels/slide21.xml.rels><?xml version="1.0" encoding="UTF-8" standalone="yes"?>
<Relationships xmlns="http://schemas.openxmlformats.org/package/2006/relationships"><Relationship Id="rId9" Type="http://schemas.openxmlformats.org/officeDocument/2006/relationships/tags" Target="../tags/tag186.xml"/><Relationship Id="rId8" Type="http://schemas.openxmlformats.org/officeDocument/2006/relationships/tags" Target="../tags/tag185.xml"/><Relationship Id="rId7" Type="http://schemas.openxmlformats.org/officeDocument/2006/relationships/tags" Target="../tags/tag184.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5" Type="http://schemas.openxmlformats.org/officeDocument/2006/relationships/notesSlide" Target="../notesSlides/notesSlide18.xml"/><Relationship Id="rId14" Type="http://schemas.openxmlformats.org/officeDocument/2006/relationships/slideLayout" Target="../slideLayouts/slideLayout46.xml"/><Relationship Id="rId13" Type="http://schemas.openxmlformats.org/officeDocument/2006/relationships/tags" Target="../tags/tag190.xml"/><Relationship Id="rId12" Type="http://schemas.openxmlformats.org/officeDocument/2006/relationships/tags" Target="../tags/tag189.xml"/><Relationship Id="rId11" Type="http://schemas.openxmlformats.org/officeDocument/2006/relationships/tags" Target="../tags/tag188.xml"/><Relationship Id="rId10" Type="http://schemas.openxmlformats.org/officeDocument/2006/relationships/tags" Target="../tags/tag187.xml"/><Relationship Id="rId1" Type="http://schemas.openxmlformats.org/officeDocument/2006/relationships/tags" Target="../tags/tag178.xml"/></Relationships>
</file>

<file path=ppt/slides/_rels/slide22.xml.rels><?xml version="1.0" encoding="UTF-8" standalone="yes"?>
<Relationships xmlns="http://schemas.openxmlformats.org/package/2006/relationships"><Relationship Id="rId9" Type="http://schemas.openxmlformats.org/officeDocument/2006/relationships/tags" Target="../tags/tag199.xml"/><Relationship Id="rId8" Type="http://schemas.openxmlformats.org/officeDocument/2006/relationships/tags" Target="../tags/tag198.xml"/><Relationship Id="rId7" Type="http://schemas.openxmlformats.org/officeDocument/2006/relationships/tags" Target="../tags/tag197.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tags" Target="../tags/tag193.xml"/><Relationship Id="rId2" Type="http://schemas.openxmlformats.org/officeDocument/2006/relationships/tags" Target="../tags/tag192.xml"/><Relationship Id="rId18" Type="http://schemas.openxmlformats.org/officeDocument/2006/relationships/notesSlide" Target="../notesSlides/notesSlide19.xml"/><Relationship Id="rId17" Type="http://schemas.openxmlformats.org/officeDocument/2006/relationships/slideLayout" Target="../slideLayouts/slideLayout46.xml"/><Relationship Id="rId16" Type="http://schemas.openxmlformats.org/officeDocument/2006/relationships/tags" Target="../tags/tag206.xml"/><Relationship Id="rId15" Type="http://schemas.openxmlformats.org/officeDocument/2006/relationships/tags" Target="../tags/tag205.xml"/><Relationship Id="rId14" Type="http://schemas.openxmlformats.org/officeDocument/2006/relationships/tags" Target="../tags/tag204.xml"/><Relationship Id="rId13" Type="http://schemas.openxmlformats.org/officeDocument/2006/relationships/tags" Target="../tags/tag203.xml"/><Relationship Id="rId12" Type="http://schemas.openxmlformats.org/officeDocument/2006/relationships/tags" Target="../tags/tag202.xml"/><Relationship Id="rId11" Type="http://schemas.openxmlformats.org/officeDocument/2006/relationships/tags" Target="../tags/tag201.xml"/><Relationship Id="rId10" Type="http://schemas.openxmlformats.org/officeDocument/2006/relationships/tags" Target="../tags/tag200.xml"/><Relationship Id="rId1" Type="http://schemas.openxmlformats.org/officeDocument/2006/relationships/tags" Target="../tags/tag191.xml"/></Relationships>
</file>

<file path=ppt/slides/_rels/slide23.xml.rels><?xml version="1.0" encoding="UTF-8" standalone="yes"?>
<Relationships xmlns="http://schemas.openxmlformats.org/package/2006/relationships"><Relationship Id="rId9" Type="http://schemas.openxmlformats.org/officeDocument/2006/relationships/tags" Target="../tags/tag215.xml"/><Relationship Id="rId8" Type="http://schemas.openxmlformats.org/officeDocument/2006/relationships/tags" Target="../tags/tag214.xml"/><Relationship Id="rId7" Type="http://schemas.openxmlformats.org/officeDocument/2006/relationships/tags" Target="../tags/tag213.xml"/><Relationship Id="rId6" Type="http://schemas.openxmlformats.org/officeDocument/2006/relationships/tags" Target="../tags/tag212.xml"/><Relationship Id="rId5" Type="http://schemas.openxmlformats.org/officeDocument/2006/relationships/tags" Target="../tags/tag211.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tags" Target="../tags/tag208.xml"/><Relationship Id="rId15" Type="http://schemas.openxmlformats.org/officeDocument/2006/relationships/notesSlide" Target="../notesSlides/notesSlide20.xml"/><Relationship Id="rId14" Type="http://schemas.openxmlformats.org/officeDocument/2006/relationships/slideLayout" Target="../slideLayouts/slideLayout46.xml"/><Relationship Id="rId13" Type="http://schemas.openxmlformats.org/officeDocument/2006/relationships/image" Target="../media/image14.png"/><Relationship Id="rId12" Type="http://schemas.openxmlformats.org/officeDocument/2006/relationships/tags" Target="../tags/tag218.xml"/><Relationship Id="rId11" Type="http://schemas.openxmlformats.org/officeDocument/2006/relationships/tags" Target="../tags/tag217.xml"/><Relationship Id="rId10" Type="http://schemas.openxmlformats.org/officeDocument/2006/relationships/tags" Target="../tags/tag216.xml"/><Relationship Id="rId1" Type="http://schemas.openxmlformats.org/officeDocument/2006/relationships/tags" Target="../tags/tag20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30306" y="1"/>
            <a:ext cx="11763418" cy="6382870"/>
          </a:xfrm>
          <a:custGeom>
            <a:avLst/>
            <a:gdLst>
              <a:gd name="connsiteX0" fmla="*/ 0 w 11761694"/>
              <a:gd name="connsiteY0" fmla="*/ 0 h 6060141"/>
              <a:gd name="connsiteX1" fmla="*/ 11761694 w 11761694"/>
              <a:gd name="connsiteY1" fmla="*/ 0 h 6060141"/>
              <a:gd name="connsiteX2" fmla="*/ 11761694 w 11761694"/>
              <a:gd name="connsiteY2" fmla="*/ 6060141 h 6060141"/>
              <a:gd name="connsiteX3" fmla="*/ 0 w 11761694"/>
              <a:gd name="connsiteY3" fmla="*/ 6060141 h 6060141"/>
              <a:gd name="connsiteX4" fmla="*/ 0 w 11761694"/>
              <a:gd name="connsiteY4" fmla="*/ 0 h 6060141"/>
              <a:gd name="connsiteX0-1" fmla="*/ 0 w 11761694"/>
              <a:gd name="connsiteY0-2" fmla="*/ 0 h 6060141"/>
              <a:gd name="connsiteX1-3" fmla="*/ 11761694 w 11761694"/>
              <a:gd name="connsiteY1-4" fmla="*/ 0 h 6060141"/>
              <a:gd name="connsiteX2-5" fmla="*/ 11743764 w 11761694"/>
              <a:gd name="connsiteY2-6" fmla="*/ 4320988 h 6060141"/>
              <a:gd name="connsiteX3-7" fmla="*/ 0 w 11761694"/>
              <a:gd name="connsiteY3-8" fmla="*/ 6060141 h 6060141"/>
              <a:gd name="connsiteX4-9" fmla="*/ 0 w 11761694"/>
              <a:gd name="connsiteY4-10" fmla="*/ 0 h 6060141"/>
              <a:gd name="connsiteX0-11" fmla="*/ 0 w 11763418"/>
              <a:gd name="connsiteY0-12" fmla="*/ 0 h 6060141"/>
              <a:gd name="connsiteX1-13" fmla="*/ 11761694 w 11763418"/>
              <a:gd name="connsiteY1-14" fmla="*/ 0 h 6060141"/>
              <a:gd name="connsiteX2-15" fmla="*/ 11761693 w 11763418"/>
              <a:gd name="connsiteY2-16" fmla="*/ 5109882 h 6060141"/>
              <a:gd name="connsiteX3-17" fmla="*/ 0 w 11763418"/>
              <a:gd name="connsiteY3-18" fmla="*/ 6060141 h 6060141"/>
              <a:gd name="connsiteX4-19" fmla="*/ 0 w 11763418"/>
              <a:gd name="connsiteY4-20" fmla="*/ 0 h 6060141"/>
              <a:gd name="connsiteX0-21" fmla="*/ 0 w 11763418"/>
              <a:gd name="connsiteY0-22" fmla="*/ 0 h 6382870"/>
              <a:gd name="connsiteX1-23" fmla="*/ 11761694 w 11763418"/>
              <a:gd name="connsiteY1-24" fmla="*/ 0 h 6382870"/>
              <a:gd name="connsiteX2-25" fmla="*/ 11761693 w 11763418"/>
              <a:gd name="connsiteY2-26" fmla="*/ 5109882 h 6382870"/>
              <a:gd name="connsiteX3-27" fmla="*/ 268941 w 11763418"/>
              <a:gd name="connsiteY3-28" fmla="*/ 6382870 h 6382870"/>
              <a:gd name="connsiteX4-29" fmla="*/ 0 w 11763418"/>
              <a:gd name="connsiteY4-30" fmla="*/ 0 h 638287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763418" h="6382870">
                <a:moveTo>
                  <a:pt x="0" y="0"/>
                </a:moveTo>
                <a:lnTo>
                  <a:pt x="11761694" y="0"/>
                </a:lnTo>
                <a:cubicBezTo>
                  <a:pt x="11755717" y="1440329"/>
                  <a:pt x="11767670" y="3669553"/>
                  <a:pt x="11761693" y="5109882"/>
                </a:cubicBezTo>
                <a:lnTo>
                  <a:pt x="268941" y="6382870"/>
                </a:lnTo>
                <a:lnTo>
                  <a:pt x="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任意多边形 11"/>
          <p:cNvSpPr/>
          <p:nvPr/>
        </p:nvSpPr>
        <p:spPr>
          <a:xfrm rot="21041616">
            <a:off x="-514051" y="-937437"/>
            <a:ext cx="12990390" cy="6402472"/>
          </a:xfrm>
          <a:custGeom>
            <a:avLst/>
            <a:gdLst>
              <a:gd name="connsiteX0" fmla="*/ 12990390 w 12990390"/>
              <a:gd name="connsiteY0" fmla="*/ 1971618 h 6402472"/>
              <a:gd name="connsiteX1" fmla="*/ 12264302 w 12990390"/>
              <a:gd name="connsiteY1" fmla="*/ 6402472 h 6402472"/>
              <a:gd name="connsiteX2" fmla="*/ 715646 w 12990390"/>
              <a:gd name="connsiteY2" fmla="*/ 6402472 h 6402472"/>
              <a:gd name="connsiteX3" fmla="*/ 30006 w 12990390"/>
              <a:gd name="connsiteY3" fmla="*/ 5947999 h 6402472"/>
              <a:gd name="connsiteX4" fmla="*/ 0 w 12990390"/>
              <a:gd name="connsiteY4" fmla="*/ 5851338 h 6402472"/>
              <a:gd name="connsiteX5" fmla="*/ 958864 w 12990390"/>
              <a:gd name="connsiteY5" fmla="*/ 0 h 6402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90390" h="6402472">
                <a:moveTo>
                  <a:pt x="12990390" y="1971618"/>
                </a:moveTo>
                <a:lnTo>
                  <a:pt x="12264302" y="6402472"/>
                </a:lnTo>
                <a:lnTo>
                  <a:pt x="715646" y="6402472"/>
                </a:lnTo>
                <a:cubicBezTo>
                  <a:pt x="407423" y="6402472"/>
                  <a:pt x="142969" y="6215074"/>
                  <a:pt x="30006" y="5947999"/>
                </a:cubicBezTo>
                <a:lnTo>
                  <a:pt x="0" y="5851338"/>
                </a:lnTo>
                <a:lnTo>
                  <a:pt x="958864" y="0"/>
                </a:lnTo>
                <a:close/>
              </a:path>
            </a:pathLst>
          </a:custGeom>
          <a:solidFill>
            <a:srgbClr val="326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5" name="Rectangle 3"/>
          <p:cNvSpPr/>
          <p:nvPr/>
        </p:nvSpPr>
        <p:spPr bwMode="auto">
          <a:xfrm>
            <a:off x="594008" y="4154474"/>
            <a:ext cx="5950228" cy="737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7130"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7130"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7130"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7130"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eaLnBrk="1">
              <a:lnSpc>
                <a:spcPct val="150000"/>
              </a:lnSpc>
              <a:spcBef>
                <a:spcPct val="0"/>
              </a:spcBef>
              <a:buSzTx/>
              <a:buFontTx/>
              <a:buNone/>
            </a:pPr>
            <a:r>
              <a:rPr lang="en-US" altLang="zh-CN" sz="14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Analysis of Factors Affecting Re-employment of Elderly Workers Based on Text Mining</a:t>
            </a:r>
            <a:endParaRPr lang="en-US" altLang="zh-CN" sz="14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38" name="组合 37"/>
          <p:cNvGrpSpPr/>
          <p:nvPr/>
        </p:nvGrpSpPr>
        <p:grpSpPr>
          <a:xfrm>
            <a:off x="2668563" y="4971793"/>
            <a:ext cx="2602230" cy="337185"/>
            <a:chOff x="3434345" y="5953033"/>
            <a:chExt cx="3186578" cy="412903"/>
          </a:xfrm>
        </p:grpSpPr>
        <p:grpSp>
          <p:nvGrpSpPr>
            <p:cNvPr id="39" name="组合 38"/>
            <p:cNvGrpSpPr/>
            <p:nvPr/>
          </p:nvGrpSpPr>
          <p:grpSpPr>
            <a:xfrm>
              <a:off x="3434345" y="5969714"/>
              <a:ext cx="290422" cy="290422"/>
              <a:chOff x="3434345" y="5959066"/>
              <a:chExt cx="290422" cy="290422"/>
            </a:xfrm>
          </p:grpSpPr>
          <p:sp>
            <p:nvSpPr>
              <p:cNvPr id="41" name="椭圆 40"/>
              <p:cNvSpPr/>
              <p:nvPr/>
            </p:nvSpPr>
            <p:spPr>
              <a:xfrm>
                <a:off x="3434345" y="5959066"/>
                <a:ext cx="290422" cy="290422"/>
              </a:xfrm>
              <a:prstGeom prst="ellipse">
                <a:avLst/>
              </a:prstGeom>
              <a:solidFill>
                <a:schemeClr val="bg1"/>
              </a:solidFill>
              <a:ln>
                <a:noFill/>
              </a:ln>
              <a:effectLst>
                <a:outerShdw blurRad="508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student-graduation-cap-shape_52041"/>
              <p:cNvSpPr>
                <a:spLocks noChangeAspect="1"/>
              </p:cNvSpPr>
              <p:nvPr/>
            </p:nvSpPr>
            <p:spPr bwMode="auto">
              <a:xfrm>
                <a:off x="3506911" y="6029152"/>
                <a:ext cx="145290" cy="150250"/>
              </a:xfrm>
              <a:custGeom>
                <a:avLst/>
                <a:gdLst>
                  <a:gd name="connsiteX0" fmla="*/ 233363 w 325438"/>
                  <a:gd name="connsiteY0" fmla="*/ 249238 h 336550"/>
                  <a:gd name="connsiteX1" fmla="*/ 279401 w 325438"/>
                  <a:gd name="connsiteY1" fmla="*/ 249238 h 336550"/>
                  <a:gd name="connsiteX2" fmla="*/ 279401 w 325438"/>
                  <a:gd name="connsiteY2" fmla="*/ 290513 h 336550"/>
                  <a:gd name="connsiteX3" fmla="*/ 233363 w 325438"/>
                  <a:gd name="connsiteY3" fmla="*/ 290513 h 336550"/>
                  <a:gd name="connsiteX4" fmla="*/ 171450 w 325438"/>
                  <a:gd name="connsiteY4" fmla="*/ 249238 h 336550"/>
                  <a:gd name="connsiteX5" fmla="*/ 217488 w 325438"/>
                  <a:gd name="connsiteY5" fmla="*/ 249238 h 336550"/>
                  <a:gd name="connsiteX6" fmla="*/ 217488 w 325438"/>
                  <a:gd name="connsiteY6" fmla="*/ 290513 h 336550"/>
                  <a:gd name="connsiteX7" fmla="*/ 171450 w 325438"/>
                  <a:gd name="connsiteY7" fmla="*/ 290513 h 336550"/>
                  <a:gd name="connsiteX8" fmla="*/ 107950 w 325438"/>
                  <a:gd name="connsiteY8" fmla="*/ 249238 h 336550"/>
                  <a:gd name="connsiteX9" fmla="*/ 155575 w 325438"/>
                  <a:gd name="connsiteY9" fmla="*/ 249238 h 336550"/>
                  <a:gd name="connsiteX10" fmla="*/ 155575 w 325438"/>
                  <a:gd name="connsiteY10" fmla="*/ 290513 h 336550"/>
                  <a:gd name="connsiteX11" fmla="*/ 107950 w 325438"/>
                  <a:gd name="connsiteY11" fmla="*/ 290513 h 336550"/>
                  <a:gd name="connsiteX12" fmla="*/ 46038 w 325438"/>
                  <a:gd name="connsiteY12" fmla="*/ 249238 h 336550"/>
                  <a:gd name="connsiteX13" fmla="*/ 93663 w 325438"/>
                  <a:gd name="connsiteY13" fmla="*/ 249238 h 336550"/>
                  <a:gd name="connsiteX14" fmla="*/ 93663 w 325438"/>
                  <a:gd name="connsiteY14" fmla="*/ 290513 h 336550"/>
                  <a:gd name="connsiteX15" fmla="*/ 46038 w 325438"/>
                  <a:gd name="connsiteY15" fmla="*/ 290513 h 336550"/>
                  <a:gd name="connsiteX16" fmla="*/ 233363 w 325438"/>
                  <a:gd name="connsiteY16" fmla="*/ 195263 h 336550"/>
                  <a:gd name="connsiteX17" fmla="*/ 279401 w 325438"/>
                  <a:gd name="connsiteY17" fmla="*/ 195263 h 336550"/>
                  <a:gd name="connsiteX18" fmla="*/ 279401 w 325438"/>
                  <a:gd name="connsiteY18" fmla="*/ 234951 h 336550"/>
                  <a:gd name="connsiteX19" fmla="*/ 233363 w 325438"/>
                  <a:gd name="connsiteY19" fmla="*/ 234951 h 336550"/>
                  <a:gd name="connsiteX20" fmla="*/ 171450 w 325438"/>
                  <a:gd name="connsiteY20" fmla="*/ 195263 h 336550"/>
                  <a:gd name="connsiteX21" fmla="*/ 217488 w 325438"/>
                  <a:gd name="connsiteY21" fmla="*/ 195263 h 336550"/>
                  <a:gd name="connsiteX22" fmla="*/ 217488 w 325438"/>
                  <a:gd name="connsiteY22" fmla="*/ 234951 h 336550"/>
                  <a:gd name="connsiteX23" fmla="*/ 171450 w 325438"/>
                  <a:gd name="connsiteY23" fmla="*/ 234951 h 336550"/>
                  <a:gd name="connsiteX24" fmla="*/ 107950 w 325438"/>
                  <a:gd name="connsiteY24" fmla="*/ 195263 h 336550"/>
                  <a:gd name="connsiteX25" fmla="*/ 155575 w 325438"/>
                  <a:gd name="connsiteY25" fmla="*/ 195263 h 336550"/>
                  <a:gd name="connsiteX26" fmla="*/ 155575 w 325438"/>
                  <a:gd name="connsiteY26" fmla="*/ 234951 h 336550"/>
                  <a:gd name="connsiteX27" fmla="*/ 107950 w 325438"/>
                  <a:gd name="connsiteY27" fmla="*/ 234951 h 336550"/>
                  <a:gd name="connsiteX28" fmla="*/ 46038 w 325438"/>
                  <a:gd name="connsiteY28" fmla="*/ 195263 h 336550"/>
                  <a:gd name="connsiteX29" fmla="*/ 93663 w 325438"/>
                  <a:gd name="connsiteY29" fmla="*/ 195263 h 336550"/>
                  <a:gd name="connsiteX30" fmla="*/ 93663 w 325438"/>
                  <a:gd name="connsiteY30" fmla="*/ 234951 h 336550"/>
                  <a:gd name="connsiteX31" fmla="*/ 46038 w 325438"/>
                  <a:gd name="connsiteY31" fmla="*/ 234951 h 336550"/>
                  <a:gd name="connsiteX32" fmla="*/ 233363 w 325438"/>
                  <a:gd name="connsiteY32" fmla="*/ 139700 h 336550"/>
                  <a:gd name="connsiteX33" fmla="*/ 279401 w 325438"/>
                  <a:gd name="connsiteY33" fmla="*/ 139700 h 336550"/>
                  <a:gd name="connsiteX34" fmla="*/ 279401 w 325438"/>
                  <a:gd name="connsiteY34" fmla="*/ 180975 h 336550"/>
                  <a:gd name="connsiteX35" fmla="*/ 233363 w 325438"/>
                  <a:gd name="connsiteY35" fmla="*/ 180975 h 336550"/>
                  <a:gd name="connsiteX36" fmla="*/ 171450 w 325438"/>
                  <a:gd name="connsiteY36" fmla="*/ 139700 h 336550"/>
                  <a:gd name="connsiteX37" fmla="*/ 217488 w 325438"/>
                  <a:gd name="connsiteY37" fmla="*/ 139700 h 336550"/>
                  <a:gd name="connsiteX38" fmla="*/ 217488 w 325438"/>
                  <a:gd name="connsiteY38" fmla="*/ 180975 h 336550"/>
                  <a:gd name="connsiteX39" fmla="*/ 171450 w 325438"/>
                  <a:gd name="connsiteY39" fmla="*/ 180975 h 336550"/>
                  <a:gd name="connsiteX40" fmla="*/ 107950 w 325438"/>
                  <a:gd name="connsiteY40" fmla="*/ 139700 h 336550"/>
                  <a:gd name="connsiteX41" fmla="*/ 155575 w 325438"/>
                  <a:gd name="connsiteY41" fmla="*/ 139700 h 336550"/>
                  <a:gd name="connsiteX42" fmla="*/ 155575 w 325438"/>
                  <a:gd name="connsiteY42" fmla="*/ 180975 h 336550"/>
                  <a:gd name="connsiteX43" fmla="*/ 107950 w 325438"/>
                  <a:gd name="connsiteY43" fmla="*/ 180975 h 336550"/>
                  <a:gd name="connsiteX44" fmla="*/ 49167 w 325438"/>
                  <a:gd name="connsiteY44" fmla="*/ 38100 h 336550"/>
                  <a:gd name="connsiteX45" fmla="*/ 25400 w 325438"/>
                  <a:gd name="connsiteY45" fmla="*/ 61753 h 336550"/>
                  <a:gd name="connsiteX46" fmla="*/ 25400 w 325438"/>
                  <a:gd name="connsiteY46" fmla="*/ 289085 h 336550"/>
                  <a:gd name="connsiteX47" fmla="*/ 49167 w 325438"/>
                  <a:gd name="connsiteY47" fmla="*/ 312738 h 336550"/>
                  <a:gd name="connsiteX48" fmla="*/ 276271 w 325438"/>
                  <a:gd name="connsiteY48" fmla="*/ 312738 h 336550"/>
                  <a:gd name="connsiteX49" fmla="*/ 300038 w 325438"/>
                  <a:gd name="connsiteY49" fmla="*/ 289085 h 336550"/>
                  <a:gd name="connsiteX50" fmla="*/ 300038 w 325438"/>
                  <a:gd name="connsiteY50" fmla="*/ 61753 h 336550"/>
                  <a:gd name="connsiteX51" fmla="*/ 276271 w 325438"/>
                  <a:gd name="connsiteY51" fmla="*/ 38100 h 336550"/>
                  <a:gd name="connsiteX52" fmla="*/ 269669 w 325438"/>
                  <a:gd name="connsiteY52" fmla="*/ 38100 h 336550"/>
                  <a:gd name="connsiteX53" fmla="*/ 269669 w 325438"/>
                  <a:gd name="connsiteY53" fmla="*/ 63067 h 336550"/>
                  <a:gd name="connsiteX54" fmla="*/ 276271 w 325438"/>
                  <a:gd name="connsiteY54" fmla="*/ 74894 h 336550"/>
                  <a:gd name="connsiteX55" fmla="*/ 260427 w 325438"/>
                  <a:gd name="connsiteY55" fmla="*/ 90662 h 336550"/>
                  <a:gd name="connsiteX56" fmla="*/ 244582 w 325438"/>
                  <a:gd name="connsiteY56" fmla="*/ 74894 h 336550"/>
                  <a:gd name="connsiteX57" fmla="*/ 249864 w 325438"/>
                  <a:gd name="connsiteY57" fmla="*/ 63067 h 336550"/>
                  <a:gd name="connsiteX58" fmla="*/ 249864 w 325438"/>
                  <a:gd name="connsiteY58" fmla="*/ 38100 h 336550"/>
                  <a:gd name="connsiteX59" fmla="*/ 231379 w 325438"/>
                  <a:gd name="connsiteY59" fmla="*/ 38100 h 336550"/>
                  <a:gd name="connsiteX60" fmla="*/ 231379 w 325438"/>
                  <a:gd name="connsiteY60" fmla="*/ 63067 h 336550"/>
                  <a:gd name="connsiteX61" fmla="*/ 236660 w 325438"/>
                  <a:gd name="connsiteY61" fmla="*/ 74894 h 336550"/>
                  <a:gd name="connsiteX62" fmla="*/ 220816 w 325438"/>
                  <a:gd name="connsiteY62" fmla="*/ 90662 h 336550"/>
                  <a:gd name="connsiteX63" fmla="*/ 204971 w 325438"/>
                  <a:gd name="connsiteY63" fmla="*/ 74894 h 336550"/>
                  <a:gd name="connsiteX64" fmla="*/ 210253 w 325438"/>
                  <a:gd name="connsiteY64" fmla="*/ 63067 h 336550"/>
                  <a:gd name="connsiteX65" fmla="*/ 210253 w 325438"/>
                  <a:gd name="connsiteY65" fmla="*/ 38100 h 336550"/>
                  <a:gd name="connsiteX66" fmla="*/ 191767 w 325438"/>
                  <a:gd name="connsiteY66" fmla="*/ 38100 h 336550"/>
                  <a:gd name="connsiteX67" fmla="*/ 191767 w 325438"/>
                  <a:gd name="connsiteY67" fmla="*/ 63067 h 336550"/>
                  <a:gd name="connsiteX68" fmla="*/ 198369 w 325438"/>
                  <a:gd name="connsiteY68" fmla="*/ 74894 h 336550"/>
                  <a:gd name="connsiteX69" fmla="*/ 182525 w 325438"/>
                  <a:gd name="connsiteY69" fmla="*/ 90662 h 336550"/>
                  <a:gd name="connsiteX70" fmla="*/ 166680 w 325438"/>
                  <a:gd name="connsiteY70" fmla="*/ 74894 h 336550"/>
                  <a:gd name="connsiteX71" fmla="*/ 171962 w 325438"/>
                  <a:gd name="connsiteY71" fmla="*/ 63067 h 336550"/>
                  <a:gd name="connsiteX72" fmla="*/ 171962 w 325438"/>
                  <a:gd name="connsiteY72" fmla="*/ 38100 h 336550"/>
                  <a:gd name="connsiteX73" fmla="*/ 153476 w 325438"/>
                  <a:gd name="connsiteY73" fmla="*/ 38100 h 336550"/>
                  <a:gd name="connsiteX74" fmla="*/ 153476 w 325438"/>
                  <a:gd name="connsiteY74" fmla="*/ 63067 h 336550"/>
                  <a:gd name="connsiteX75" fmla="*/ 158758 w 325438"/>
                  <a:gd name="connsiteY75" fmla="*/ 74894 h 336550"/>
                  <a:gd name="connsiteX76" fmla="*/ 142913 w 325438"/>
                  <a:gd name="connsiteY76" fmla="*/ 90662 h 336550"/>
                  <a:gd name="connsiteX77" fmla="*/ 127069 w 325438"/>
                  <a:gd name="connsiteY77" fmla="*/ 74894 h 336550"/>
                  <a:gd name="connsiteX78" fmla="*/ 133671 w 325438"/>
                  <a:gd name="connsiteY78" fmla="*/ 63067 h 336550"/>
                  <a:gd name="connsiteX79" fmla="*/ 133671 w 325438"/>
                  <a:gd name="connsiteY79" fmla="*/ 38100 h 336550"/>
                  <a:gd name="connsiteX80" fmla="*/ 115186 w 325438"/>
                  <a:gd name="connsiteY80" fmla="*/ 38100 h 336550"/>
                  <a:gd name="connsiteX81" fmla="*/ 115186 w 325438"/>
                  <a:gd name="connsiteY81" fmla="*/ 63067 h 336550"/>
                  <a:gd name="connsiteX82" fmla="*/ 120467 w 325438"/>
                  <a:gd name="connsiteY82" fmla="*/ 74894 h 336550"/>
                  <a:gd name="connsiteX83" fmla="*/ 104623 w 325438"/>
                  <a:gd name="connsiteY83" fmla="*/ 90662 h 336550"/>
                  <a:gd name="connsiteX84" fmla="*/ 88778 w 325438"/>
                  <a:gd name="connsiteY84" fmla="*/ 74894 h 336550"/>
                  <a:gd name="connsiteX85" fmla="*/ 94060 w 325438"/>
                  <a:gd name="connsiteY85" fmla="*/ 63067 h 336550"/>
                  <a:gd name="connsiteX86" fmla="*/ 94060 w 325438"/>
                  <a:gd name="connsiteY86" fmla="*/ 38100 h 336550"/>
                  <a:gd name="connsiteX87" fmla="*/ 75574 w 325438"/>
                  <a:gd name="connsiteY87" fmla="*/ 38100 h 336550"/>
                  <a:gd name="connsiteX88" fmla="*/ 75574 w 325438"/>
                  <a:gd name="connsiteY88" fmla="*/ 63067 h 336550"/>
                  <a:gd name="connsiteX89" fmla="*/ 80856 w 325438"/>
                  <a:gd name="connsiteY89" fmla="*/ 74894 h 336550"/>
                  <a:gd name="connsiteX90" fmla="*/ 65011 w 325438"/>
                  <a:gd name="connsiteY90" fmla="*/ 90662 h 336550"/>
                  <a:gd name="connsiteX91" fmla="*/ 49167 w 325438"/>
                  <a:gd name="connsiteY91" fmla="*/ 74894 h 336550"/>
                  <a:gd name="connsiteX92" fmla="*/ 55769 w 325438"/>
                  <a:gd name="connsiteY92" fmla="*/ 63067 h 336550"/>
                  <a:gd name="connsiteX93" fmla="*/ 55769 w 325438"/>
                  <a:gd name="connsiteY93" fmla="*/ 38100 h 336550"/>
                  <a:gd name="connsiteX94" fmla="*/ 49167 w 325438"/>
                  <a:gd name="connsiteY94" fmla="*/ 38100 h 336550"/>
                  <a:gd name="connsiteX95" fmla="*/ 65315 w 325438"/>
                  <a:gd name="connsiteY95" fmla="*/ 4763 h 336550"/>
                  <a:gd name="connsiteX96" fmla="*/ 61913 w 325438"/>
                  <a:gd name="connsiteY96" fmla="*/ 10110 h 336550"/>
                  <a:gd name="connsiteX97" fmla="*/ 61913 w 325438"/>
                  <a:gd name="connsiteY97" fmla="*/ 75616 h 336550"/>
                  <a:gd name="connsiteX98" fmla="*/ 65315 w 325438"/>
                  <a:gd name="connsiteY98" fmla="*/ 80963 h 336550"/>
                  <a:gd name="connsiteX99" fmla="*/ 69851 w 325438"/>
                  <a:gd name="connsiteY99" fmla="*/ 75616 h 336550"/>
                  <a:gd name="connsiteX100" fmla="*/ 69851 w 325438"/>
                  <a:gd name="connsiteY100" fmla="*/ 10110 h 336550"/>
                  <a:gd name="connsiteX101" fmla="*/ 65315 w 325438"/>
                  <a:gd name="connsiteY101" fmla="*/ 4763 h 336550"/>
                  <a:gd name="connsiteX102" fmla="*/ 104776 w 325438"/>
                  <a:gd name="connsiteY102" fmla="*/ 4763 h 336550"/>
                  <a:gd name="connsiteX103" fmla="*/ 100013 w 325438"/>
                  <a:gd name="connsiteY103" fmla="*/ 10110 h 336550"/>
                  <a:gd name="connsiteX104" fmla="*/ 100013 w 325438"/>
                  <a:gd name="connsiteY104" fmla="*/ 75616 h 336550"/>
                  <a:gd name="connsiteX105" fmla="*/ 104776 w 325438"/>
                  <a:gd name="connsiteY105" fmla="*/ 80963 h 336550"/>
                  <a:gd name="connsiteX106" fmla="*/ 109538 w 325438"/>
                  <a:gd name="connsiteY106" fmla="*/ 75616 h 336550"/>
                  <a:gd name="connsiteX107" fmla="*/ 109538 w 325438"/>
                  <a:gd name="connsiteY107" fmla="*/ 10110 h 336550"/>
                  <a:gd name="connsiteX108" fmla="*/ 104776 w 325438"/>
                  <a:gd name="connsiteY108" fmla="*/ 4763 h 336550"/>
                  <a:gd name="connsiteX109" fmla="*/ 142876 w 325438"/>
                  <a:gd name="connsiteY109" fmla="*/ 4763 h 336550"/>
                  <a:gd name="connsiteX110" fmla="*/ 138113 w 325438"/>
                  <a:gd name="connsiteY110" fmla="*/ 10110 h 336550"/>
                  <a:gd name="connsiteX111" fmla="*/ 138113 w 325438"/>
                  <a:gd name="connsiteY111" fmla="*/ 75616 h 336550"/>
                  <a:gd name="connsiteX112" fmla="*/ 142876 w 325438"/>
                  <a:gd name="connsiteY112" fmla="*/ 80963 h 336550"/>
                  <a:gd name="connsiteX113" fmla="*/ 147638 w 325438"/>
                  <a:gd name="connsiteY113" fmla="*/ 75616 h 336550"/>
                  <a:gd name="connsiteX114" fmla="*/ 147638 w 325438"/>
                  <a:gd name="connsiteY114" fmla="*/ 10110 h 336550"/>
                  <a:gd name="connsiteX115" fmla="*/ 142876 w 325438"/>
                  <a:gd name="connsiteY115" fmla="*/ 4763 h 336550"/>
                  <a:gd name="connsiteX116" fmla="*/ 182563 w 325438"/>
                  <a:gd name="connsiteY116" fmla="*/ 4763 h 336550"/>
                  <a:gd name="connsiteX117" fmla="*/ 177800 w 325438"/>
                  <a:gd name="connsiteY117" fmla="*/ 10110 h 336550"/>
                  <a:gd name="connsiteX118" fmla="*/ 177800 w 325438"/>
                  <a:gd name="connsiteY118" fmla="*/ 75616 h 336550"/>
                  <a:gd name="connsiteX119" fmla="*/ 182563 w 325438"/>
                  <a:gd name="connsiteY119" fmla="*/ 80963 h 336550"/>
                  <a:gd name="connsiteX120" fmla="*/ 187325 w 325438"/>
                  <a:gd name="connsiteY120" fmla="*/ 75616 h 336550"/>
                  <a:gd name="connsiteX121" fmla="*/ 187325 w 325438"/>
                  <a:gd name="connsiteY121" fmla="*/ 10110 h 336550"/>
                  <a:gd name="connsiteX122" fmla="*/ 182563 w 325438"/>
                  <a:gd name="connsiteY122" fmla="*/ 4763 h 336550"/>
                  <a:gd name="connsiteX123" fmla="*/ 220663 w 325438"/>
                  <a:gd name="connsiteY123" fmla="*/ 4763 h 336550"/>
                  <a:gd name="connsiteX124" fmla="*/ 215900 w 325438"/>
                  <a:gd name="connsiteY124" fmla="*/ 10110 h 336550"/>
                  <a:gd name="connsiteX125" fmla="*/ 215900 w 325438"/>
                  <a:gd name="connsiteY125" fmla="*/ 75616 h 336550"/>
                  <a:gd name="connsiteX126" fmla="*/ 220663 w 325438"/>
                  <a:gd name="connsiteY126" fmla="*/ 80963 h 336550"/>
                  <a:gd name="connsiteX127" fmla="*/ 225425 w 325438"/>
                  <a:gd name="connsiteY127" fmla="*/ 75616 h 336550"/>
                  <a:gd name="connsiteX128" fmla="*/ 225425 w 325438"/>
                  <a:gd name="connsiteY128" fmla="*/ 10110 h 336550"/>
                  <a:gd name="connsiteX129" fmla="*/ 220663 w 325438"/>
                  <a:gd name="connsiteY129" fmla="*/ 4763 h 336550"/>
                  <a:gd name="connsiteX130" fmla="*/ 260124 w 325438"/>
                  <a:gd name="connsiteY130" fmla="*/ 4763 h 336550"/>
                  <a:gd name="connsiteX131" fmla="*/ 255588 w 325438"/>
                  <a:gd name="connsiteY131" fmla="*/ 10110 h 336550"/>
                  <a:gd name="connsiteX132" fmla="*/ 255588 w 325438"/>
                  <a:gd name="connsiteY132" fmla="*/ 75616 h 336550"/>
                  <a:gd name="connsiteX133" fmla="*/ 260124 w 325438"/>
                  <a:gd name="connsiteY133" fmla="*/ 80963 h 336550"/>
                  <a:gd name="connsiteX134" fmla="*/ 263526 w 325438"/>
                  <a:gd name="connsiteY134" fmla="*/ 75616 h 336550"/>
                  <a:gd name="connsiteX135" fmla="*/ 263526 w 325438"/>
                  <a:gd name="connsiteY135" fmla="*/ 10110 h 336550"/>
                  <a:gd name="connsiteX136" fmla="*/ 260124 w 325438"/>
                  <a:gd name="connsiteY136" fmla="*/ 4763 h 336550"/>
                  <a:gd name="connsiteX137" fmla="*/ 64823 w 325438"/>
                  <a:gd name="connsiteY137" fmla="*/ 0 h 336550"/>
                  <a:gd name="connsiteX138" fmla="*/ 75406 w 325438"/>
                  <a:gd name="connsiteY138" fmla="*/ 10517 h 336550"/>
                  <a:gd name="connsiteX139" fmla="*/ 75406 w 325438"/>
                  <a:gd name="connsiteY139" fmla="*/ 14461 h 336550"/>
                  <a:gd name="connsiteX140" fmla="*/ 93927 w 325438"/>
                  <a:gd name="connsiteY140" fmla="*/ 14461 h 336550"/>
                  <a:gd name="connsiteX141" fmla="*/ 93927 w 325438"/>
                  <a:gd name="connsiteY141" fmla="*/ 10517 h 336550"/>
                  <a:gd name="connsiteX142" fmla="*/ 104511 w 325438"/>
                  <a:gd name="connsiteY142" fmla="*/ 0 h 336550"/>
                  <a:gd name="connsiteX143" fmla="*/ 115094 w 325438"/>
                  <a:gd name="connsiteY143" fmla="*/ 10517 h 336550"/>
                  <a:gd name="connsiteX144" fmla="*/ 115094 w 325438"/>
                  <a:gd name="connsiteY144" fmla="*/ 14461 h 336550"/>
                  <a:gd name="connsiteX145" fmla="*/ 133615 w 325438"/>
                  <a:gd name="connsiteY145" fmla="*/ 14461 h 336550"/>
                  <a:gd name="connsiteX146" fmla="*/ 133615 w 325438"/>
                  <a:gd name="connsiteY146" fmla="*/ 10517 h 336550"/>
                  <a:gd name="connsiteX147" fmla="*/ 142875 w 325438"/>
                  <a:gd name="connsiteY147" fmla="*/ 0 h 336550"/>
                  <a:gd name="connsiteX148" fmla="*/ 153459 w 325438"/>
                  <a:gd name="connsiteY148" fmla="*/ 10517 h 336550"/>
                  <a:gd name="connsiteX149" fmla="*/ 153459 w 325438"/>
                  <a:gd name="connsiteY149" fmla="*/ 14461 h 336550"/>
                  <a:gd name="connsiteX150" fmla="*/ 171980 w 325438"/>
                  <a:gd name="connsiteY150" fmla="*/ 14461 h 336550"/>
                  <a:gd name="connsiteX151" fmla="*/ 171980 w 325438"/>
                  <a:gd name="connsiteY151" fmla="*/ 10517 h 336550"/>
                  <a:gd name="connsiteX152" fmla="*/ 182563 w 325438"/>
                  <a:gd name="connsiteY152" fmla="*/ 0 h 336550"/>
                  <a:gd name="connsiteX153" fmla="*/ 191823 w 325438"/>
                  <a:gd name="connsiteY153" fmla="*/ 10517 h 336550"/>
                  <a:gd name="connsiteX154" fmla="*/ 191823 w 325438"/>
                  <a:gd name="connsiteY154" fmla="*/ 14461 h 336550"/>
                  <a:gd name="connsiteX155" fmla="*/ 210344 w 325438"/>
                  <a:gd name="connsiteY155" fmla="*/ 14461 h 336550"/>
                  <a:gd name="connsiteX156" fmla="*/ 210344 w 325438"/>
                  <a:gd name="connsiteY156" fmla="*/ 10517 h 336550"/>
                  <a:gd name="connsiteX157" fmla="*/ 220927 w 325438"/>
                  <a:gd name="connsiteY157" fmla="*/ 0 h 336550"/>
                  <a:gd name="connsiteX158" fmla="*/ 231511 w 325438"/>
                  <a:gd name="connsiteY158" fmla="*/ 10517 h 336550"/>
                  <a:gd name="connsiteX159" fmla="*/ 231511 w 325438"/>
                  <a:gd name="connsiteY159" fmla="*/ 14461 h 336550"/>
                  <a:gd name="connsiteX160" fmla="*/ 250032 w 325438"/>
                  <a:gd name="connsiteY160" fmla="*/ 14461 h 336550"/>
                  <a:gd name="connsiteX161" fmla="*/ 250032 w 325438"/>
                  <a:gd name="connsiteY161" fmla="*/ 10517 h 336550"/>
                  <a:gd name="connsiteX162" fmla="*/ 260615 w 325438"/>
                  <a:gd name="connsiteY162" fmla="*/ 0 h 336550"/>
                  <a:gd name="connsiteX163" fmla="*/ 269875 w 325438"/>
                  <a:gd name="connsiteY163" fmla="*/ 10517 h 336550"/>
                  <a:gd name="connsiteX164" fmla="*/ 269875 w 325438"/>
                  <a:gd name="connsiteY164" fmla="*/ 14461 h 336550"/>
                  <a:gd name="connsiteX165" fmla="*/ 276490 w 325438"/>
                  <a:gd name="connsiteY165" fmla="*/ 14461 h 336550"/>
                  <a:gd name="connsiteX166" fmla="*/ 325438 w 325438"/>
                  <a:gd name="connsiteY166" fmla="*/ 61789 h 336550"/>
                  <a:gd name="connsiteX167" fmla="*/ 325438 w 325438"/>
                  <a:gd name="connsiteY167" fmla="*/ 289223 h 336550"/>
                  <a:gd name="connsiteX168" fmla="*/ 276490 w 325438"/>
                  <a:gd name="connsiteY168" fmla="*/ 336550 h 336550"/>
                  <a:gd name="connsiteX169" fmla="*/ 48948 w 325438"/>
                  <a:gd name="connsiteY169" fmla="*/ 336550 h 336550"/>
                  <a:gd name="connsiteX170" fmla="*/ 0 w 325438"/>
                  <a:gd name="connsiteY170" fmla="*/ 289223 h 336550"/>
                  <a:gd name="connsiteX171" fmla="*/ 0 w 325438"/>
                  <a:gd name="connsiteY171" fmla="*/ 61789 h 336550"/>
                  <a:gd name="connsiteX172" fmla="*/ 48948 w 325438"/>
                  <a:gd name="connsiteY172" fmla="*/ 14461 h 336550"/>
                  <a:gd name="connsiteX173" fmla="*/ 55563 w 325438"/>
                  <a:gd name="connsiteY173" fmla="*/ 14461 h 336550"/>
                  <a:gd name="connsiteX174" fmla="*/ 55563 w 325438"/>
                  <a:gd name="connsiteY174" fmla="*/ 10517 h 336550"/>
                  <a:gd name="connsiteX175" fmla="*/ 64823 w 325438"/>
                  <a:gd name="connsiteY17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325438" h="336550">
                    <a:moveTo>
                      <a:pt x="233363" y="249238"/>
                    </a:moveTo>
                    <a:lnTo>
                      <a:pt x="279401" y="249238"/>
                    </a:lnTo>
                    <a:lnTo>
                      <a:pt x="279401" y="290513"/>
                    </a:lnTo>
                    <a:lnTo>
                      <a:pt x="233363" y="290513"/>
                    </a:lnTo>
                    <a:close/>
                    <a:moveTo>
                      <a:pt x="171450" y="249238"/>
                    </a:moveTo>
                    <a:lnTo>
                      <a:pt x="217488" y="249238"/>
                    </a:lnTo>
                    <a:lnTo>
                      <a:pt x="217488" y="290513"/>
                    </a:lnTo>
                    <a:lnTo>
                      <a:pt x="171450" y="290513"/>
                    </a:lnTo>
                    <a:close/>
                    <a:moveTo>
                      <a:pt x="107950" y="249238"/>
                    </a:moveTo>
                    <a:lnTo>
                      <a:pt x="155575" y="249238"/>
                    </a:lnTo>
                    <a:lnTo>
                      <a:pt x="155575" y="290513"/>
                    </a:lnTo>
                    <a:lnTo>
                      <a:pt x="107950" y="290513"/>
                    </a:lnTo>
                    <a:close/>
                    <a:moveTo>
                      <a:pt x="46038" y="249238"/>
                    </a:moveTo>
                    <a:lnTo>
                      <a:pt x="93663" y="249238"/>
                    </a:lnTo>
                    <a:lnTo>
                      <a:pt x="93663" y="290513"/>
                    </a:lnTo>
                    <a:lnTo>
                      <a:pt x="46038" y="290513"/>
                    </a:lnTo>
                    <a:close/>
                    <a:moveTo>
                      <a:pt x="233363" y="195263"/>
                    </a:moveTo>
                    <a:lnTo>
                      <a:pt x="279401" y="195263"/>
                    </a:lnTo>
                    <a:lnTo>
                      <a:pt x="279401" y="234951"/>
                    </a:lnTo>
                    <a:lnTo>
                      <a:pt x="233363" y="234951"/>
                    </a:lnTo>
                    <a:close/>
                    <a:moveTo>
                      <a:pt x="171450" y="195263"/>
                    </a:moveTo>
                    <a:lnTo>
                      <a:pt x="217488" y="195263"/>
                    </a:lnTo>
                    <a:lnTo>
                      <a:pt x="217488" y="234951"/>
                    </a:lnTo>
                    <a:lnTo>
                      <a:pt x="171450" y="234951"/>
                    </a:lnTo>
                    <a:close/>
                    <a:moveTo>
                      <a:pt x="107950" y="195263"/>
                    </a:moveTo>
                    <a:lnTo>
                      <a:pt x="155575" y="195263"/>
                    </a:lnTo>
                    <a:lnTo>
                      <a:pt x="155575" y="234951"/>
                    </a:lnTo>
                    <a:lnTo>
                      <a:pt x="107950" y="234951"/>
                    </a:lnTo>
                    <a:close/>
                    <a:moveTo>
                      <a:pt x="46038" y="195263"/>
                    </a:moveTo>
                    <a:lnTo>
                      <a:pt x="93663" y="195263"/>
                    </a:lnTo>
                    <a:lnTo>
                      <a:pt x="93663" y="234951"/>
                    </a:lnTo>
                    <a:lnTo>
                      <a:pt x="46038" y="234951"/>
                    </a:lnTo>
                    <a:close/>
                    <a:moveTo>
                      <a:pt x="233363" y="139700"/>
                    </a:moveTo>
                    <a:lnTo>
                      <a:pt x="279401" y="139700"/>
                    </a:lnTo>
                    <a:lnTo>
                      <a:pt x="279401" y="180975"/>
                    </a:lnTo>
                    <a:lnTo>
                      <a:pt x="233363" y="180975"/>
                    </a:lnTo>
                    <a:close/>
                    <a:moveTo>
                      <a:pt x="171450" y="139700"/>
                    </a:moveTo>
                    <a:lnTo>
                      <a:pt x="217488" y="139700"/>
                    </a:lnTo>
                    <a:lnTo>
                      <a:pt x="217488" y="180975"/>
                    </a:lnTo>
                    <a:lnTo>
                      <a:pt x="171450" y="180975"/>
                    </a:lnTo>
                    <a:close/>
                    <a:moveTo>
                      <a:pt x="107950" y="139700"/>
                    </a:moveTo>
                    <a:lnTo>
                      <a:pt x="155575" y="139700"/>
                    </a:lnTo>
                    <a:lnTo>
                      <a:pt x="155575" y="180975"/>
                    </a:lnTo>
                    <a:lnTo>
                      <a:pt x="107950" y="180975"/>
                    </a:lnTo>
                    <a:close/>
                    <a:moveTo>
                      <a:pt x="49167" y="38100"/>
                    </a:moveTo>
                    <a:cubicBezTo>
                      <a:pt x="35963" y="38100"/>
                      <a:pt x="25400" y="48613"/>
                      <a:pt x="25400" y="61753"/>
                    </a:cubicBezTo>
                    <a:cubicBezTo>
                      <a:pt x="25400" y="61753"/>
                      <a:pt x="25400" y="61753"/>
                      <a:pt x="25400" y="289085"/>
                    </a:cubicBezTo>
                    <a:cubicBezTo>
                      <a:pt x="25400" y="302226"/>
                      <a:pt x="35963" y="312738"/>
                      <a:pt x="49167" y="312738"/>
                    </a:cubicBezTo>
                    <a:cubicBezTo>
                      <a:pt x="49167" y="312738"/>
                      <a:pt x="49167" y="312738"/>
                      <a:pt x="276271" y="312738"/>
                    </a:cubicBezTo>
                    <a:cubicBezTo>
                      <a:pt x="289475" y="312738"/>
                      <a:pt x="300038" y="302226"/>
                      <a:pt x="300038" y="289085"/>
                    </a:cubicBezTo>
                    <a:cubicBezTo>
                      <a:pt x="300038" y="289085"/>
                      <a:pt x="300038" y="289085"/>
                      <a:pt x="300038" y="61753"/>
                    </a:cubicBezTo>
                    <a:cubicBezTo>
                      <a:pt x="300038" y="48613"/>
                      <a:pt x="289475" y="38100"/>
                      <a:pt x="276271" y="38100"/>
                    </a:cubicBezTo>
                    <a:cubicBezTo>
                      <a:pt x="276271" y="38100"/>
                      <a:pt x="276271" y="38100"/>
                      <a:pt x="269669" y="38100"/>
                    </a:cubicBezTo>
                    <a:cubicBezTo>
                      <a:pt x="269669" y="38100"/>
                      <a:pt x="269669" y="38100"/>
                      <a:pt x="269669" y="63067"/>
                    </a:cubicBezTo>
                    <a:cubicBezTo>
                      <a:pt x="273631" y="65695"/>
                      <a:pt x="276271" y="70951"/>
                      <a:pt x="276271" y="74894"/>
                    </a:cubicBezTo>
                    <a:cubicBezTo>
                      <a:pt x="276271" y="84092"/>
                      <a:pt x="268349" y="90662"/>
                      <a:pt x="260427" y="90662"/>
                    </a:cubicBezTo>
                    <a:cubicBezTo>
                      <a:pt x="251184" y="90662"/>
                      <a:pt x="244582" y="84092"/>
                      <a:pt x="244582" y="74894"/>
                    </a:cubicBezTo>
                    <a:cubicBezTo>
                      <a:pt x="244582" y="70951"/>
                      <a:pt x="245903" y="65695"/>
                      <a:pt x="249864" y="63067"/>
                    </a:cubicBezTo>
                    <a:cubicBezTo>
                      <a:pt x="249864" y="63067"/>
                      <a:pt x="249864" y="63067"/>
                      <a:pt x="249864" y="38100"/>
                    </a:cubicBezTo>
                    <a:cubicBezTo>
                      <a:pt x="249864" y="38100"/>
                      <a:pt x="249864" y="38100"/>
                      <a:pt x="231379" y="38100"/>
                    </a:cubicBezTo>
                    <a:cubicBezTo>
                      <a:pt x="231379" y="38100"/>
                      <a:pt x="231379" y="38100"/>
                      <a:pt x="231379" y="63067"/>
                    </a:cubicBezTo>
                    <a:cubicBezTo>
                      <a:pt x="234019" y="65695"/>
                      <a:pt x="236660" y="70951"/>
                      <a:pt x="236660" y="74894"/>
                    </a:cubicBezTo>
                    <a:cubicBezTo>
                      <a:pt x="236660" y="84092"/>
                      <a:pt x="230058" y="90662"/>
                      <a:pt x="220816" y="90662"/>
                    </a:cubicBezTo>
                    <a:cubicBezTo>
                      <a:pt x="212893" y="90662"/>
                      <a:pt x="204971" y="84092"/>
                      <a:pt x="204971" y="74894"/>
                    </a:cubicBezTo>
                    <a:cubicBezTo>
                      <a:pt x="204971" y="70951"/>
                      <a:pt x="207612" y="65695"/>
                      <a:pt x="210253" y="63067"/>
                    </a:cubicBezTo>
                    <a:cubicBezTo>
                      <a:pt x="210253" y="63067"/>
                      <a:pt x="210253" y="63067"/>
                      <a:pt x="210253" y="38100"/>
                    </a:cubicBezTo>
                    <a:cubicBezTo>
                      <a:pt x="210253" y="38100"/>
                      <a:pt x="210253" y="38100"/>
                      <a:pt x="191767" y="38100"/>
                    </a:cubicBezTo>
                    <a:cubicBezTo>
                      <a:pt x="191767" y="38100"/>
                      <a:pt x="191767" y="38100"/>
                      <a:pt x="191767" y="63067"/>
                    </a:cubicBezTo>
                    <a:cubicBezTo>
                      <a:pt x="195728" y="65695"/>
                      <a:pt x="198369" y="70951"/>
                      <a:pt x="198369" y="74894"/>
                    </a:cubicBezTo>
                    <a:cubicBezTo>
                      <a:pt x="198369" y="84092"/>
                      <a:pt x="190447" y="90662"/>
                      <a:pt x="182525" y="90662"/>
                    </a:cubicBezTo>
                    <a:cubicBezTo>
                      <a:pt x="173282" y="90662"/>
                      <a:pt x="166680" y="84092"/>
                      <a:pt x="166680" y="74894"/>
                    </a:cubicBezTo>
                    <a:cubicBezTo>
                      <a:pt x="166680" y="70951"/>
                      <a:pt x="168001" y="65695"/>
                      <a:pt x="171962" y="63067"/>
                    </a:cubicBezTo>
                    <a:cubicBezTo>
                      <a:pt x="171962" y="63067"/>
                      <a:pt x="171962" y="63067"/>
                      <a:pt x="171962" y="38100"/>
                    </a:cubicBezTo>
                    <a:cubicBezTo>
                      <a:pt x="171962" y="38100"/>
                      <a:pt x="171962" y="38100"/>
                      <a:pt x="153476" y="38100"/>
                    </a:cubicBezTo>
                    <a:cubicBezTo>
                      <a:pt x="153476" y="38100"/>
                      <a:pt x="153476" y="38100"/>
                      <a:pt x="153476" y="63067"/>
                    </a:cubicBezTo>
                    <a:cubicBezTo>
                      <a:pt x="157438" y="65695"/>
                      <a:pt x="158758" y="70951"/>
                      <a:pt x="158758" y="74894"/>
                    </a:cubicBezTo>
                    <a:cubicBezTo>
                      <a:pt x="158758" y="84092"/>
                      <a:pt x="152156" y="90662"/>
                      <a:pt x="142913" y="90662"/>
                    </a:cubicBezTo>
                    <a:cubicBezTo>
                      <a:pt x="134991" y="90662"/>
                      <a:pt x="127069" y="84092"/>
                      <a:pt x="127069" y="74894"/>
                    </a:cubicBezTo>
                    <a:cubicBezTo>
                      <a:pt x="127069" y="70951"/>
                      <a:pt x="129710" y="65695"/>
                      <a:pt x="133671" y="63067"/>
                    </a:cubicBezTo>
                    <a:cubicBezTo>
                      <a:pt x="133671" y="63067"/>
                      <a:pt x="133671" y="63067"/>
                      <a:pt x="133671" y="38100"/>
                    </a:cubicBezTo>
                    <a:cubicBezTo>
                      <a:pt x="133671" y="38100"/>
                      <a:pt x="133671" y="38100"/>
                      <a:pt x="115186" y="38100"/>
                    </a:cubicBezTo>
                    <a:cubicBezTo>
                      <a:pt x="115186" y="38100"/>
                      <a:pt x="115186" y="38100"/>
                      <a:pt x="115186" y="63067"/>
                    </a:cubicBezTo>
                    <a:cubicBezTo>
                      <a:pt x="117826" y="65695"/>
                      <a:pt x="120467" y="70951"/>
                      <a:pt x="120467" y="74894"/>
                    </a:cubicBezTo>
                    <a:cubicBezTo>
                      <a:pt x="120467" y="84092"/>
                      <a:pt x="112545" y="90662"/>
                      <a:pt x="104623" y="90662"/>
                    </a:cubicBezTo>
                    <a:cubicBezTo>
                      <a:pt x="95380" y="90662"/>
                      <a:pt x="88778" y="84092"/>
                      <a:pt x="88778" y="74894"/>
                    </a:cubicBezTo>
                    <a:cubicBezTo>
                      <a:pt x="88778" y="70951"/>
                      <a:pt x="91419" y="65695"/>
                      <a:pt x="94060" y="63067"/>
                    </a:cubicBezTo>
                    <a:cubicBezTo>
                      <a:pt x="94060" y="63067"/>
                      <a:pt x="94060" y="63067"/>
                      <a:pt x="94060" y="38100"/>
                    </a:cubicBezTo>
                    <a:cubicBezTo>
                      <a:pt x="94060" y="38100"/>
                      <a:pt x="94060" y="38100"/>
                      <a:pt x="75574" y="38100"/>
                    </a:cubicBezTo>
                    <a:cubicBezTo>
                      <a:pt x="75574" y="38100"/>
                      <a:pt x="75574" y="38100"/>
                      <a:pt x="75574" y="63067"/>
                    </a:cubicBezTo>
                    <a:cubicBezTo>
                      <a:pt x="79535" y="65695"/>
                      <a:pt x="80856" y="70951"/>
                      <a:pt x="80856" y="74894"/>
                    </a:cubicBezTo>
                    <a:cubicBezTo>
                      <a:pt x="80856" y="84092"/>
                      <a:pt x="74254" y="90662"/>
                      <a:pt x="65011" y="90662"/>
                    </a:cubicBezTo>
                    <a:cubicBezTo>
                      <a:pt x="57089" y="90662"/>
                      <a:pt x="49167" y="84092"/>
                      <a:pt x="49167" y="74894"/>
                    </a:cubicBezTo>
                    <a:cubicBezTo>
                      <a:pt x="49167" y="70951"/>
                      <a:pt x="51808" y="65695"/>
                      <a:pt x="55769" y="63067"/>
                    </a:cubicBezTo>
                    <a:cubicBezTo>
                      <a:pt x="55769" y="63067"/>
                      <a:pt x="55769" y="63067"/>
                      <a:pt x="55769" y="38100"/>
                    </a:cubicBezTo>
                    <a:cubicBezTo>
                      <a:pt x="55769" y="38100"/>
                      <a:pt x="55769" y="38100"/>
                      <a:pt x="49167" y="38100"/>
                    </a:cubicBezTo>
                    <a:close/>
                    <a:moveTo>
                      <a:pt x="65315" y="4763"/>
                    </a:moveTo>
                    <a:cubicBezTo>
                      <a:pt x="63047" y="4763"/>
                      <a:pt x="61913" y="7437"/>
                      <a:pt x="61913" y="10110"/>
                    </a:cubicBezTo>
                    <a:lnTo>
                      <a:pt x="61913" y="75616"/>
                    </a:lnTo>
                    <a:cubicBezTo>
                      <a:pt x="61913" y="79626"/>
                      <a:pt x="63047" y="80963"/>
                      <a:pt x="65315" y="80963"/>
                    </a:cubicBezTo>
                    <a:cubicBezTo>
                      <a:pt x="68717" y="80963"/>
                      <a:pt x="69851" y="79626"/>
                      <a:pt x="69851" y="75616"/>
                    </a:cubicBezTo>
                    <a:cubicBezTo>
                      <a:pt x="69851" y="75616"/>
                      <a:pt x="69851" y="75616"/>
                      <a:pt x="69851" y="10110"/>
                    </a:cubicBezTo>
                    <a:cubicBezTo>
                      <a:pt x="69851" y="7437"/>
                      <a:pt x="68717" y="4763"/>
                      <a:pt x="65315" y="4763"/>
                    </a:cubicBezTo>
                    <a:close/>
                    <a:moveTo>
                      <a:pt x="104776" y="4763"/>
                    </a:moveTo>
                    <a:cubicBezTo>
                      <a:pt x="102394" y="4763"/>
                      <a:pt x="100013" y="7437"/>
                      <a:pt x="100013" y="10110"/>
                    </a:cubicBezTo>
                    <a:lnTo>
                      <a:pt x="100013" y="75616"/>
                    </a:lnTo>
                    <a:cubicBezTo>
                      <a:pt x="100013" y="79626"/>
                      <a:pt x="102394" y="80963"/>
                      <a:pt x="104776" y="80963"/>
                    </a:cubicBezTo>
                    <a:cubicBezTo>
                      <a:pt x="107157" y="80963"/>
                      <a:pt x="109538" y="79626"/>
                      <a:pt x="109538" y="75616"/>
                    </a:cubicBezTo>
                    <a:cubicBezTo>
                      <a:pt x="109538" y="75616"/>
                      <a:pt x="109538" y="75616"/>
                      <a:pt x="109538" y="10110"/>
                    </a:cubicBezTo>
                    <a:cubicBezTo>
                      <a:pt x="109538" y="7437"/>
                      <a:pt x="107157" y="4763"/>
                      <a:pt x="104776" y="4763"/>
                    </a:cubicBezTo>
                    <a:close/>
                    <a:moveTo>
                      <a:pt x="142876" y="4763"/>
                    </a:moveTo>
                    <a:cubicBezTo>
                      <a:pt x="140494" y="4763"/>
                      <a:pt x="138113" y="7437"/>
                      <a:pt x="138113" y="10110"/>
                    </a:cubicBezTo>
                    <a:lnTo>
                      <a:pt x="138113" y="75616"/>
                    </a:lnTo>
                    <a:cubicBezTo>
                      <a:pt x="138113" y="79626"/>
                      <a:pt x="140494" y="80963"/>
                      <a:pt x="142876" y="80963"/>
                    </a:cubicBezTo>
                    <a:cubicBezTo>
                      <a:pt x="145257" y="80963"/>
                      <a:pt x="147638" y="79626"/>
                      <a:pt x="147638" y="75616"/>
                    </a:cubicBezTo>
                    <a:cubicBezTo>
                      <a:pt x="147638" y="75616"/>
                      <a:pt x="147638" y="75616"/>
                      <a:pt x="147638" y="10110"/>
                    </a:cubicBezTo>
                    <a:cubicBezTo>
                      <a:pt x="147638" y="7437"/>
                      <a:pt x="145257" y="4763"/>
                      <a:pt x="142876" y="4763"/>
                    </a:cubicBezTo>
                    <a:close/>
                    <a:moveTo>
                      <a:pt x="182563" y="4763"/>
                    </a:moveTo>
                    <a:cubicBezTo>
                      <a:pt x="180181" y="4763"/>
                      <a:pt x="177800" y="7437"/>
                      <a:pt x="177800" y="10110"/>
                    </a:cubicBezTo>
                    <a:lnTo>
                      <a:pt x="177800" y="75616"/>
                    </a:lnTo>
                    <a:cubicBezTo>
                      <a:pt x="177800" y="79626"/>
                      <a:pt x="180181" y="80963"/>
                      <a:pt x="182563" y="80963"/>
                    </a:cubicBezTo>
                    <a:cubicBezTo>
                      <a:pt x="184944" y="80963"/>
                      <a:pt x="187325" y="79626"/>
                      <a:pt x="187325" y="75616"/>
                    </a:cubicBezTo>
                    <a:cubicBezTo>
                      <a:pt x="187325" y="75616"/>
                      <a:pt x="187325" y="75616"/>
                      <a:pt x="187325" y="10110"/>
                    </a:cubicBezTo>
                    <a:cubicBezTo>
                      <a:pt x="187325" y="7437"/>
                      <a:pt x="184944" y="4763"/>
                      <a:pt x="182563" y="4763"/>
                    </a:cubicBezTo>
                    <a:close/>
                    <a:moveTo>
                      <a:pt x="220663" y="4763"/>
                    </a:moveTo>
                    <a:cubicBezTo>
                      <a:pt x="218281" y="4763"/>
                      <a:pt x="215900" y="7437"/>
                      <a:pt x="215900" y="10110"/>
                    </a:cubicBezTo>
                    <a:lnTo>
                      <a:pt x="215900" y="75616"/>
                    </a:lnTo>
                    <a:cubicBezTo>
                      <a:pt x="215900" y="79626"/>
                      <a:pt x="218281" y="80963"/>
                      <a:pt x="220663" y="80963"/>
                    </a:cubicBezTo>
                    <a:cubicBezTo>
                      <a:pt x="223044" y="80963"/>
                      <a:pt x="225425" y="79626"/>
                      <a:pt x="225425" y="75616"/>
                    </a:cubicBezTo>
                    <a:cubicBezTo>
                      <a:pt x="225425" y="75616"/>
                      <a:pt x="225425" y="75616"/>
                      <a:pt x="225425" y="10110"/>
                    </a:cubicBezTo>
                    <a:cubicBezTo>
                      <a:pt x="225425" y="7437"/>
                      <a:pt x="223044" y="4763"/>
                      <a:pt x="220663" y="4763"/>
                    </a:cubicBezTo>
                    <a:close/>
                    <a:moveTo>
                      <a:pt x="260124" y="4763"/>
                    </a:moveTo>
                    <a:cubicBezTo>
                      <a:pt x="256722" y="4763"/>
                      <a:pt x="255588" y="7437"/>
                      <a:pt x="255588" y="10110"/>
                    </a:cubicBezTo>
                    <a:lnTo>
                      <a:pt x="255588" y="75616"/>
                    </a:lnTo>
                    <a:cubicBezTo>
                      <a:pt x="255588" y="79626"/>
                      <a:pt x="256722" y="80963"/>
                      <a:pt x="260124" y="80963"/>
                    </a:cubicBezTo>
                    <a:cubicBezTo>
                      <a:pt x="262392" y="80963"/>
                      <a:pt x="263526" y="79626"/>
                      <a:pt x="263526" y="75616"/>
                    </a:cubicBezTo>
                    <a:cubicBezTo>
                      <a:pt x="263526" y="75616"/>
                      <a:pt x="263526" y="75616"/>
                      <a:pt x="263526" y="10110"/>
                    </a:cubicBezTo>
                    <a:cubicBezTo>
                      <a:pt x="263526" y="7437"/>
                      <a:pt x="262392" y="4763"/>
                      <a:pt x="260124" y="4763"/>
                    </a:cubicBezTo>
                    <a:close/>
                    <a:moveTo>
                      <a:pt x="64823" y="0"/>
                    </a:moveTo>
                    <a:cubicBezTo>
                      <a:pt x="71438" y="0"/>
                      <a:pt x="75406" y="3944"/>
                      <a:pt x="75406" y="10517"/>
                    </a:cubicBezTo>
                    <a:cubicBezTo>
                      <a:pt x="75406" y="10517"/>
                      <a:pt x="75406" y="10517"/>
                      <a:pt x="75406" y="14461"/>
                    </a:cubicBezTo>
                    <a:cubicBezTo>
                      <a:pt x="75406" y="14461"/>
                      <a:pt x="75406" y="14461"/>
                      <a:pt x="93927" y="14461"/>
                    </a:cubicBezTo>
                    <a:cubicBezTo>
                      <a:pt x="93927" y="14461"/>
                      <a:pt x="93927" y="14461"/>
                      <a:pt x="93927" y="10517"/>
                    </a:cubicBezTo>
                    <a:cubicBezTo>
                      <a:pt x="93927" y="3944"/>
                      <a:pt x="99219" y="0"/>
                      <a:pt x="104511" y="0"/>
                    </a:cubicBezTo>
                    <a:cubicBezTo>
                      <a:pt x="109802" y="0"/>
                      <a:pt x="115094" y="3944"/>
                      <a:pt x="115094" y="10517"/>
                    </a:cubicBezTo>
                    <a:cubicBezTo>
                      <a:pt x="115094" y="10517"/>
                      <a:pt x="115094" y="10517"/>
                      <a:pt x="115094" y="14461"/>
                    </a:cubicBezTo>
                    <a:cubicBezTo>
                      <a:pt x="115094" y="14461"/>
                      <a:pt x="115094" y="14461"/>
                      <a:pt x="133615" y="14461"/>
                    </a:cubicBezTo>
                    <a:cubicBezTo>
                      <a:pt x="133615" y="14461"/>
                      <a:pt x="133615" y="14461"/>
                      <a:pt x="133615" y="10517"/>
                    </a:cubicBezTo>
                    <a:cubicBezTo>
                      <a:pt x="133615" y="3944"/>
                      <a:pt x="137584" y="0"/>
                      <a:pt x="142875" y="0"/>
                    </a:cubicBezTo>
                    <a:cubicBezTo>
                      <a:pt x="149490" y="0"/>
                      <a:pt x="153459" y="3944"/>
                      <a:pt x="153459" y="10517"/>
                    </a:cubicBezTo>
                    <a:cubicBezTo>
                      <a:pt x="153459" y="10517"/>
                      <a:pt x="153459" y="10517"/>
                      <a:pt x="153459" y="14461"/>
                    </a:cubicBezTo>
                    <a:cubicBezTo>
                      <a:pt x="153459" y="14461"/>
                      <a:pt x="153459" y="14461"/>
                      <a:pt x="171980" y="14461"/>
                    </a:cubicBezTo>
                    <a:cubicBezTo>
                      <a:pt x="171980" y="14461"/>
                      <a:pt x="171980" y="14461"/>
                      <a:pt x="171980" y="10517"/>
                    </a:cubicBezTo>
                    <a:cubicBezTo>
                      <a:pt x="171980" y="3944"/>
                      <a:pt x="175948" y="0"/>
                      <a:pt x="182563" y="0"/>
                    </a:cubicBezTo>
                    <a:cubicBezTo>
                      <a:pt x="187855" y="0"/>
                      <a:pt x="191823" y="3944"/>
                      <a:pt x="191823" y="10517"/>
                    </a:cubicBezTo>
                    <a:cubicBezTo>
                      <a:pt x="191823" y="10517"/>
                      <a:pt x="191823" y="10517"/>
                      <a:pt x="191823" y="14461"/>
                    </a:cubicBezTo>
                    <a:cubicBezTo>
                      <a:pt x="191823" y="14461"/>
                      <a:pt x="191823" y="14461"/>
                      <a:pt x="210344" y="14461"/>
                    </a:cubicBezTo>
                    <a:cubicBezTo>
                      <a:pt x="210344" y="14461"/>
                      <a:pt x="210344" y="14461"/>
                      <a:pt x="210344" y="10517"/>
                    </a:cubicBezTo>
                    <a:cubicBezTo>
                      <a:pt x="210344" y="3944"/>
                      <a:pt x="215636" y="0"/>
                      <a:pt x="220927" y="0"/>
                    </a:cubicBezTo>
                    <a:cubicBezTo>
                      <a:pt x="226219" y="0"/>
                      <a:pt x="231511" y="3944"/>
                      <a:pt x="231511" y="10517"/>
                    </a:cubicBezTo>
                    <a:cubicBezTo>
                      <a:pt x="231511" y="10517"/>
                      <a:pt x="231511" y="10517"/>
                      <a:pt x="231511" y="14461"/>
                    </a:cubicBezTo>
                    <a:cubicBezTo>
                      <a:pt x="231511" y="14461"/>
                      <a:pt x="231511" y="14461"/>
                      <a:pt x="250032" y="14461"/>
                    </a:cubicBezTo>
                    <a:cubicBezTo>
                      <a:pt x="250032" y="14461"/>
                      <a:pt x="250032" y="14461"/>
                      <a:pt x="250032" y="10517"/>
                    </a:cubicBezTo>
                    <a:cubicBezTo>
                      <a:pt x="250032" y="3944"/>
                      <a:pt x="254000" y="0"/>
                      <a:pt x="260615" y="0"/>
                    </a:cubicBezTo>
                    <a:cubicBezTo>
                      <a:pt x="265907" y="0"/>
                      <a:pt x="269875" y="3944"/>
                      <a:pt x="269875" y="10517"/>
                    </a:cubicBezTo>
                    <a:cubicBezTo>
                      <a:pt x="269875" y="10517"/>
                      <a:pt x="269875" y="10517"/>
                      <a:pt x="269875" y="14461"/>
                    </a:cubicBezTo>
                    <a:cubicBezTo>
                      <a:pt x="269875" y="14461"/>
                      <a:pt x="269875" y="14461"/>
                      <a:pt x="276490" y="14461"/>
                    </a:cubicBezTo>
                    <a:cubicBezTo>
                      <a:pt x="302948" y="14461"/>
                      <a:pt x="325438" y="35496"/>
                      <a:pt x="325438" y="61789"/>
                    </a:cubicBezTo>
                    <a:cubicBezTo>
                      <a:pt x="325438" y="61789"/>
                      <a:pt x="325438" y="61789"/>
                      <a:pt x="325438" y="289223"/>
                    </a:cubicBezTo>
                    <a:cubicBezTo>
                      <a:pt x="325438" y="315516"/>
                      <a:pt x="302948" y="336550"/>
                      <a:pt x="276490" y="336550"/>
                    </a:cubicBezTo>
                    <a:cubicBezTo>
                      <a:pt x="276490" y="336550"/>
                      <a:pt x="276490" y="336550"/>
                      <a:pt x="48948" y="336550"/>
                    </a:cubicBezTo>
                    <a:cubicBezTo>
                      <a:pt x="22490" y="336550"/>
                      <a:pt x="0" y="315516"/>
                      <a:pt x="0" y="289223"/>
                    </a:cubicBezTo>
                    <a:cubicBezTo>
                      <a:pt x="0" y="289223"/>
                      <a:pt x="0" y="289223"/>
                      <a:pt x="0" y="61789"/>
                    </a:cubicBezTo>
                    <a:cubicBezTo>
                      <a:pt x="0" y="35496"/>
                      <a:pt x="22490" y="14461"/>
                      <a:pt x="48948" y="14461"/>
                    </a:cubicBezTo>
                    <a:cubicBezTo>
                      <a:pt x="48948" y="14461"/>
                      <a:pt x="48948" y="14461"/>
                      <a:pt x="55563" y="14461"/>
                    </a:cubicBezTo>
                    <a:cubicBezTo>
                      <a:pt x="55563" y="14461"/>
                      <a:pt x="55563" y="14461"/>
                      <a:pt x="55563" y="10517"/>
                    </a:cubicBezTo>
                    <a:cubicBezTo>
                      <a:pt x="55563" y="3944"/>
                      <a:pt x="59531" y="0"/>
                      <a:pt x="64823" y="0"/>
                    </a:cubicBezTo>
                    <a:close/>
                  </a:path>
                </a:pathLst>
              </a:custGeom>
              <a:solidFill>
                <a:srgbClr val="3264CF"/>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0" name="文本框 39"/>
            <p:cNvSpPr txBox="1"/>
            <p:nvPr/>
          </p:nvSpPr>
          <p:spPr>
            <a:xfrm>
              <a:off x="3788150" y="5953033"/>
              <a:ext cx="2832773" cy="41290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时间：</a:t>
              </a:r>
              <a:r>
                <a:rPr kumimoji="0" lang="en-US" altLang="zh-CN" sz="160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2025.06.12</a:t>
              </a:r>
              <a:endParaRPr kumimoji="0" lang="en-US" altLang="zh-CN" sz="160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43" name="组合 42"/>
          <p:cNvGrpSpPr/>
          <p:nvPr/>
        </p:nvGrpSpPr>
        <p:grpSpPr>
          <a:xfrm>
            <a:off x="617333" y="4971793"/>
            <a:ext cx="2055832" cy="337185"/>
            <a:chOff x="6290819" y="5953033"/>
            <a:chExt cx="2517483" cy="412903"/>
          </a:xfrm>
        </p:grpSpPr>
        <p:sp>
          <p:nvSpPr>
            <p:cNvPr id="44" name="文本框 43"/>
            <p:cNvSpPr txBox="1"/>
            <p:nvPr/>
          </p:nvSpPr>
          <p:spPr>
            <a:xfrm>
              <a:off x="6642755" y="5953033"/>
              <a:ext cx="2165547" cy="41290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汇报人</a:t>
              </a:r>
              <a:r>
                <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：张清越</a:t>
              </a:r>
              <a:endPar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5" name="组合 44"/>
            <p:cNvGrpSpPr/>
            <p:nvPr/>
          </p:nvGrpSpPr>
          <p:grpSpPr>
            <a:xfrm>
              <a:off x="6290819" y="5969714"/>
              <a:ext cx="290422" cy="290422"/>
              <a:chOff x="6112795" y="5959066"/>
              <a:chExt cx="290422" cy="290422"/>
            </a:xfrm>
          </p:grpSpPr>
          <p:sp>
            <p:nvSpPr>
              <p:cNvPr id="46" name="椭圆 45"/>
              <p:cNvSpPr/>
              <p:nvPr/>
            </p:nvSpPr>
            <p:spPr>
              <a:xfrm>
                <a:off x="6112795" y="5959066"/>
                <a:ext cx="290422" cy="290422"/>
              </a:xfrm>
              <a:prstGeom prst="ellipse">
                <a:avLst/>
              </a:prstGeom>
              <a:solidFill>
                <a:schemeClr val="bg1"/>
              </a:solidFill>
              <a:ln>
                <a:noFill/>
              </a:ln>
              <a:effectLst>
                <a:outerShdw blurRad="508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student-graduation-cap-shape_52041"/>
              <p:cNvSpPr>
                <a:spLocks noChangeAspect="1"/>
              </p:cNvSpPr>
              <p:nvPr/>
            </p:nvSpPr>
            <p:spPr bwMode="auto">
              <a:xfrm>
                <a:off x="6195064" y="6028461"/>
                <a:ext cx="125885" cy="151633"/>
              </a:xfrm>
              <a:custGeom>
                <a:avLst/>
                <a:gdLst>
                  <a:gd name="connsiteX0" fmla="*/ 56671 w 279400"/>
                  <a:gd name="connsiteY0" fmla="*/ 192087 h 336550"/>
                  <a:gd name="connsiteX1" fmla="*/ 224047 w 279400"/>
                  <a:gd name="connsiteY1" fmla="*/ 192087 h 336550"/>
                  <a:gd name="connsiteX2" fmla="*/ 279400 w 279400"/>
                  <a:gd name="connsiteY2" fmla="*/ 247752 h 336550"/>
                  <a:gd name="connsiteX3" fmla="*/ 279400 w 279400"/>
                  <a:gd name="connsiteY3" fmla="*/ 336550 h 336550"/>
                  <a:gd name="connsiteX4" fmla="*/ 176602 w 279400"/>
                  <a:gd name="connsiteY4" fmla="*/ 336550 h 336550"/>
                  <a:gd name="connsiteX5" fmla="*/ 158151 w 279400"/>
                  <a:gd name="connsiteY5" fmla="*/ 245101 h 336550"/>
                  <a:gd name="connsiteX6" fmla="*/ 151562 w 279400"/>
                  <a:gd name="connsiteY6" fmla="*/ 239800 h 336550"/>
                  <a:gd name="connsiteX7" fmla="*/ 167377 w 279400"/>
                  <a:gd name="connsiteY7" fmla="*/ 213293 h 336550"/>
                  <a:gd name="connsiteX8" fmla="*/ 167377 w 279400"/>
                  <a:gd name="connsiteY8" fmla="*/ 209317 h 336550"/>
                  <a:gd name="connsiteX9" fmla="*/ 163423 w 279400"/>
                  <a:gd name="connsiteY9" fmla="*/ 207991 h 336550"/>
                  <a:gd name="connsiteX10" fmla="*/ 121249 w 279400"/>
                  <a:gd name="connsiteY10" fmla="*/ 207991 h 336550"/>
                  <a:gd name="connsiteX11" fmla="*/ 118613 w 279400"/>
                  <a:gd name="connsiteY11" fmla="*/ 209317 h 336550"/>
                  <a:gd name="connsiteX12" fmla="*/ 118613 w 279400"/>
                  <a:gd name="connsiteY12" fmla="*/ 213293 h 336550"/>
                  <a:gd name="connsiteX13" fmla="*/ 134429 w 279400"/>
                  <a:gd name="connsiteY13" fmla="*/ 239800 h 336550"/>
                  <a:gd name="connsiteX14" fmla="*/ 126521 w 279400"/>
                  <a:gd name="connsiteY14" fmla="*/ 245101 h 336550"/>
                  <a:gd name="connsiteX15" fmla="*/ 110706 w 279400"/>
                  <a:gd name="connsiteY15" fmla="*/ 336550 h 336550"/>
                  <a:gd name="connsiteX16" fmla="*/ 0 w 279400"/>
                  <a:gd name="connsiteY16" fmla="*/ 336550 h 336550"/>
                  <a:gd name="connsiteX17" fmla="*/ 0 w 279400"/>
                  <a:gd name="connsiteY17" fmla="*/ 247752 h 336550"/>
                  <a:gd name="connsiteX18" fmla="*/ 56671 w 279400"/>
                  <a:gd name="connsiteY18" fmla="*/ 192087 h 336550"/>
                  <a:gd name="connsiteX19" fmla="*/ 138907 w 279400"/>
                  <a:gd name="connsiteY19" fmla="*/ 0 h 336550"/>
                  <a:gd name="connsiteX20" fmla="*/ 219076 w 279400"/>
                  <a:gd name="connsiteY20" fmla="*/ 80169 h 336550"/>
                  <a:gd name="connsiteX21" fmla="*/ 138907 w 279400"/>
                  <a:gd name="connsiteY21" fmla="*/ 160338 h 336550"/>
                  <a:gd name="connsiteX22" fmla="*/ 58738 w 279400"/>
                  <a:gd name="connsiteY22" fmla="*/ 80169 h 336550"/>
                  <a:gd name="connsiteX23" fmla="*/ 138907 w 279400"/>
                  <a:gd name="connsiteY23"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9400" h="336550">
                    <a:moveTo>
                      <a:pt x="56671" y="192087"/>
                    </a:moveTo>
                    <a:cubicBezTo>
                      <a:pt x="56671" y="192087"/>
                      <a:pt x="56671" y="192087"/>
                      <a:pt x="224047" y="192087"/>
                    </a:cubicBezTo>
                    <a:cubicBezTo>
                      <a:pt x="254360" y="192087"/>
                      <a:pt x="279400" y="217269"/>
                      <a:pt x="279400" y="247752"/>
                    </a:cubicBezTo>
                    <a:cubicBezTo>
                      <a:pt x="279400" y="247752"/>
                      <a:pt x="279400" y="247752"/>
                      <a:pt x="279400" y="336550"/>
                    </a:cubicBezTo>
                    <a:cubicBezTo>
                      <a:pt x="279400" y="336550"/>
                      <a:pt x="279400" y="336550"/>
                      <a:pt x="176602" y="336550"/>
                    </a:cubicBezTo>
                    <a:cubicBezTo>
                      <a:pt x="176602" y="336550"/>
                      <a:pt x="176602" y="336550"/>
                      <a:pt x="158151" y="245101"/>
                    </a:cubicBezTo>
                    <a:cubicBezTo>
                      <a:pt x="158151" y="242450"/>
                      <a:pt x="154197" y="239800"/>
                      <a:pt x="151562" y="239800"/>
                    </a:cubicBezTo>
                    <a:cubicBezTo>
                      <a:pt x="151562" y="239800"/>
                      <a:pt x="151562" y="239800"/>
                      <a:pt x="167377" y="213293"/>
                    </a:cubicBezTo>
                    <a:cubicBezTo>
                      <a:pt x="167377" y="211967"/>
                      <a:pt x="167377" y="210642"/>
                      <a:pt x="167377" y="209317"/>
                    </a:cubicBezTo>
                    <a:cubicBezTo>
                      <a:pt x="166059" y="207991"/>
                      <a:pt x="164741" y="207991"/>
                      <a:pt x="163423" y="207991"/>
                    </a:cubicBezTo>
                    <a:cubicBezTo>
                      <a:pt x="163423" y="207991"/>
                      <a:pt x="163423" y="207991"/>
                      <a:pt x="121249" y="207991"/>
                    </a:cubicBezTo>
                    <a:cubicBezTo>
                      <a:pt x="119931" y="207991"/>
                      <a:pt x="118613" y="207991"/>
                      <a:pt x="118613" y="209317"/>
                    </a:cubicBezTo>
                    <a:cubicBezTo>
                      <a:pt x="117296" y="210642"/>
                      <a:pt x="117296" y="211967"/>
                      <a:pt x="118613" y="213293"/>
                    </a:cubicBezTo>
                    <a:cubicBezTo>
                      <a:pt x="118613" y="213293"/>
                      <a:pt x="118613" y="213293"/>
                      <a:pt x="134429" y="239800"/>
                    </a:cubicBezTo>
                    <a:cubicBezTo>
                      <a:pt x="130475" y="239800"/>
                      <a:pt x="127839" y="242450"/>
                      <a:pt x="126521" y="245101"/>
                    </a:cubicBezTo>
                    <a:cubicBezTo>
                      <a:pt x="126521" y="245101"/>
                      <a:pt x="126521" y="245101"/>
                      <a:pt x="110706" y="336550"/>
                    </a:cubicBezTo>
                    <a:cubicBezTo>
                      <a:pt x="110706" y="336550"/>
                      <a:pt x="110706" y="336550"/>
                      <a:pt x="0" y="336550"/>
                    </a:cubicBezTo>
                    <a:cubicBezTo>
                      <a:pt x="0" y="336550"/>
                      <a:pt x="0" y="336550"/>
                      <a:pt x="0" y="247752"/>
                    </a:cubicBezTo>
                    <a:cubicBezTo>
                      <a:pt x="0" y="217269"/>
                      <a:pt x="25040" y="192087"/>
                      <a:pt x="56671" y="192087"/>
                    </a:cubicBezTo>
                    <a:close/>
                    <a:moveTo>
                      <a:pt x="138907" y="0"/>
                    </a:moveTo>
                    <a:cubicBezTo>
                      <a:pt x="183183" y="0"/>
                      <a:pt x="219076" y="35893"/>
                      <a:pt x="219076" y="80169"/>
                    </a:cubicBezTo>
                    <a:cubicBezTo>
                      <a:pt x="219076" y="124445"/>
                      <a:pt x="183183" y="160338"/>
                      <a:pt x="138907" y="160338"/>
                    </a:cubicBezTo>
                    <a:cubicBezTo>
                      <a:pt x="94631" y="160338"/>
                      <a:pt x="58738" y="124445"/>
                      <a:pt x="58738" y="80169"/>
                    </a:cubicBezTo>
                    <a:cubicBezTo>
                      <a:pt x="58738" y="35893"/>
                      <a:pt x="94631" y="0"/>
                      <a:pt x="138907" y="0"/>
                    </a:cubicBezTo>
                    <a:close/>
                  </a:path>
                </a:pathLst>
              </a:custGeom>
              <a:solidFill>
                <a:srgbClr val="3264CF"/>
              </a:solidFill>
              <a:ln>
                <a:noFill/>
              </a:ln>
            </p:spPr>
            <p:txBody>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grpSp>
      <p:sp>
        <p:nvSpPr>
          <p:cNvPr id="48" name="矩形 47"/>
          <p:cNvSpPr/>
          <p:nvPr/>
        </p:nvSpPr>
        <p:spPr>
          <a:xfrm>
            <a:off x="4436996" y="-1"/>
            <a:ext cx="7771629" cy="5752407"/>
          </a:xfrm>
          <a:custGeom>
            <a:avLst/>
            <a:gdLst>
              <a:gd name="connsiteX0" fmla="*/ 0 w 7755004"/>
              <a:gd name="connsiteY0" fmla="*/ 0 h 5752406"/>
              <a:gd name="connsiteX1" fmla="*/ 7755004 w 7755004"/>
              <a:gd name="connsiteY1" fmla="*/ 0 h 5752406"/>
              <a:gd name="connsiteX2" fmla="*/ 7755004 w 7755004"/>
              <a:gd name="connsiteY2" fmla="*/ 5752406 h 5752406"/>
              <a:gd name="connsiteX3" fmla="*/ 0 w 7755004"/>
              <a:gd name="connsiteY3" fmla="*/ 5752406 h 5752406"/>
              <a:gd name="connsiteX4" fmla="*/ 0 w 7755004"/>
              <a:gd name="connsiteY4" fmla="*/ 0 h 5752406"/>
              <a:gd name="connsiteX0-1" fmla="*/ 0 w 7755004"/>
              <a:gd name="connsiteY0-2" fmla="*/ 1 h 5752407"/>
              <a:gd name="connsiteX1-3" fmla="*/ 1498291 w 7755004"/>
              <a:gd name="connsiteY1-4" fmla="*/ 0 h 5752407"/>
              <a:gd name="connsiteX2-5" fmla="*/ 7755004 w 7755004"/>
              <a:gd name="connsiteY2-6" fmla="*/ 1 h 5752407"/>
              <a:gd name="connsiteX3-7" fmla="*/ 7755004 w 7755004"/>
              <a:gd name="connsiteY3-8" fmla="*/ 5752407 h 5752407"/>
              <a:gd name="connsiteX4-9" fmla="*/ 0 w 7755004"/>
              <a:gd name="connsiteY4-10" fmla="*/ 5752407 h 5752407"/>
              <a:gd name="connsiteX5" fmla="*/ 0 w 7755004"/>
              <a:gd name="connsiteY5" fmla="*/ 1 h 5752407"/>
              <a:gd name="connsiteX0-11" fmla="*/ 0 w 7755004"/>
              <a:gd name="connsiteY0-12" fmla="*/ 5752407 h 5752407"/>
              <a:gd name="connsiteX1-13" fmla="*/ 1498291 w 7755004"/>
              <a:gd name="connsiteY1-14" fmla="*/ 0 h 5752407"/>
              <a:gd name="connsiteX2-15" fmla="*/ 7755004 w 7755004"/>
              <a:gd name="connsiteY2-16" fmla="*/ 1 h 5752407"/>
              <a:gd name="connsiteX3-17" fmla="*/ 7755004 w 7755004"/>
              <a:gd name="connsiteY3-18" fmla="*/ 5752407 h 5752407"/>
              <a:gd name="connsiteX4-19" fmla="*/ 0 w 7755004"/>
              <a:gd name="connsiteY4-20" fmla="*/ 5752407 h 5752407"/>
              <a:gd name="connsiteX0-21" fmla="*/ 0 w 7771629"/>
              <a:gd name="connsiteY0-22" fmla="*/ 5752407 h 5752407"/>
              <a:gd name="connsiteX1-23" fmla="*/ 1498291 w 7771629"/>
              <a:gd name="connsiteY1-24" fmla="*/ 0 h 5752407"/>
              <a:gd name="connsiteX2-25" fmla="*/ 7755004 w 7771629"/>
              <a:gd name="connsiteY2-26" fmla="*/ 1 h 5752407"/>
              <a:gd name="connsiteX3-27" fmla="*/ 7771629 w 7771629"/>
              <a:gd name="connsiteY3-28" fmla="*/ 4472247 h 5752407"/>
              <a:gd name="connsiteX4-29" fmla="*/ 0 w 7771629"/>
              <a:gd name="connsiteY4-30" fmla="*/ 5752407 h 575240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771629" h="5752407">
                <a:moveTo>
                  <a:pt x="0" y="5752407"/>
                </a:moveTo>
                <a:lnTo>
                  <a:pt x="1498291" y="0"/>
                </a:lnTo>
                <a:lnTo>
                  <a:pt x="7755004" y="1"/>
                </a:lnTo>
                <a:cubicBezTo>
                  <a:pt x="7760546" y="1490750"/>
                  <a:pt x="7766087" y="2981498"/>
                  <a:pt x="7771629" y="4472247"/>
                </a:cubicBezTo>
                <a:lnTo>
                  <a:pt x="0" y="5752407"/>
                </a:lnTo>
                <a:close/>
              </a:path>
            </a:pathLst>
          </a:custGeom>
          <a:gradFill>
            <a:gsLst>
              <a:gs pos="0">
                <a:srgbClr val="4A82DE">
                  <a:alpha val="39000"/>
                </a:srgbClr>
              </a:gs>
              <a:gs pos="100000">
                <a:srgbClr val="4A82DE">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7" name="组合 196"/>
          <p:cNvGrpSpPr/>
          <p:nvPr>
            <p:custDataLst>
              <p:tags r:id="rId1"/>
            </p:custDataLst>
          </p:nvPr>
        </p:nvGrpSpPr>
        <p:grpSpPr>
          <a:xfrm rot="21300000">
            <a:off x="6233795" y="-120650"/>
            <a:ext cx="7009130" cy="5022215"/>
            <a:chOff x="2610" y="4535"/>
            <a:chExt cx="14208" cy="9914"/>
          </a:xfrm>
        </p:grpSpPr>
        <p:sp>
          <p:nvSpPr>
            <p:cNvPr id="198" name="任意多边形: 形状 37"/>
            <p:cNvSpPr/>
            <p:nvPr>
              <p:custDataLst>
                <p:tags r:id="rId2"/>
              </p:custDataLst>
            </p:nvPr>
          </p:nvSpPr>
          <p:spPr>
            <a:xfrm>
              <a:off x="2610" y="4535"/>
              <a:ext cx="14208" cy="9915"/>
            </a:xfrm>
            <a:custGeom>
              <a:avLst/>
              <a:gdLst>
                <a:gd name="connsiteX0" fmla="*/ 156917 w 3219769"/>
                <a:gd name="connsiteY0" fmla="*/ 0 h 2246382"/>
                <a:gd name="connsiteX1" fmla="*/ 1756441 w 3219769"/>
                <a:gd name="connsiteY1" fmla="*/ 0 h 2246382"/>
                <a:gd name="connsiteX2" fmla="*/ 1804390 w 3219769"/>
                <a:gd name="connsiteY2" fmla="*/ 47950 h 2246382"/>
                <a:gd name="connsiteX3" fmla="*/ 3146750 w 3219769"/>
                <a:gd name="connsiteY3" fmla="*/ 47950 h 2246382"/>
                <a:gd name="connsiteX4" fmla="*/ 3192514 w 3219769"/>
                <a:gd name="connsiteY4" fmla="*/ 93713 h 2246382"/>
                <a:gd name="connsiteX5" fmla="*/ 3192514 w 3219769"/>
                <a:gd name="connsiteY5" fmla="*/ 395440 h 2246382"/>
                <a:gd name="connsiteX6" fmla="*/ 3192514 w 3219769"/>
                <a:gd name="connsiteY6" fmla="*/ 886941 h 2246382"/>
                <a:gd name="connsiteX7" fmla="*/ 3219769 w 3219769"/>
                <a:gd name="connsiteY7" fmla="*/ 914170 h 2246382"/>
                <a:gd name="connsiteX8" fmla="*/ 3219769 w 3219769"/>
                <a:gd name="connsiteY8" fmla="*/ 1215897 h 2246382"/>
                <a:gd name="connsiteX9" fmla="*/ 3219769 w 3219769"/>
                <a:gd name="connsiteY9" fmla="*/ 1497116 h 2246382"/>
                <a:gd name="connsiteX10" fmla="*/ 3219769 w 3219769"/>
                <a:gd name="connsiteY10" fmla="*/ 1798843 h 2246382"/>
                <a:gd name="connsiteX11" fmla="*/ 3187633 w 3219769"/>
                <a:gd name="connsiteY11" fmla="*/ 1830979 h 2246382"/>
                <a:gd name="connsiteX12" fmla="*/ 3187633 w 3219769"/>
                <a:gd name="connsiteY12" fmla="*/ 1856688 h 2246382"/>
                <a:gd name="connsiteX13" fmla="*/ 3187633 w 3219769"/>
                <a:gd name="connsiteY13" fmla="*/ 2158415 h 2246382"/>
                <a:gd name="connsiteX14" fmla="*/ 3099640 w 3219769"/>
                <a:gd name="connsiteY14" fmla="*/ 2246382 h 2246382"/>
                <a:gd name="connsiteX15" fmla="*/ 117688 w 3219769"/>
                <a:gd name="connsiteY15" fmla="*/ 2246382 h 2246382"/>
                <a:gd name="connsiteX16" fmla="*/ 687 w 3219769"/>
                <a:gd name="connsiteY16" fmla="*/ 2129406 h 2246382"/>
                <a:gd name="connsiteX17" fmla="*/ 0 w 3219769"/>
                <a:gd name="connsiteY17" fmla="*/ 458618 h 2246382"/>
                <a:gd name="connsiteX18" fmla="*/ 124 w 3219769"/>
                <a:gd name="connsiteY18" fmla="*/ 458494 h 2246382"/>
                <a:gd name="connsiteX19" fmla="*/ 0 w 3219769"/>
                <a:gd name="connsiteY19" fmla="*/ 156891 h 2246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19769" h="2246382">
                  <a:moveTo>
                    <a:pt x="156917" y="0"/>
                  </a:moveTo>
                  <a:lnTo>
                    <a:pt x="1756441" y="0"/>
                  </a:lnTo>
                  <a:lnTo>
                    <a:pt x="1804390" y="47950"/>
                  </a:lnTo>
                  <a:lnTo>
                    <a:pt x="3146750" y="47950"/>
                  </a:lnTo>
                  <a:lnTo>
                    <a:pt x="3192514" y="93713"/>
                  </a:lnTo>
                  <a:lnTo>
                    <a:pt x="3192514" y="395440"/>
                  </a:lnTo>
                  <a:lnTo>
                    <a:pt x="3192514" y="886941"/>
                  </a:lnTo>
                  <a:lnTo>
                    <a:pt x="3219769" y="914170"/>
                  </a:lnTo>
                  <a:lnTo>
                    <a:pt x="3219769" y="1215897"/>
                  </a:lnTo>
                  <a:lnTo>
                    <a:pt x="3219769" y="1497116"/>
                  </a:lnTo>
                  <a:lnTo>
                    <a:pt x="3219769" y="1798843"/>
                  </a:lnTo>
                  <a:lnTo>
                    <a:pt x="3187633" y="1830979"/>
                  </a:lnTo>
                  <a:lnTo>
                    <a:pt x="3187633" y="1856688"/>
                  </a:lnTo>
                  <a:lnTo>
                    <a:pt x="3187633" y="2158415"/>
                  </a:lnTo>
                  <a:lnTo>
                    <a:pt x="3099640" y="2246382"/>
                  </a:lnTo>
                  <a:lnTo>
                    <a:pt x="117688" y="2246382"/>
                  </a:lnTo>
                  <a:lnTo>
                    <a:pt x="687" y="2129406"/>
                  </a:lnTo>
                  <a:lnTo>
                    <a:pt x="0" y="458618"/>
                  </a:lnTo>
                  <a:lnTo>
                    <a:pt x="124" y="458494"/>
                  </a:lnTo>
                  <a:lnTo>
                    <a:pt x="0" y="156891"/>
                  </a:lnTo>
                  <a:close/>
                </a:path>
              </a:pathLst>
            </a:custGeom>
            <a:gradFill flip="none" rotWithShape="1">
              <a:gsLst>
                <a:gs pos="47000">
                  <a:schemeClr val="accent1">
                    <a:alpha val="0"/>
                  </a:schemeClr>
                </a:gs>
                <a:gs pos="0">
                  <a:schemeClr val="accent1">
                    <a:alpha val="50000"/>
                  </a:schemeClr>
                </a:gs>
                <a:gs pos="100000">
                  <a:schemeClr val="accent1">
                    <a:alpha val="36000"/>
                  </a:schemeClr>
                </a:gs>
              </a:gsLst>
              <a:lin ang="2700000" scaled="1"/>
              <a:tileRect/>
            </a:gradFill>
            <a:ln w="9525" cap="flat">
              <a:solidFill>
                <a:schemeClr val="accent1"/>
              </a:solidFill>
              <a:prstDash val="solid"/>
              <a:miter/>
            </a:ln>
            <a:scene3d>
              <a:camera prst="perspectiveRight"/>
              <a:lightRig rig="threePt" dir="t"/>
            </a:scene3d>
          </p:spPr>
          <p:txBody>
            <a:bodyPr rtlCol="0" anchor="ctr"/>
            <a:p>
              <a:endParaRPr lang="zh-CN" altLang="en-US"/>
            </a:p>
          </p:txBody>
        </p:sp>
        <p:sp>
          <p:nvSpPr>
            <p:cNvPr id="199" name="任意多边形: 形状 38"/>
            <p:cNvSpPr/>
            <p:nvPr>
              <p:custDataLst>
                <p:tags r:id="rId3"/>
              </p:custDataLst>
            </p:nvPr>
          </p:nvSpPr>
          <p:spPr>
            <a:xfrm>
              <a:off x="16626" y="8593"/>
              <a:ext cx="88" cy="3861"/>
            </a:xfrm>
            <a:custGeom>
              <a:avLst/>
              <a:gdLst>
                <a:gd name="connsiteX0" fmla="*/ 814 w 19882"/>
                <a:gd name="connsiteY0" fmla="*/ 0 h 874839"/>
                <a:gd name="connsiteX1" fmla="*/ 19882 w 19882"/>
                <a:gd name="connsiteY1" fmla="*/ 19068 h 874839"/>
                <a:gd name="connsiteX2" fmla="*/ 19882 w 19882"/>
                <a:gd name="connsiteY2" fmla="*/ 310681 h 874839"/>
                <a:gd name="connsiteX3" fmla="*/ 19882 w 19882"/>
                <a:gd name="connsiteY3" fmla="*/ 563345 h 874839"/>
                <a:gd name="connsiteX4" fmla="*/ 19882 w 19882"/>
                <a:gd name="connsiteY4" fmla="*/ 854958 h 874839"/>
                <a:gd name="connsiteX5" fmla="*/ 0 w 19882"/>
                <a:gd name="connsiteY5" fmla="*/ 874839 h 874839"/>
                <a:gd name="connsiteX6" fmla="*/ 407 w 19882"/>
                <a:gd name="connsiteY6" fmla="*/ 582819 h 874839"/>
                <a:gd name="connsiteX7" fmla="*/ 0 w 19882"/>
                <a:gd name="connsiteY7" fmla="*/ 583226 h 874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882" h="874839">
                  <a:moveTo>
                    <a:pt x="814" y="0"/>
                  </a:moveTo>
                  <a:lnTo>
                    <a:pt x="19882" y="19068"/>
                  </a:lnTo>
                  <a:lnTo>
                    <a:pt x="19882" y="310681"/>
                  </a:lnTo>
                  <a:lnTo>
                    <a:pt x="19882" y="563345"/>
                  </a:lnTo>
                  <a:lnTo>
                    <a:pt x="19882" y="854958"/>
                  </a:lnTo>
                  <a:lnTo>
                    <a:pt x="0" y="874839"/>
                  </a:lnTo>
                  <a:lnTo>
                    <a:pt x="407" y="582819"/>
                  </a:lnTo>
                  <a:lnTo>
                    <a:pt x="0" y="583226"/>
                  </a:lnTo>
                  <a:close/>
                </a:path>
              </a:pathLst>
            </a:custGeom>
            <a:solidFill>
              <a:schemeClr val="accent1"/>
            </a:solidFill>
            <a:ln w="6502" cap="flat">
              <a:noFill/>
              <a:prstDash val="solid"/>
              <a:miter/>
            </a:ln>
            <a:scene3d>
              <a:camera prst="perspectiveRight"/>
              <a:lightRig rig="threePt" dir="t"/>
            </a:scene3d>
          </p:spPr>
          <p:txBody>
            <a:bodyPr rtlCol="0" anchor="ctr"/>
            <a:p>
              <a:endParaRPr lang="zh-CN" altLang="en-US"/>
            </a:p>
          </p:txBody>
        </p:sp>
        <p:pic>
          <p:nvPicPr>
            <p:cNvPr id="200" name="图片 199" descr="E:/设计图片素材/7900721_.jpg7900721_"/>
            <p:cNvPicPr>
              <a:picLocks noChangeAspect="1"/>
            </p:cNvPicPr>
            <p:nvPr>
              <p:custDataLst>
                <p:tags r:id="rId4"/>
              </p:custDataLst>
            </p:nvPr>
          </p:nvPicPr>
          <p:blipFill rotWithShape="1">
            <a:blip r:embed="rId5" cstate="email"/>
            <a:srcRect l="-11" t="12375" r="25847" b="12375"/>
            <a:stretch>
              <a:fillRect/>
            </a:stretch>
          </p:blipFill>
          <p:spPr>
            <a:xfrm>
              <a:off x="3517" y="5300"/>
              <a:ext cx="12396" cy="8384"/>
            </a:xfrm>
            <a:prstGeom prst="snip1Rect">
              <a:avLst>
                <a:gd name="adj" fmla="val 8425"/>
              </a:avLst>
            </a:prstGeom>
            <a:ln>
              <a:solidFill>
                <a:schemeClr val="accent1"/>
              </a:solidFill>
            </a:ln>
            <a:effectLst>
              <a:outerShdw blurRad="419100" dist="127000" dir="5400000" sx="97000" sy="97000" algn="t" rotWithShape="0">
                <a:schemeClr val="accent1">
                  <a:alpha val="41000"/>
                </a:schemeClr>
              </a:outerShdw>
            </a:effectLst>
            <a:scene3d>
              <a:camera prst="perspectiveRight"/>
              <a:lightRig rig="threePt" dir="t"/>
            </a:scene3d>
          </p:spPr>
        </p:pic>
      </p:grpSp>
      <p:sp>
        <p:nvSpPr>
          <p:cNvPr id="36" name="文本框 35"/>
          <p:cNvSpPr txBox="1"/>
          <p:nvPr/>
        </p:nvSpPr>
        <p:spPr>
          <a:xfrm>
            <a:off x="593955" y="2342871"/>
            <a:ext cx="8788352" cy="1722120"/>
          </a:xfrm>
          <a:prstGeom prst="rect">
            <a:avLst/>
          </a:prstGeom>
          <a:noFill/>
        </p:spPr>
        <p:txBody>
          <a:bodyPr wrap="square" rtlCol="0">
            <a:spAutoFit/>
          </a:bodyPr>
          <a:lstStyle/>
          <a:p>
            <a:r>
              <a:rPr lang="zh-CN" altLang="en-US" sz="6600" b="1" dirty="0">
                <a:solidFill>
                  <a:schemeClr val="bg1"/>
                </a:solidFill>
                <a:effectLst>
                  <a:outerShdw blurRad="127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老年劳动力再就业 </a:t>
            </a:r>
            <a:endParaRPr lang="zh-CN" altLang="en-US" sz="6600" b="1" dirty="0">
              <a:solidFill>
                <a:schemeClr val="bg1"/>
              </a:solidFill>
              <a:effectLst>
                <a:outerShdw blurRad="127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4000" b="1" i="1" dirty="0">
                <a:solidFill>
                  <a:srgbClr val="E6CEBC"/>
                </a:solidFill>
                <a:effectLst>
                  <a:outerShdw blurRad="127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影响因素</a:t>
            </a:r>
            <a:r>
              <a:rPr lang="zh-CN" altLang="en-US" sz="4000" b="1" i="1" dirty="0">
                <a:solidFill>
                  <a:srgbClr val="E6CEBC"/>
                </a:solidFill>
                <a:effectLst>
                  <a:outerShdw blurRad="127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分析</a:t>
            </a:r>
            <a:endParaRPr lang="zh-CN" altLang="en-US" sz="4000" b="1" i="1" dirty="0">
              <a:solidFill>
                <a:srgbClr val="E6CEBC"/>
              </a:solidFill>
              <a:effectLst>
                <a:outerShdw blurRad="127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9" name="组合 48"/>
          <p:cNvGrpSpPr/>
          <p:nvPr/>
        </p:nvGrpSpPr>
        <p:grpSpPr>
          <a:xfrm>
            <a:off x="630953" y="501573"/>
            <a:ext cx="1724612" cy="368300"/>
            <a:chOff x="8678487" y="323005"/>
            <a:chExt cx="1724612" cy="368300"/>
          </a:xfrm>
        </p:grpSpPr>
        <p:grpSp>
          <p:nvGrpSpPr>
            <p:cNvPr id="50" name="组合 49"/>
            <p:cNvGrpSpPr/>
            <p:nvPr/>
          </p:nvGrpSpPr>
          <p:grpSpPr>
            <a:xfrm>
              <a:off x="8678487" y="427815"/>
              <a:ext cx="598517" cy="120825"/>
              <a:chOff x="8678487" y="332509"/>
              <a:chExt cx="1070623" cy="216131"/>
            </a:xfrm>
          </p:grpSpPr>
          <p:sp>
            <p:nvSpPr>
              <p:cNvPr id="53" name="椭圆 52"/>
              <p:cNvSpPr/>
              <p:nvPr/>
            </p:nvSpPr>
            <p:spPr>
              <a:xfrm>
                <a:off x="8678487" y="332509"/>
                <a:ext cx="216131" cy="216131"/>
              </a:xfrm>
              <a:prstGeom prst="ellipse">
                <a:avLst/>
              </a:prstGeom>
              <a:solidFill>
                <a:srgbClr val="E6CE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4" name="椭圆 53"/>
              <p:cNvSpPr/>
              <p:nvPr/>
            </p:nvSpPr>
            <p:spPr>
              <a:xfrm>
                <a:off x="9105733" y="332509"/>
                <a:ext cx="216131" cy="216131"/>
              </a:xfrm>
              <a:prstGeom prst="ellipse">
                <a:avLst/>
              </a:prstGeom>
              <a:solidFill>
                <a:srgbClr val="4A82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5" name="椭圆 54"/>
              <p:cNvSpPr/>
              <p:nvPr/>
            </p:nvSpPr>
            <p:spPr>
              <a:xfrm>
                <a:off x="9532979" y="332509"/>
                <a:ext cx="216131" cy="21613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51" name="矩形 50"/>
            <p:cNvSpPr/>
            <p:nvPr/>
          </p:nvSpPr>
          <p:spPr>
            <a:xfrm>
              <a:off x="9336683" y="323005"/>
              <a:ext cx="309880" cy="368300"/>
            </a:xfrm>
            <a:prstGeom prst="rect">
              <a:avLst/>
            </a:prstGeom>
          </p:spPr>
          <p:txBody>
            <a:bodyPr wrap="none">
              <a:spAutoFit/>
            </a:bodyPr>
            <a:lstStyle/>
            <a:p>
              <a:endParaRPr lang="zh-CN" altLang="en-US" b="1"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2" name="矩形 51"/>
            <p:cNvSpPr/>
            <p:nvPr/>
          </p:nvSpPr>
          <p:spPr>
            <a:xfrm>
              <a:off x="10093219" y="340033"/>
              <a:ext cx="309880" cy="337185"/>
            </a:xfrm>
            <a:prstGeom prst="rect">
              <a:avLst/>
            </a:prstGeom>
          </p:spPr>
          <p:txBody>
            <a:bodyPr wrap="none">
              <a:spAutoFit/>
            </a:bodyPr>
            <a:lstStyle/>
            <a:p>
              <a:endPar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2" name="组合 1"/>
          <p:cNvGrpSpPr/>
          <p:nvPr/>
        </p:nvGrpSpPr>
        <p:grpSpPr>
          <a:xfrm>
            <a:off x="610872" y="1615484"/>
            <a:ext cx="2677236" cy="579257"/>
            <a:chOff x="610872" y="1647016"/>
            <a:chExt cx="2677236" cy="579257"/>
          </a:xfrm>
        </p:grpSpPr>
        <p:sp>
          <p:nvSpPr>
            <p:cNvPr id="5" name="圆角矩形 4"/>
            <p:cNvSpPr/>
            <p:nvPr/>
          </p:nvSpPr>
          <p:spPr>
            <a:xfrm>
              <a:off x="610872" y="1647016"/>
              <a:ext cx="2677236" cy="579257"/>
            </a:xfrm>
            <a:prstGeom prst="roundRect">
              <a:avLst>
                <a:gd name="adj" fmla="val 50000"/>
              </a:avLst>
            </a:prstGeom>
            <a:solidFill>
              <a:srgbClr val="E6CE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矩形 27"/>
            <p:cNvSpPr/>
            <p:nvPr/>
          </p:nvSpPr>
          <p:spPr>
            <a:xfrm>
              <a:off x="782438" y="1668832"/>
              <a:ext cx="2316480" cy="521970"/>
            </a:xfrm>
            <a:prstGeom prst="rect">
              <a:avLst/>
            </a:prstGeom>
          </p:spPr>
          <p:txBody>
            <a:bodyPr wrap="none">
              <a:spAutoFit/>
            </a:bodyPr>
            <a:lstStyle/>
            <a:p>
              <a:pPr algn="ctr"/>
              <a:r>
                <a:rPr lang="zh-CN" altLang="en-US" sz="2800" b="1" dirty="0">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基于文本</a:t>
              </a:r>
              <a:r>
                <a:rPr lang="zh-CN" altLang="en-US" sz="2800" b="1" dirty="0">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挖掘</a:t>
              </a:r>
              <a:endParaRPr lang="zh-CN" altLang="en-US" sz="2800" b="1" dirty="0">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bldLst>
      <p:bldP spid="13" grpId="0" animBg="1"/>
      <p:bldP spid="12" grpId="0" animBg="1"/>
      <p:bldP spid="35" grpId="0"/>
      <p:bldP spid="48" grpId="0" animBg="1"/>
      <p:bldP spid="3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rot="2700000">
            <a:off x="-3073530" y="185066"/>
            <a:ext cx="6512810" cy="6512810"/>
          </a:xfrm>
          <a:prstGeom prst="roundRect">
            <a:avLst>
              <a:gd name="adj" fmla="val 11411"/>
            </a:avLst>
          </a:prstGeom>
          <a:solidFill>
            <a:srgbClr val="3264CF"/>
          </a:solidFill>
          <a:ln>
            <a:noFill/>
          </a:ln>
          <a:effectLst>
            <a:outerShdw blurRad="190500" dist="635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平行四边形 5"/>
          <p:cNvSpPr/>
          <p:nvPr/>
        </p:nvSpPr>
        <p:spPr>
          <a:xfrm rot="18888180">
            <a:off x="333167" y="6271576"/>
            <a:ext cx="4256116" cy="311167"/>
          </a:xfrm>
          <a:prstGeom prst="parallelogram">
            <a:avLst>
              <a:gd name="adj" fmla="val 100326"/>
            </a:avLst>
          </a:prstGeom>
          <a:solidFill>
            <a:srgbClr val="4A82DE"/>
          </a:solidFill>
          <a:ln>
            <a:noFill/>
          </a:ln>
          <a:effectLst>
            <a:outerShdw blurRad="190500" dist="635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 name="组合 4"/>
          <p:cNvGrpSpPr/>
          <p:nvPr>
            <p:custDataLst>
              <p:tags r:id="rId1"/>
            </p:custDataLst>
          </p:nvPr>
        </p:nvGrpSpPr>
        <p:grpSpPr>
          <a:xfrm>
            <a:off x="5942347" y="1302734"/>
            <a:ext cx="5946938" cy="1052307"/>
            <a:chOff x="5895049" y="1239669"/>
            <a:chExt cx="5946938" cy="1052307"/>
          </a:xfrm>
        </p:grpSpPr>
        <p:sp>
          <p:nvSpPr>
            <p:cNvPr id="3" name="圆角矩形 2"/>
            <p:cNvSpPr/>
            <p:nvPr>
              <p:custDataLst>
                <p:tags r:id="rId2"/>
              </p:custDataLst>
            </p:nvPr>
          </p:nvSpPr>
          <p:spPr>
            <a:xfrm>
              <a:off x="5895049" y="1239669"/>
              <a:ext cx="5293581" cy="1052307"/>
            </a:xfrm>
            <a:prstGeom prst="roundRect">
              <a:avLst>
                <a:gd name="adj" fmla="val 0"/>
              </a:avLst>
            </a:prstGeom>
            <a:gradFill>
              <a:gsLst>
                <a:gs pos="0">
                  <a:srgbClr val="E6CEBC">
                    <a:alpha val="1000"/>
                  </a:srgbClr>
                </a:gs>
                <a:gs pos="100000">
                  <a:srgbClr val="E6CEBC">
                    <a:alpha val="13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文本框 12"/>
            <p:cNvSpPr txBox="1"/>
            <p:nvPr>
              <p:custDataLst>
                <p:tags r:id="rId3"/>
              </p:custDataLst>
            </p:nvPr>
          </p:nvSpPr>
          <p:spPr>
            <a:xfrm>
              <a:off x="7118611" y="1439891"/>
              <a:ext cx="4723376" cy="460375"/>
            </a:xfrm>
            <a:prstGeom prst="rect">
              <a:avLst/>
            </a:prstGeom>
            <a:noFill/>
          </p:spPr>
          <p:txBody>
            <a:bodyPr wrap="square" rtlCol="0">
              <a:spAutoFit/>
            </a:bodyPr>
            <a:lstStyle/>
            <a:p>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老年劳动力就业形势及政策解读</a:t>
              </a:r>
              <a:endPar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文本框 13"/>
            <p:cNvSpPr txBox="1"/>
            <p:nvPr>
              <p:custDataLst>
                <p:tags r:id="rId4"/>
              </p:custDataLst>
            </p:nvPr>
          </p:nvSpPr>
          <p:spPr>
            <a:xfrm>
              <a:off x="7115025" y="1855421"/>
              <a:ext cx="4679664" cy="275590"/>
            </a:xfrm>
            <a:prstGeom prst="rect">
              <a:avLst/>
            </a:prstGeom>
            <a:noFill/>
          </p:spPr>
          <p:txBody>
            <a:bodyPr wrap="square" rtlCol="0">
              <a:spAutoFit/>
            </a:bodyPr>
            <a:lstStyle/>
            <a:p>
              <a:pPr>
                <a:lnSpc>
                  <a:spcPct val="120000"/>
                </a:lnSpc>
              </a:pPr>
              <a:r>
                <a:rPr lang="en-US" altLang="zh-CN" sz="1000" dirty="0">
                  <a:solidFill>
                    <a:schemeClr val="bg1">
                      <a:lumMod val="50000"/>
                    </a:schemeClr>
                  </a:solidFill>
                  <a:latin typeface="微软雅黑" panose="020B0503020204020204" pitchFamily="34" charset="-122"/>
                  <a:ea typeface="微软雅黑" panose="020B0503020204020204" pitchFamily="34" charset="-122"/>
                  <a:cs typeface="Aparajita" panose="020B0604020202020204" pitchFamily="34" charset="0"/>
                  <a:sym typeface="微软雅黑" panose="020B0503020204020204" pitchFamily="34" charset="-122"/>
                </a:rPr>
                <a:t>Employment Situation and Policy Interpretation of the Elderly Labor Force</a:t>
              </a:r>
              <a:endParaRPr lang="en-US" altLang="zh-CN" sz="1000" dirty="0">
                <a:solidFill>
                  <a:schemeClr val="bg1">
                    <a:lumMod val="50000"/>
                  </a:schemeClr>
                </a:solidFill>
                <a:latin typeface="微软雅黑" panose="020B0503020204020204" pitchFamily="34" charset="-122"/>
                <a:ea typeface="微软雅黑" panose="020B0503020204020204" pitchFamily="34" charset="-122"/>
                <a:cs typeface="Aparajita" panose="020B0604020202020204" pitchFamily="34" charset="0"/>
                <a:sym typeface="微软雅黑" panose="020B0503020204020204" pitchFamily="34" charset="-122"/>
              </a:endParaRPr>
            </a:p>
          </p:txBody>
        </p:sp>
        <p:grpSp>
          <p:nvGrpSpPr>
            <p:cNvPr id="2" name="组合 1"/>
            <p:cNvGrpSpPr/>
            <p:nvPr/>
          </p:nvGrpSpPr>
          <p:grpSpPr>
            <a:xfrm>
              <a:off x="6183144" y="1458288"/>
              <a:ext cx="649324" cy="598831"/>
              <a:chOff x="6183144" y="1458288"/>
              <a:chExt cx="649324" cy="598831"/>
            </a:xfrm>
          </p:grpSpPr>
          <p:sp>
            <p:nvSpPr>
              <p:cNvPr id="57" name="圆角矩形 56"/>
              <p:cNvSpPr/>
              <p:nvPr>
                <p:custDataLst>
                  <p:tags r:id="rId5"/>
                </p:custDataLst>
              </p:nvPr>
            </p:nvSpPr>
            <p:spPr>
              <a:xfrm rot="2700000">
                <a:off x="6198522" y="1458288"/>
                <a:ext cx="598831" cy="598831"/>
              </a:xfrm>
              <a:prstGeom prst="roundRect">
                <a:avLst>
                  <a:gd name="adj" fmla="val 11411"/>
                </a:avLst>
              </a:prstGeom>
              <a:solidFill>
                <a:srgbClr val="3264CF"/>
              </a:solidFill>
              <a:ln>
                <a:noFill/>
              </a:ln>
              <a:effectLst>
                <a:outerShdw blurRad="190500" dist="635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文本框 14"/>
              <p:cNvSpPr txBox="1"/>
              <p:nvPr>
                <p:custDataLst>
                  <p:tags r:id="rId6"/>
                </p:custDataLst>
              </p:nvPr>
            </p:nvSpPr>
            <p:spPr>
              <a:xfrm>
                <a:off x="6183144" y="1536805"/>
                <a:ext cx="649324" cy="461665"/>
              </a:xfrm>
              <a:prstGeom prst="rect">
                <a:avLst/>
              </a:prstGeom>
              <a:noFill/>
            </p:spPr>
            <p:txBody>
              <a:bodyPr wrap="square" rtlCol="0">
                <a:spAutoFit/>
              </a:bodyPr>
              <a:lstStyle/>
              <a:p>
                <a:pPr algn="ctr"/>
                <a:r>
                  <a:rPr lang="en-US" altLang="zh-CN" sz="2400" b="1" dirty="0">
                    <a:solidFill>
                      <a:schemeClr val="bg1"/>
                    </a:solidFill>
                    <a:effectLst>
                      <a:outerShdw blurRad="25400" dist="25400" dir="2700000" algn="tl">
                        <a:srgbClr val="000000">
                          <a:alpha val="34000"/>
                        </a:srgbClr>
                      </a:outerShdw>
                    </a:effectLst>
                    <a:latin typeface="微软雅黑" panose="020B0503020204020204" pitchFamily="34" charset="-122"/>
                    <a:ea typeface="微软雅黑" panose="020B0503020204020204" pitchFamily="34" charset="-122"/>
                    <a:sym typeface="微软雅黑" panose="020B0503020204020204" pitchFamily="34" charset="-122"/>
                  </a:rPr>
                  <a:t>01</a:t>
                </a:r>
                <a:endParaRPr lang="zh-CN" altLang="en-US" sz="2400" b="1" dirty="0">
                  <a:solidFill>
                    <a:schemeClr val="bg1"/>
                  </a:solidFill>
                  <a:effectLst>
                    <a:outerShdw blurRad="25400" dist="25400" dir="2700000" algn="tl">
                      <a:srgbClr val="000000">
                        <a:alpha val="34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grpSp>
      <p:sp>
        <p:nvSpPr>
          <p:cNvPr id="44" name="圆角矩形 43"/>
          <p:cNvSpPr/>
          <p:nvPr/>
        </p:nvSpPr>
        <p:spPr>
          <a:xfrm rot="2700000">
            <a:off x="-3838403" y="-435822"/>
            <a:ext cx="6429537" cy="7296824"/>
          </a:xfrm>
          <a:prstGeom prst="roundRect">
            <a:avLst>
              <a:gd name="adj" fmla="val 0"/>
            </a:avLst>
          </a:prstGeom>
          <a:gradFill>
            <a:gsLst>
              <a:gs pos="100000">
                <a:srgbClr val="4A82DE"/>
              </a:gs>
              <a:gs pos="0">
                <a:srgbClr val="4A82DE">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nvGrpSpPr>
        <p:grpSpPr>
          <a:xfrm>
            <a:off x="833322" y="1589587"/>
            <a:ext cx="1492859" cy="3872843"/>
            <a:chOff x="-26418" y="-734831"/>
            <a:chExt cx="1492859" cy="3872843"/>
          </a:xfrm>
        </p:grpSpPr>
        <p:sp>
          <p:nvSpPr>
            <p:cNvPr id="8" name="文本框 7"/>
            <p:cNvSpPr txBox="1"/>
            <p:nvPr/>
          </p:nvSpPr>
          <p:spPr>
            <a:xfrm>
              <a:off x="591482" y="-1309"/>
              <a:ext cx="874959" cy="3139321"/>
            </a:xfrm>
            <a:prstGeom prst="rect">
              <a:avLst/>
            </a:prstGeom>
            <a:noFill/>
          </p:spPr>
          <p:txBody>
            <a:bodyPr wrap="square" rtlCol="0">
              <a:spAutoFit/>
            </a:bodyPr>
            <a:lstStyle/>
            <a:p>
              <a:r>
                <a:rPr lang="zh-CN" altLang="en-US" sz="6600" b="1" dirty="0">
                  <a:solidFill>
                    <a:schemeClr val="bg1"/>
                  </a:solidFill>
                  <a:effectLst>
                    <a:outerShdw blurRad="25400" dist="25400" dir="2700000" algn="tl">
                      <a:srgbClr val="000000">
                        <a:alpha val="34000"/>
                      </a:srgbClr>
                    </a:outerShdw>
                  </a:effectLst>
                  <a:latin typeface="微软雅黑" panose="020B0503020204020204" pitchFamily="34" charset="-122"/>
                  <a:ea typeface="微软雅黑" panose="020B0503020204020204" pitchFamily="34" charset="-122"/>
                  <a:sym typeface="微软雅黑" panose="020B0503020204020204" pitchFamily="34" charset="-122"/>
                </a:rPr>
                <a:t>目录 </a:t>
              </a:r>
              <a:endParaRPr lang="zh-CN" altLang="en-US" sz="6000" b="1" dirty="0">
                <a:solidFill>
                  <a:schemeClr val="bg1"/>
                </a:solidFill>
                <a:effectLst>
                  <a:outerShdw blurRad="25400" dist="25400" dir="2700000" algn="tl">
                    <a:srgbClr val="000000">
                      <a:alpha val="34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nvSpPr>
          <p:spPr>
            <a:xfrm rot="5400000">
              <a:off x="-1539381" y="778132"/>
              <a:ext cx="3733811" cy="707886"/>
            </a:xfrm>
            <a:prstGeom prst="rect">
              <a:avLst/>
            </a:prstGeom>
            <a:noFill/>
          </p:spPr>
          <p:txBody>
            <a:bodyPr wrap="square" rtlCol="0">
              <a:spAutoFit/>
            </a:bodyPr>
            <a:lstStyle/>
            <a:p>
              <a:pPr algn="dist"/>
              <a:r>
                <a:rPr lang="en-US" altLang="zh-CN" sz="4000" dirty="0">
                  <a:solidFill>
                    <a:schemeClr val="bg1"/>
                  </a:solidFill>
                  <a:effectLst>
                    <a:outerShdw blurRad="25400" dist="25400" dir="2700000" algn="tl">
                      <a:srgbClr val="000000">
                        <a:alpha val="34000"/>
                      </a:srgbClr>
                    </a:outerShdw>
                  </a:effectLst>
                  <a:latin typeface="微软雅黑" panose="020B0503020204020204" pitchFamily="34" charset="-122"/>
                  <a:ea typeface="微软雅黑" panose="020B0503020204020204" pitchFamily="34" charset="-122"/>
                  <a:sym typeface="微软雅黑" panose="020B0503020204020204" pitchFamily="34" charset="-122"/>
                </a:rPr>
                <a:t>CONTENTS</a:t>
              </a:r>
              <a:endParaRPr lang="zh-CN" altLang="en-US" sz="4000" dirty="0">
                <a:solidFill>
                  <a:schemeClr val="bg1"/>
                </a:solidFill>
                <a:effectLst>
                  <a:outerShdw blurRad="25400" dist="25400" dir="2700000" algn="tl">
                    <a:srgbClr val="000000">
                      <a:alpha val="34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58" name="组合 57"/>
          <p:cNvGrpSpPr/>
          <p:nvPr>
            <p:custDataLst>
              <p:tags r:id="rId7"/>
            </p:custDataLst>
          </p:nvPr>
        </p:nvGrpSpPr>
        <p:grpSpPr>
          <a:xfrm>
            <a:off x="5942347" y="2883510"/>
            <a:ext cx="5946938" cy="1052307"/>
            <a:chOff x="5895049" y="1239669"/>
            <a:chExt cx="5946938" cy="1052307"/>
          </a:xfrm>
        </p:grpSpPr>
        <p:sp>
          <p:nvSpPr>
            <p:cNvPr id="59" name="圆角矩形 58"/>
            <p:cNvSpPr/>
            <p:nvPr>
              <p:custDataLst>
                <p:tags r:id="rId8"/>
              </p:custDataLst>
            </p:nvPr>
          </p:nvSpPr>
          <p:spPr>
            <a:xfrm>
              <a:off x="5895049" y="1239669"/>
              <a:ext cx="5293581" cy="1052307"/>
            </a:xfrm>
            <a:prstGeom prst="roundRect">
              <a:avLst>
                <a:gd name="adj" fmla="val 0"/>
              </a:avLst>
            </a:prstGeom>
            <a:gradFill>
              <a:gsLst>
                <a:gs pos="0">
                  <a:srgbClr val="E6CEBC">
                    <a:alpha val="4000"/>
                  </a:srgbClr>
                </a:gs>
                <a:gs pos="100000">
                  <a:srgbClr val="E6CEBC">
                    <a:alpha val="40000"/>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0" name="文本框 59"/>
            <p:cNvSpPr txBox="1"/>
            <p:nvPr>
              <p:custDataLst>
                <p:tags r:id="rId9"/>
              </p:custDataLst>
            </p:nvPr>
          </p:nvSpPr>
          <p:spPr>
            <a:xfrm>
              <a:off x="7118611" y="1439891"/>
              <a:ext cx="4723376" cy="460375"/>
            </a:xfrm>
            <a:prstGeom prst="rect">
              <a:avLst/>
            </a:prstGeom>
            <a:noFill/>
          </p:spPr>
          <p:txBody>
            <a:bodyPr wrap="square" rtlCol="0">
              <a:spAutoFit/>
            </a:bodyPr>
            <a:lstStyle/>
            <a:p>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文本挖掘与分析</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过程</a:t>
              </a:r>
              <a:endPar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1" name="文本框 60"/>
            <p:cNvSpPr txBox="1"/>
            <p:nvPr>
              <p:custDataLst>
                <p:tags r:id="rId10"/>
              </p:custDataLst>
            </p:nvPr>
          </p:nvSpPr>
          <p:spPr>
            <a:xfrm>
              <a:off x="7115025" y="1855421"/>
              <a:ext cx="4679664" cy="275590"/>
            </a:xfrm>
            <a:prstGeom prst="rect">
              <a:avLst/>
            </a:prstGeom>
            <a:noFill/>
          </p:spPr>
          <p:txBody>
            <a:bodyPr wrap="square" rtlCol="0">
              <a:spAutoFit/>
            </a:bodyPr>
            <a:lstStyle/>
            <a:p>
              <a:pPr>
                <a:lnSpc>
                  <a:spcPct val="120000"/>
                </a:lnSpc>
              </a:pPr>
              <a:r>
                <a:rPr lang="en-US" altLang="zh-CN" sz="1000" dirty="0">
                  <a:solidFill>
                    <a:schemeClr val="bg1">
                      <a:lumMod val="50000"/>
                    </a:schemeClr>
                  </a:solidFill>
                  <a:latin typeface="微软雅黑" panose="020B0503020204020204" pitchFamily="34" charset="-122"/>
                  <a:ea typeface="微软雅黑" panose="020B0503020204020204" pitchFamily="34" charset="-122"/>
                  <a:cs typeface="Aparajita" panose="020B0604020202020204" pitchFamily="34" charset="0"/>
                  <a:sym typeface="微软雅黑" panose="020B0503020204020204" pitchFamily="34" charset="-122"/>
                </a:rPr>
                <a:t>Text mining and analysis process</a:t>
              </a:r>
              <a:endParaRPr lang="en-US" altLang="zh-CN" sz="1000" dirty="0">
                <a:solidFill>
                  <a:schemeClr val="bg1">
                    <a:lumMod val="50000"/>
                  </a:schemeClr>
                </a:solidFill>
                <a:latin typeface="微软雅黑" panose="020B0503020204020204" pitchFamily="34" charset="-122"/>
                <a:ea typeface="微软雅黑" panose="020B0503020204020204" pitchFamily="34" charset="-122"/>
                <a:cs typeface="Aparajita" panose="020B0604020202020204" pitchFamily="34" charset="0"/>
                <a:sym typeface="微软雅黑" panose="020B0503020204020204" pitchFamily="34" charset="-122"/>
              </a:endParaRPr>
            </a:p>
          </p:txBody>
        </p:sp>
        <p:grpSp>
          <p:nvGrpSpPr>
            <p:cNvPr id="62" name="组合 61"/>
            <p:cNvGrpSpPr/>
            <p:nvPr/>
          </p:nvGrpSpPr>
          <p:grpSpPr>
            <a:xfrm>
              <a:off x="6183144" y="1458288"/>
              <a:ext cx="649324" cy="598831"/>
              <a:chOff x="6183144" y="1458288"/>
              <a:chExt cx="649324" cy="598831"/>
            </a:xfrm>
          </p:grpSpPr>
          <p:sp>
            <p:nvSpPr>
              <p:cNvPr id="63" name="圆角矩形 62"/>
              <p:cNvSpPr/>
              <p:nvPr>
                <p:custDataLst>
                  <p:tags r:id="rId11"/>
                </p:custDataLst>
              </p:nvPr>
            </p:nvSpPr>
            <p:spPr>
              <a:xfrm rot="2700000">
                <a:off x="6198522" y="1458288"/>
                <a:ext cx="598831" cy="598831"/>
              </a:xfrm>
              <a:prstGeom prst="roundRect">
                <a:avLst>
                  <a:gd name="adj" fmla="val 11411"/>
                </a:avLst>
              </a:prstGeom>
              <a:solidFill>
                <a:srgbClr val="3264CF"/>
              </a:solidFill>
              <a:ln>
                <a:noFill/>
              </a:ln>
              <a:effectLst>
                <a:outerShdw blurRad="190500" dist="635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4" name="文本框 63"/>
              <p:cNvSpPr txBox="1"/>
              <p:nvPr>
                <p:custDataLst>
                  <p:tags r:id="rId12"/>
                </p:custDataLst>
              </p:nvPr>
            </p:nvSpPr>
            <p:spPr>
              <a:xfrm>
                <a:off x="6183144" y="1536805"/>
                <a:ext cx="649324" cy="461665"/>
              </a:xfrm>
              <a:prstGeom prst="rect">
                <a:avLst/>
              </a:prstGeom>
              <a:noFill/>
            </p:spPr>
            <p:txBody>
              <a:bodyPr wrap="square" rtlCol="0">
                <a:spAutoFit/>
              </a:bodyPr>
              <a:lstStyle/>
              <a:p>
                <a:pPr algn="ctr"/>
                <a:r>
                  <a:rPr lang="en-US" altLang="zh-CN" sz="2400" b="1" dirty="0">
                    <a:solidFill>
                      <a:schemeClr val="bg1"/>
                    </a:solidFill>
                    <a:effectLst>
                      <a:outerShdw blurRad="25400" dist="25400" dir="2700000" algn="tl">
                        <a:srgbClr val="000000">
                          <a:alpha val="34000"/>
                        </a:srgbClr>
                      </a:outerShdw>
                    </a:effectLst>
                    <a:latin typeface="微软雅黑" panose="020B0503020204020204" pitchFamily="34" charset="-122"/>
                    <a:ea typeface="微软雅黑" panose="020B0503020204020204" pitchFamily="34" charset="-122"/>
                    <a:sym typeface="微软雅黑" panose="020B0503020204020204" pitchFamily="34" charset="-122"/>
                  </a:rPr>
                  <a:t>02</a:t>
                </a:r>
                <a:endParaRPr lang="zh-CN" altLang="en-US" sz="2400" b="1" dirty="0">
                  <a:solidFill>
                    <a:schemeClr val="bg1"/>
                  </a:solidFill>
                  <a:effectLst>
                    <a:outerShdw blurRad="25400" dist="25400" dir="2700000" algn="tl">
                      <a:srgbClr val="000000">
                        <a:alpha val="34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grpSp>
      <p:grpSp>
        <p:nvGrpSpPr>
          <p:cNvPr id="65" name="组合 64"/>
          <p:cNvGrpSpPr/>
          <p:nvPr>
            <p:custDataLst>
              <p:tags r:id="rId13"/>
            </p:custDataLst>
          </p:nvPr>
        </p:nvGrpSpPr>
        <p:grpSpPr>
          <a:xfrm>
            <a:off x="5942347" y="4464286"/>
            <a:ext cx="5946938" cy="1052307"/>
            <a:chOff x="5895049" y="1239669"/>
            <a:chExt cx="5946938" cy="1052307"/>
          </a:xfrm>
        </p:grpSpPr>
        <p:sp>
          <p:nvSpPr>
            <p:cNvPr id="66" name="圆角矩形 65"/>
            <p:cNvSpPr/>
            <p:nvPr>
              <p:custDataLst>
                <p:tags r:id="rId14"/>
              </p:custDataLst>
            </p:nvPr>
          </p:nvSpPr>
          <p:spPr>
            <a:xfrm>
              <a:off x="5895049" y="1239669"/>
              <a:ext cx="5293581" cy="1052307"/>
            </a:xfrm>
            <a:prstGeom prst="roundRect">
              <a:avLst>
                <a:gd name="adj" fmla="val 0"/>
              </a:avLst>
            </a:prstGeom>
            <a:gradFill>
              <a:gsLst>
                <a:gs pos="0">
                  <a:srgbClr val="E6CEBC">
                    <a:alpha val="1000"/>
                  </a:srgbClr>
                </a:gs>
                <a:gs pos="100000">
                  <a:srgbClr val="E6CEBC">
                    <a:alpha val="13000"/>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7" name="文本框 66"/>
            <p:cNvSpPr txBox="1"/>
            <p:nvPr>
              <p:custDataLst>
                <p:tags r:id="rId15"/>
              </p:custDataLst>
            </p:nvPr>
          </p:nvSpPr>
          <p:spPr>
            <a:xfrm>
              <a:off x="7118611" y="1439891"/>
              <a:ext cx="4723376" cy="460375"/>
            </a:xfrm>
            <a:prstGeom prst="rect">
              <a:avLst/>
            </a:prstGeom>
            <a:noFill/>
          </p:spPr>
          <p:txBody>
            <a:bodyPr wrap="square" rtlCol="0">
              <a:spAutoFit/>
            </a:bodyPr>
            <a:lstStyle/>
            <a:p>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再就业影响因素结</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果解析</a:t>
              </a:r>
              <a:endPar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8" name="文本框 67"/>
            <p:cNvSpPr txBox="1"/>
            <p:nvPr>
              <p:custDataLst>
                <p:tags r:id="rId16"/>
              </p:custDataLst>
            </p:nvPr>
          </p:nvSpPr>
          <p:spPr>
            <a:xfrm>
              <a:off x="7115025" y="1855421"/>
              <a:ext cx="4679664" cy="275590"/>
            </a:xfrm>
            <a:prstGeom prst="rect">
              <a:avLst/>
            </a:prstGeom>
            <a:noFill/>
          </p:spPr>
          <p:txBody>
            <a:bodyPr wrap="square" rtlCol="0">
              <a:spAutoFit/>
            </a:bodyPr>
            <a:lstStyle/>
            <a:p>
              <a:pPr>
                <a:lnSpc>
                  <a:spcPct val="120000"/>
                </a:lnSpc>
              </a:pPr>
              <a:r>
                <a:rPr lang="en-US" altLang="zh-CN" sz="1000" dirty="0">
                  <a:solidFill>
                    <a:schemeClr val="bg1">
                      <a:lumMod val="50000"/>
                    </a:schemeClr>
                  </a:solidFill>
                  <a:latin typeface="微软雅黑" panose="020B0503020204020204" pitchFamily="34" charset="-122"/>
                  <a:ea typeface="微软雅黑" panose="020B0503020204020204" pitchFamily="34" charset="-122"/>
                  <a:cs typeface="Aparajita" panose="020B0604020202020204" pitchFamily="34" charset="0"/>
                  <a:sym typeface="微软雅黑" panose="020B0503020204020204" pitchFamily="34" charset="-122"/>
                </a:rPr>
                <a:t>Analysis of Factors Affecting Re-employment Results</a:t>
              </a:r>
              <a:endParaRPr lang="en-US" altLang="zh-CN" sz="1000" dirty="0">
                <a:solidFill>
                  <a:schemeClr val="bg1">
                    <a:lumMod val="50000"/>
                  </a:schemeClr>
                </a:solidFill>
                <a:latin typeface="微软雅黑" panose="020B0503020204020204" pitchFamily="34" charset="-122"/>
                <a:ea typeface="微软雅黑" panose="020B0503020204020204" pitchFamily="34" charset="-122"/>
                <a:cs typeface="Aparajita" panose="020B0604020202020204" pitchFamily="34" charset="0"/>
                <a:sym typeface="微软雅黑" panose="020B0503020204020204" pitchFamily="34" charset="-122"/>
              </a:endParaRPr>
            </a:p>
          </p:txBody>
        </p:sp>
        <p:grpSp>
          <p:nvGrpSpPr>
            <p:cNvPr id="69" name="组合 68"/>
            <p:cNvGrpSpPr/>
            <p:nvPr/>
          </p:nvGrpSpPr>
          <p:grpSpPr>
            <a:xfrm>
              <a:off x="6183144" y="1458288"/>
              <a:ext cx="649324" cy="598831"/>
              <a:chOff x="6183144" y="1458288"/>
              <a:chExt cx="649324" cy="598831"/>
            </a:xfrm>
          </p:grpSpPr>
          <p:sp>
            <p:nvSpPr>
              <p:cNvPr id="70" name="圆角矩形 69"/>
              <p:cNvSpPr/>
              <p:nvPr>
                <p:custDataLst>
                  <p:tags r:id="rId17"/>
                </p:custDataLst>
              </p:nvPr>
            </p:nvSpPr>
            <p:spPr>
              <a:xfrm rot="2700000">
                <a:off x="6198522" y="1458288"/>
                <a:ext cx="598831" cy="598831"/>
              </a:xfrm>
              <a:prstGeom prst="roundRect">
                <a:avLst>
                  <a:gd name="adj" fmla="val 11411"/>
                </a:avLst>
              </a:prstGeom>
              <a:solidFill>
                <a:srgbClr val="3264CF"/>
              </a:solidFill>
              <a:ln>
                <a:noFill/>
              </a:ln>
              <a:effectLst>
                <a:outerShdw blurRad="190500" dist="635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1" name="文本框 70"/>
              <p:cNvSpPr txBox="1"/>
              <p:nvPr>
                <p:custDataLst>
                  <p:tags r:id="rId18"/>
                </p:custDataLst>
              </p:nvPr>
            </p:nvSpPr>
            <p:spPr>
              <a:xfrm>
                <a:off x="6183144" y="1536805"/>
                <a:ext cx="649324" cy="461665"/>
              </a:xfrm>
              <a:prstGeom prst="rect">
                <a:avLst/>
              </a:prstGeom>
              <a:noFill/>
            </p:spPr>
            <p:txBody>
              <a:bodyPr wrap="square" rtlCol="0">
                <a:spAutoFit/>
              </a:bodyPr>
              <a:lstStyle/>
              <a:p>
                <a:pPr algn="ctr"/>
                <a:r>
                  <a:rPr lang="en-US" altLang="zh-CN" sz="2400" b="1" dirty="0">
                    <a:solidFill>
                      <a:schemeClr val="bg1"/>
                    </a:solidFill>
                    <a:effectLst>
                      <a:outerShdw blurRad="25400" dist="25400" dir="2700000" algn="tl">
                        <a:srgbClr val="000000">
                          <a:alpha val="34000"/>
                        </a:srgbClr>
                      </a:outerShdw>
                    </a:effectLst>
                    <a:latin typeface="微软雅黑" panose="020B0503020204020204" pitchFamily="34" charset="-122"/>
                    <a:ea typeface="微软雅黑" panose="020B0503020204020204" pitchFamily="34" charset="-122"/>
                    <a:sym typeface="微软雅黑" panose="020B0503020204020204" pitchFamily="34" charset="-122"/>
                  </a:rPr>
                  <a:t>03</a:t>
                </a:r>
                <a:endParaRPr lang="zh-CN" altLang="en-US" sz="2400" b="1" dirty="0">
                  <a:solidFill>
                    <a:schemeClr val="bg1"/>
                  </a:solidFill>
                  <a:effectLst>
                    <a:outerShdw blurRad="25400" dist="25400" dir="2700000" algn="tl">
                      <a:srgbClr val="000000">
                        <a:alpha val="34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grpSp>
      <p:sp>
        <p:nvSpPr>
          <p:cNvPr id="29" name="TextBox 4"/>
          <p:cNvSpPr txBox="1"/>
          <p:nvPr/>
        </p:nvSpPr>
        <p:spPr>
          <a:xfrm>
            <a:off x="0" y="0"/>
            <a:ext cx="45365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dirty="0">
              <a:solidFill>
                <a:schemeClr val="tx1">
                  <a:alpha val="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bldLst>
      <p:bldP spid="4" grpId="0" animBg="1"/>
      <p:bldP spid="6" grpId="0" animBg="1"/>
      <p:bldP spid="4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29"/>
          <p:cNvSpPr txBox="1"/>
          <p:nvPr/>
        </p:nvSpPr>
        <p:spPr>
          <a:xfrm>
            <a:off x="3540760" y="1322070"/>
            <a:ext cx="4913630" cy="398780"/>
          </a:xfrm>
          <a:prstGeom prst="rect">
            <a:avLst/>
          </a:prstGeom>
          <a:noFill/>
        </p:spPr>
        <p:txBody>
          <a:bodyPr wrap="square" rtlCol="0">
            <a:spAutoFit/>
          </a:bodyPr>
          <a:lstStyle/>
          <a:p>
            <a:r>
              <a:rPr lang="en-US" altLang="zh-CN"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1. </a:t>
            </a:r>
            <a:r>
              <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全球老龄化日渐严重</a:t>
            </a:r>
            <a:r>
              <a:rPr lang="en-US" altLang="zh-CN"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 -&gt; </a:t>
            </a:r>
            <a:r>
              <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延迟退</a:t>
            </a:r>
            <a:r>
              <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休年龄</a:t>
            </a:r>
            <a:endPar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PA-文本框 8"/>
          <p:cNvSpPr txBox="1"/>
          <p:nvPr>
            <p:custDataLst>
              <p:tags r:id="rId1"/>
            </p:custDataLst>
          </p:nvPr>
        </p:nvSpPr>
        <p:spPr>
          <a:xfrm>
            <a:off x="1272176" y="485429"/>
            <a:ext cx="5778419"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一、</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老年劳动力就业形势及政策解读</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 name="矩形 5"/>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7" name="图示 6"/>
          <p:cNvGraphicFramePr/>
          <p:nvPr/>
        </p:nvGraphicFramePr>
        <p:xfrm>
          <a:off x="578485" y="2097405"/>
          <a:ext cx="6422390" cy="3743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图示 7"/>
          <p:cNvGraphicFramePr/>
          <p:nvPr/>
        </p:nvGraphicFramePr>
        <p:xfrm>
          <a:off x="7165975" y="2097405"/>
          <a:ext cx="4606925" cy="37039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0"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custDataLst>
              <p:tags r:id="rId1"/>
            </p:custDataLst>
          </p:nvPr>
        </p:nvGrpSpPr>
        <p:grpSpPr>
          <a:xfrm>
            <a:off x="1261926" y="2119375"/>
            <a:ext cx="2092230" cy="1008435"/>
            <a:chOff x="1101506" y="3162513"/>
            <a:chExt cx="2092230" cy="1008435"/>
          </a:xfrm>
          <a:effectLst>
            <a:outerShdw blurRad="190500" dist="38100" dir="2700000" algn="tl" rotWithShape="0">
              <a:prstClr val="black">
                <a:alpha val="15000"/>
              </a:prstClr>
            </a:outerShdw>
          </a:effectLst>
        </p:grpSpPr>
        <p:sp>
          <p:nvSpPr>
            <p:cNvPr id="2" name="圆角矩形 1"/>
            <p:cNvSpPr/>
            <p:nvPr>
              <p:custDataLst>
                <p:tags r:id="rId2"/>
              </p:custDataLst>
            </p:nvPr>
          </p:nvSpPr>
          <p:spPr>
            <a:xfrm>
              <a:off x="1101506" y="3162513"/>
              <a:ext cx="2092230" cy="1008435"/>
            </a:xfrm>
            <a:prstGeom prst="roundRect">
              <a:avLst>
                <a:gd name="adj" fmla="val 0"/>
              </a:avLst>
            </a:prstGeom>
            <a:solidFill>
              <a:srgbClr val="2E61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文本框 15"/>
            <p:cNvSpPr txBox="1"/>
            <p:nvPr>
              <p:custDataLst>
                <p:tags r:id="rId3"/>
              </p:custDataLst>
            </p:nvPr>
          </p:nvSpPr>
          <p:spPr>
            <a:xfrm>
              <a:off x="1348159" y="3388528"/>
              <a:ext cx="1605280" cy="521970"/>
            </a:xfrm>
            <a:prstGeom prst="rect">
              <a:avLst/>
            </a:prstGeom>
            <a:noFill/>
          </p:spPr>
          <p:txBody>
            <a:bodyPr wrap="none" rtlCol="0">
              <a:spAutoFit/>
            </a:bodyPr>
            <a:lstStyle/>
            <a:p>
              <a:pPr algn="ctr"/>
              <a:r>
                <a:rPr lang="zh-CN" altLang="en-US" sz="2800" dirty="0">
                  <a:solidFill>
                    <a:schemeClr val="bg1"/>
                  </a:solidFill>
                  <a:latin typeface="微软雅黑" panose="020B0503020204020204" pitchFamily="34" charset="-122"/>
                  <a:ea typeface="微软雅黑" panose="020B0503020204020204" pitchFamily="34" charset="-122"/>
                  <a:cs typeface="+mn-ea"/>
                  <a:sym typeface="微软雅黑" panose="020B0503020204020204" pitchFamily="34" charset="-122"/>
                </a:rPr>
                <a:t>经济激励</a:t>
              </a:r>
              <a:endParaRPr lang="zh-CN" altLang="en-US" sz="2800" dirty="0">
                <a:solidFill>
                  <a:schemeClr val="bg1"/>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grpSp>
      <p:grpSp>
        <p:nvGrpSpPr>
          <p:cNvPr id="28" name="组合 27"/>
          <p:cNvGrpSpPr/>
          <p:nvPr>
            <p:custDataLst>
              <p:tags r:id="rId4"/>
            </p:custDataLst>
          </p:nvPr>
        </p:nvGrpSpPr>
        <p:grpSpPr>
          <a:xfrm>
            <a:off x="3819132" y="2119375"/>
            <a:ext cx="2092230" cy="1008435"/>
            <a:chOff x="1101506" y="3162513"/>
            <a:chExt cx="2092230" cy="1008435"/>
          </a:xfrm>
          <a:effectLst>
            <a:outerShdw blurRad="190500" dist="38100" dir="2700000" algn="tl" rotWithShape="0">
              <a:prstClr val="black">
                <a:alpha val="15000"/>
              </a:prstClr>
            </a:outerShdw>
          </a:effectLst>
        </p:grpSpPr>
        <p:sp>
          <p:nvSpPr>
            <p:cNvPr id="29" name="圆角矩形 28"/>
            <p:cNvSpPr/>
            <p:nvPr>
              <p:custDataLst>
                <p:tags r:id="rId5"/>
              </p:custDataLst>
            </p:nvPr>
          </p:nvSpPr>
          <p:spPr>
            <a:xfrm>
              <a:off x="1101506" y="3162513"/>
              <a:ext cx="2092230" cy="1008435"/>
            </a:xfrm>
            <a:prstGeom prst="roundRect">
              <a:avLst>
                <a:gd name="adj" fmla="val 0"/>
              </a:avLst>
            </a:prstGeom>
            <a:solidFill>
              <a:srgbClr val="4A82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文本框 29"/>
            <p:cNvSpPr txBox="1"/>
            <p:nvPr>
              <p:custDataLst>
                <p:tags r:id="rId6"/>
              </p:custDataLst>
            </p:nvPr>
          </p:nvSpPr>
          <p:spPr>
            <a:xfrm>
              <a:off x="1378638" y="3388528"/>
              <a:ext cx="1605280" cy="521970"/>
            </a:xfrm>
            <a:prstGeom prst="rect">
              <a:avLst/>
            </a:prstGeom>
            <a:noFill/>
          </p:spPr>
          <p:txBody>
            <a:bodyPr wrap="none" rtlCol="0">
              <a:spAutoFit/>
            </a:bodyPr>
            <a:lstStyle/>
            <a:p>
              <a:pPr algn="ctr"/>
              <a:r>
                <a:rPr lang="zh-CN" altLang="en-US" sz="2800" dirty="0">
                  <a:solidFill>
                    <a:schemeClr val="bg1"/>
                  </a:solidFill>
                  <a:latin typeface="微软雅黑" panose="020B0503020204020204" pitchFamily="34" charset="-122"/>
                  <a:ea typeface="微软雅黑" panose="020B0503020204020204" pitchFamily="34" charset="-122"/>
                  <a:cs typeface="+mn-ea"/>
                  <a:sym typeface="微软雅黑" panose="020B0503020204020204" pitchFamily="34" charset="-122"/>
                </a:rPr>
                <a:t>就业支持</a:t>
              </a:r>
              <a:endParaRPr lang="zh-CN" altLang="en-US" sz="2800" dirty="0">
                <a:solidFill>
                  <a:schemeClr val="bg1"/>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grpSp>
      <p:grpSp>
        <p:nvGrpSpPr>
          <p:cNvPr id="32" name="组合 31"/>
          <p:cNvGrpSpPr/>
          <p:nvPr>
            <p:custDataLst>
              <p:tags r:id="rId7"/>
            </p:custDataLst>
          </p:nvPr>
        </p:nvGrpSpPr>
        <p:grpSpPr>
          <a:xfrm>
            <a:off x="6376338" y="2119375"/>
            <a:ext cx="2092230" cy="1008435"/>
            <a:chOff x="1101506" y="3162513"/>
            <a:chExt cx="2092230" cy="1008435"/>
          </a:xfrm>
          <a:effectLst>
            <a:outerShdw blurRad="190500" dist="38100" dir="2700000" algn="tl" rotWithShape="0">
              <a:prstClr val="black">
                <a:alpha val="15000"/>
              </a:prstClr>
            </a:outerShdw>
          </a:effectLst>
        </p:grpSpPr>
        <p:sp>
          <p:nvSpPr>
            <p:cNvPr id="33" name="圆角矩形 32"/>
            <p:cNvSpPr/>
            <p:nvPr>
              <p:custDataLst>
                <p:tags r:id="rId8"/>
              </p:custDataLst>
            </p:nvPr>
          </p:nvSpPr>
          <p:spPr>
            <a:xfrm>
              <a:off x="1101506" y="3162513"/>
              <a:ext cx="2092230" cy="1008435"/>
            </a:xfrm>
            <a:prstGeom prst="roundRect">
              <a:avLst>
                <a:gd name="adj" fmla="val 0"/>
              </a:avLst>
            </a:prstGeom>
            <a:solidFill>
              <a:srgbClr val="2E61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文本框 33"/>
            <p:cNvSpPr txBox="1"/>
            <p:nvPr>
              <p:custDataLst>
                <p:tags r:id="rId9"/>
              </p:custDataLst>
            </p:nvPr>
          </p:nvSpPr>
          <p:spPr>
            <a:xfrm>
              <a:off x="1348158" y="3388528"/>
              <a:ext cx="1605280" cy="521970"/>
            </a:xfrm>
            <a:prstGeom prst="rect">
              <a:avLst/>
            </a:prstGeom>
            <a:noFill/>
          </p:spPr>
          <p:txBody>
            <a:bodyPr wrap="none" rtlCol="0">
              <a:spAutoFit/>
            </a:bodyPr>
            <a:lstStyle/>
            <a:p>
              <a:pPr algn="ctr"/>
              <a:r>
                <a:rPr lang="zh-CN" altLang="en-US" sz="2800" dirty="0">
                  <a:solidFill>
                    <a:schemeClr val="bg1"/>
                  </a:solidFill>
                  <a:latin typeface="微软雅黑" panose="020B0503020204020204" pitchFamily="34" charset="-122"/>
                  <a:ea typeface="微软雅黑" panose="020B0503020204020204" pitchFamily="34" charset="-122"/>
                  <a:cs typeface="+mn-ea"/>
                  <a:sym typeface="微软雅黑" panose="020B0503020204020204" pitchFamily="34" charset="-122"/>
                </a:rPr>
                <a:t>福利</a:t>
              </a:r>
              <a:r>
                <a:rPr lang="zh-CN" altLang="en-US" sz="2800" dirty="0">
                  <a:solidFill>
                    <a:schemeClr val="bg1"/>
                  </a:solidFill>
                  <a:latin typeface="微软雅黑" panose="020B0503020204020204" pitchFamily="34" charset="-122"/>
                  <a:ea typeface="微软雅黑" panose="020B0503020204020204" pitchFamily="34" charset="-122"/>
                  <a:cs typeface="+mn-ea"/>
                  <a:sym typeface="微软雅黑" panose="020B0503020204020204" pitchFamily="34" charset="-122"/>
                </a:rPr>
                <a:t>调整</a:t>
              </a:r>
              <a:endParaRPr lang="zh-CN" altLang="en-US" sz="2800" dirty="0">
                <a:solidFill>
                  <a:schemeClr val="bg1"/>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grpSp>
      <p:grpSp>
        <p:nvGrpSpPr>
          <p:cNvPr id="36" name="组合 35"/>
          <p:cNvGrpSpPr/>
          <p:nvPr>
            <p:custDataLst>
              <p:tags r:id="rId10"/>
            </p:custDataLst>
          </p:nvPr>
        </p:nvGrpSpPr>
        <p:grpSpPr>
          <a:xfrm>
            <a:off x="8847460" y="2119375"/>
            <a:ext cx="2316480" cy="1008435"/>
            <a:chOff x="1015422" y="3162513"/>
            <a:chExt cx="2316480" cy="1008435"/>
          </a:xfrm>
          <a:effectLst>
            <a:outerShdw blurRad="190500" dist="38100" dir="2700000" algn="tl" rotWithShape="0">
              <a:prstClr val="black">
                <a:alpha val="15000"/>
              </a:prstClr>
            </a:outerShdw>
          </a:effectLst>
        </p:grpSpPr>
        <p:sp>
          <p:nvSpPr>
            <p:cNvPr id="37" name="圆角矩形 36"/>
            <p:cNvSpPr/>
            <p:nvPr>
              <p:custDataLst>
                <p:tags r:id="rId11"/>
              </p:custDataLst>
            </p:nvPr>
          </p:nvSpPr>
          <p:spPr>
            <a:xfrm>
              <a:off x="1101506" y="3162513"/>
              <a:ext cx="2092230" cy="1008435"/>
            </a:xfrm>
            <a:prstGeom prst="roundRect">
              <a:avLst>
                <a:gd name="adj" fmla="val 0"/>
              </a:avLst>
            </a:prstGeom>
            <a:solidFill>
              <a:srgbClr val="4A82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文本框 37"/>
            <p:cNvSpPr txBox="1"/>
            <p:nvPr>
              <p:custDataLst>
                <p:tags r:id="rId12"/>
              </p:custDataLst>
            </p:nvPr>
          </p:nvSpPr>
          <p:spPr>
            <a:xfrm>
              <a:off x="1015422" y="3388528"/>
              <a:ext cx="2316480" cy="521970"/>
            </a:xfrm>
            <a:prstGeom prst="rect">
              <a:avLst/>
            </a:prstGeom>
            <a:noFill/>
          </p:spPr>
          <p:txBody>
            <a:bodyPr wrap="none" rtlCol="0">
              <a:spAutoFit/>
            </a:bodyPr>
            <a:lstStyle/>
            <a:p>
              <a:pPr algn="ctr"/>
              <a:r>
                <a:rPr lang="zh-CN" altLang="en-US" sz="2800" dirty="0">
                  <a:solidFill>
                    <a:schemeClr val="bg1"/>
                  </a:solidFill>
                  <a:latin typeface="微软雅黑" panose="020B0503020204020204" pitchFamily="34" charset="-122"/>
                  <a:ea typeface="微软雅黑" panose="020B0503020204020204" pitchFamily="34" charset="-122"/>
                  <a:cs typeface="+mn-ea"/>
                  <a:sym typeface="微软雅黑" panose="020B0503020204020204" pitchFamily="34" charset="-122"/>
                </a:rPr>
                <a:t>特殊群体</a:t>
              </a:r>
              <a:r>
                <a:rPr lang="zh-CN" altLang="en-US" sz="2800" dirty="0">
                  <a:solidFill>
                    <a:schemeClr val="bg1"/>
                  </a:solidFill>
                  <a:latin typeface="微软雅黑" panose="020B0503020204020204" pitchFamily="34" charset="-122"/>
                  <a:ea typeface="微软雅黑" panose="020B0503020204020204" pitchFamily="34" charset="-122"/>
                  <a:cs typeface="+mn-ea"/>
                  <a:sym typeface="微软雅黑" panose="020B0503020204020204" pitchFamily="34" charset="-122"/>
                </a:rPr>
                <a:t>照顾</a:t>
              </a:r>
              <a:endParaRPr lang="zh-CN" altLang="en-US" sz="2800" dirty="0">
                <a:solidFill>
                  <a:schemeClr val="bg1"/>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grpSp>
      <p:sp>
        <p:nvSpPr>
          <p:cNvPr id="4" name="等腰三角形 3"/>
          <p:cNvSpPr/>
          <p:nvPr>
            <p:custDataLst>
              <p:tags r:id="rId13"/>
            </p:custDataLst>
          </p:nvPr>
        </p:nvSpPr>
        <p:spPr>
          <a:xfrm flipV="1">
            <a:off x="3059502" y="2119321"/>
            <a:ext cx="294137" cy="194935"/>
          </a:xfrm>
          <a:prstGeom prst="triangle">
            <a:avLst>
              <a:gd name="adj"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等腰三角形 39"/>
          <p:cNvSpPr/>
          <p:nvPr>
            <p:custDataLst>
              <p:tags r:id="rId14"/>
            </p:custDataLst>
          </p:nvPr>
        </p:nvSpPr>
        <p:spPr>
          <a:xfrm flipV="1">
            <a:off x="5625767" y="2119321"/>
            <a:ext cx="294137" cy="194935"/>
          </a:xfrm>
          <a:prstGeom prst="triangle">
            <a:avLst>
              <a:gd name="adj"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等腰三角形 40"/>
          <p:cNvSpPr/>
          <p:nvPr>
            <p:custDataLst>
              <p:tags r:id="rId15"/>
            </p:custDataLst>
          </p:nvPr>
        </p:nvSpPr>
        <p:spPr>
          <a:xfrm flipV="1">
            <a:off x="8174431" y="2119321"/>
            <a:ext cx="294137" cy="194935"/>
          </a:xfrm>
          <a:prstGeom prst="triangle">
            <a:avLst>
              <a:gd name="adj"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等腰三角形 41"/>
          <p:cNvSpPr/>
          <p:nvPr>
            <p:custDataLst>
              <p:tags r:id="rId16"/>
            </p:custDataLst>
          </p:nvPr>
        </p:nvSpPr>
        <p:spPr>
          <a:xfrm flipV="1">
            <a:off x="10732484" y="2119321"/>
            <a:ext cx="294137" cy="194935"/>
          </a:xfrm>
          <a:prstGeom prst="triangle">
            <a:avLst>
              <a:gd name="adj"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PA-文本框 8"/>
          <p:cNvSpPr txBox="1"/>
          <p:nvPr>
            <p:custDataLst>
              <p:tags r:id="rId17"/>
            </p:custDataLst>
          </p:nvPr>
        </p:nvSpPr>
        <p:spPr>
          <a:xfrm>
            <a:off x="1272176" y="485429"/>
            <a:ext cx="5778419"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一、</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老年劳动力就业形势及政策解读</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 name="矩形 5"/>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3440430" y="1322070"/>
            <a:ext cx="6096000" cy="398780"/>
          </a:xfrm>
          <a:prstGeom prst="rect">
            <a:avLst/>
          </a:prstGeom>
          <a:noFill/>
        </p:spPr>
        <p:txBody>
          <a:bodyPr wrap="square" rtlCol="0" anchor="t">
            <a:spAutoFit/>
          </a:bodyPr>
          <a:p>
            <a:r>
              <a:rPr lang="en-US" altLang="zh-CN"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2. </a:t>
            </a:r>
            <a:r>
              <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延迟退修政策</a:t>
            </a:r>
            <a:r>
              <a:rPr lang="en-US" altLang="zh-CN"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 -&gt;</a:t>
            </a:r>
            <a:r>
              <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激励、鼓励与扶持</a:t>
            </a:r>
            <a:r>
              <a:rPr lang="en-US" altLang="zh-CN"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 </a:t>
            </a:r>
            <a:endPar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nvSpPr>
        <p:spPr>
          <a:xfrm>
            <a:off x="3567430" y="3925570"/>
            <a:ext cx="6096000" cy="398780"/>
          </a:xfrm>
          <a:prstGeom prst="rect">
            <a:avLst/>
          </a:prstGeom>
          <a:noFill/>
        </p:spPr>
        <p:txBody>
          <a:bodyPr wrap="square" rtlCol="0" anchor="t">
            <a:spAutoFit/>
          </a:bodyPr>
          <a:p>
            <a:r>
              <a:rPr lang="en-US" altLang="zh-CN"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3. </a:t>
            </a:r>
            <a:r>
              <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延迟退修政策</a:t>
            </a:r>
            <a:r>
              <a:rPr lang="en-US" altLang="zh-CN"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 -&gt; </a:t>
            </a:r>
            <a:r>
              <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挑战与</a:t>
            </a:r>
            <a:r>
              <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争议</a:t>
            </a:r>
            <a:endPar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8" name="图示 7"/>
          <p:cNvGraphicFramePr/>
          <p:nvPr/>
        </p:nvGraphicFramePr>
        <p:xfrm>
          <a:off x="1708785" y="4655820"/>
          <a:ext cx="8128000" cy="170307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500"/>
                                        <p:tgtEl>
                                          <p:spTgt spid="4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par>
                                <p:cTn id="25" presetID="10"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par>
                                <p:cTn id="28" presetID="10" presetClass="entr" presetSubtype="0" fill="hold"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par>
                                <p:cTn id="31" presetID="10"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500"/>
                                        <p:tgtEl>
                                          <p:spTgt spid="3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par>
                                <p:cTn id="39" presetID="10" presetClass="entr" presetSubtype="0" fill="hold"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0" grpId="0" animBg="1"/>
      <p:bldP spid="41" grpId="0" animBg="1"/>
      <p:bldP spid="42" grpId="0" animBg="1"/>
      <p:bldP spid="4" grpId="1" animBg="1"/>
      <p:bldP spid="40" grpId="1" animBg="1"/>
      <p:bldP spid="41" grpId="1" animBg="1"/>
      <p:bldP spid="42" grpId="1" animBg="1"/>
      <p:bldP spid="5" grpId="0"/>
      <p:bldP spid="5" grpId="1"/>
      <p:bldP spid="7" grpId="0"/>
      <p:bldP spid="7"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71" y="1713088"/>
            <a:ext cx="12190662" cy="2491122"/>
          </a:xfrm>
          <a:prstGeom prst="rect">
            <a:avLst/>
          </a:prstGeom>
          <a:blipFill dpi="0" rotWithShape="1">
            <a:blip r:embed="rId1" cstate="screen"/>
            <a:srcRect/>
            <a:stretch>
              <a:fillRect/>
            </a:stretch>
          </a:blip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5" name="矩形 24"/>
          <p:cNvSpPr/>
          <p:nvPr/>
        </p:nvSpPr>
        <p:spPr>
          <a:xfrm>
            <a:off x="671" y="1713088"/>
            <a:ext cx="12191329" cy="2491122"/>
          </a:xfrm>
          <a:prstGeom prst="rect">
            <a:avLst/>
          </a:prstGeom>
          <a:solidFill>
            <a:srgbClr val="2E61FA">
              <a:alpha val="66000"/>
            </a:srgb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nvGrpSpPr>
          <p:cNvPr id="16" name="组合 15"/>
          <p:cNvGrpSpPr/>
          <p:nvPr>
            <p:custDataLst>
              <p:tags r:id="rId2"/>
            </p:custDataLst>
          </p:nvPr>
        </p:nvGrpSpPr>
        <p:grpSpPr>
          <a:xfrm>
            <a:off x="8682624" y="2510334"/>
            <a:ext cx="2874966" cy="3653235"/>
            <a:chOff x="8682906" y="2316480"/>
            <a:chExt cx="2875281" cy="3653636"/>
          </a:xfrm>
        </p:grpSpPr>
        <p:grpSp>
          <p:nvGrpSpPr>
            <p:cNvPr id="14" name="组合 13"/>
            <p:cNvGrpSpPr/>
            <p:nvPr/>
          </p:nvGrpSpPr>
          <p:grpSpPr>
            <a:xfrm>
              <a:off x="8682906" y="2316480"/>
              <a:ext cx="2875281" cy="3444240"/>
              <a:chOff x="8463279" y="2316480"/>
              <a:chExt cx="2875281" cy="3444240"/>
            </a:xfrm>
          </p:grpSpPr>
          <p:sp>
            <p:nvSpPr>
              <p:cNvPr id="11" name="iš1íḋê"/>
              <p:cNvSpPr/>
              <p:nvPr>
                <p:custDataLst>
                  <p:tags r:id="rId3"/>
                </p:custDataLst>
              </p:nvPr>
            </p:nvSpPr>
            <p:spPr>
              <a:xfrm>
                <a:off x="8463279" y="2316480"/>
                <a:ext cx="2875281" cy="3444240"/>
              </a:xfrm>
              <a:prstGeom prst="roundRect">
                <a:avLst>
                  <a:gd name="adj" fmla="val 4401"/>
                </a:avLst>
              </a:prstGeom>
              <a:solidFill>
                <a:schemeClr val="bg1"/>
              </a:solidFill>
              <a:ln>
                <a:noFill/>
              </a:ln>
              <a:effectLst>
                <a:outerShdw blurRad="508000" dist="190500" dir="5400000" sx="95000" sy="95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3" name="矩形: 圆角 12"/>
              <p:cNvSpPr/>
              <p:nvPr>
                <p:custDataLst>
                  <p:tags r:id="rId4"/>
                </p:custDataLst>
              </p:nvPr>
            </p:nvSpPr>
            <p:spPr>
              <a:xfrm>
                <a:off x="9143999" y="5715001"/>
                <a:ext cx="1513840" cy="45719"/>
              </a:xfrm>
              <a:prstGeom prst="roundRect">
                <a:avLst>
                  <a:gd name="adj" fmla="val 50000"/>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sp>
          <p:nvSpPr>
            <p:cNvPr id="19" name="文本框 18"/>
            <p:cNvSpPr txBox="1"/>
            <p:nvPr>
              <p:custDataLst>
                <p:tags r:id="rId5"/>
              </p:custDataLst>
            </p:nvPr>
          </p:nvSpPr>
          <p:spPr>
            <a:xfrm>
              <a:off x="8883482" y="3662908"/>
              <a:ext cx="2474128" cy="2307208"/>
            </a:xfrm>
            <a:prstGeom prst="rect">
              <a:avLst/>
            </a:prstGeom>
            <a:noFill/>
            <a:ln>
              <a:noFill/>
            </a:ln>
          </p:spPr>
          <p:txBody>
            <a:bodyPr wrap="square" rtlCol="0">
              <a:spAutoFit/>
            </a:bodyPr>
            <a:lstStyle/>
            <a:p>
              <a:pPr algn="ctr" hangingPunct="0">
                <a:lnSpc>
                  <a:spcPct val="150000"/>
                </a:lnSpc>
              </a:pPr>
              <a:r>
                <a:rPr lang="zh-CN" altLang="en-US" sz="1200">
                  <a:sym typeface="+mn-ea"/>
                </a:rPr>
                <a:t>国家实施就业优先战略，促进高质量充分就业。完善就业公共服务体系，健全</a:t>
              </a:r>
              <a:r>
                <a:rPr lang="zh-CN" altLang="en-US" sz="1200">
                  <a:gradFill>
                    <a:gsLst>
                      <a:gs pos="51300">
                        <a:srgbClr val="32B0EA"/>
                      </a:gs>
                      <a:gs pos="0">
                        <a:srgbClr val="005F9F"/>
                      </a:gs>
                      <a:gs pos="100000">
                        <a:srgbClr val="ADDCE1"/>
                      </a:gs>
                    </a:gsLst>
                    <a:lin ang="5400000" scaled="1"/>
                  </a:gradFill>
                  <a:sym typeface="+mn-ea"/>
                </a:rPr>
                <a:t>终身职业技能培训</a:t>
              </a:r>
              <a:r>
                <a:rPr lang="zh-CN" altLang="en-US" sz="1200">
                  <a:sym typeface="+mn-ea"/>
                </a:rPr>
                <a:t>制度。</a:t>
              </a:r>
              <a:endParaRPr lang="zh-CN" altLang="en-US" sz="1200">
                <a:sym typeface="+mn-ea"/>
              </a:endParaRPr>
            </a:p>
            <a:p>
              <a:pPr algn="ctr" hangingPunct="0">
                <a:lnSpc>
                  <a:spcPct val="150000"/>
                </a:lnSpc>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lgn="ctr" hangingPunct="0">
                <a:lnSpc>
                  <a:spcPct val="150000"/>
                </a:lnSpc>
              </a:pPr>
              <a:r>
                <a:rPr lang="zh-CN" altLang="en-US" sz="1200">
                  <a:sym typeface="+mn-ea"/>
                </a:rPr>
                <a:t>加强对就业</a:t>
              </a:r>
              <a:r>
                <a:rPr lang="zh-CN" altLang="en-US" sz="1200">
                  <a:gradFill>
                    <a:gsLst>
                      <a:gs pos="51300">
                        <a:srgbClr val="32B0EA"/>
                      </a:gs>
                      <a:gs pos="0">
                        <a:srgbClr val="005F9F"/>
                      </a:gs>
                      <a:gs pos="100000">
                        <a:srgbClr val="ADDCE1"/>
                      </a:gs>
                    </a:gsLst>
                    <a:lin ang="5400000" scaled="1"/>
                  </a:gradFill>
                  <a:sym typeface="+mn-ea"/>
                </a:rPr>
                <a:t>年龄歧视</a:t>
              </a:r>
              <a:r>
                <a:rPr lang="zh-CN" altLang="en-US" sz="1200">
                  <a:sym typeface="+mn-ea"/>
                </a:rPr>
                <a:t>的防范和治理，激励用人单位吸纳更多大龄劳动者就业。</a:t>
              </a:r>
              <a:endParaRPr lang="zh-CN" altLang="en-US" sz="1200"/>
            </a:p>
            <a:p>
              <a:pPr algn="ctr" hangingPunct="0">
                <a:lnSpc>
                  <a:spcPct val="150000"/>
                </a:lnSpc>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0" name="椭圆 19"/>
            <p:cNvSpPr/>
            <p:nvPr>
              <p:custDataLst>
                <p:tags r:id="rId6"/>
              </p:custDataLst>
            </p:nvPr>
          </p:nvSpPr>
          <p:spPr>
            <a:xfrm flipH="1">
              <a:off x="9690444" y="2565840"/>
              <a:ext cx="860204" cy="860206"/>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grpSp>
        <p:nvGrpSpPr>
          <p:cNvPr id="22" name="组合 21"/>
          <p:cNvGrpSpPr/>
          <p:nvPr>
            <p:custDataLst>
              <p:tags r:id="rId7"/>
            </p:custDataLst>
          </p:nvPr>
        </p:nvGrpSpPr>
        <p:grpSpPr>
          <a:xfrm>
            <a:off x="4806180" y="2510334"/>
            <a:ext cx="2874966" cy="3447491"/>
            <a:chOff x="8682906" y="2316480"/>
            <a:chExt cx="2875281" cy="3447869"/>
          </a:xfrm>
        </p:grpSpPr>
        <p:grpSp>
          <p:nvGrpSpPr>
            <p:cNvPr id="23" name="组合 22"/>
            <p:cNvGrpSpPr/>
            <p:nvPr/>
          </p:nvGrpSpPr>
          <p:grpSpPr>
            <a:xfrm>
              <a:off x="8682906" y="2316480"/>
              <a:ext cx="2875281" cy="3444240"/>
              <a:chOff x="8463279" y="2316480"/>
              <a:chExt cx="2875281" cy="3444240"/>
            </a:xfrm>
          </p:grpSpPr>
          <p:sp>
            <p:nvSpPr>
              <p:cNvPr id="27" name="iš1íḋê"/>
              <p:cNvSpPr/>
              <p:nvPr>
                <p:custDataLst>
                  <p:tags r:id="rId8"/>
                </p:custDataLst>
              </p:nvPr>
            </p:nvSpPr>
            <p:spPr>
              <a:xfrm>
                <a:off x="8463279" y="2316480"/>
                <a:ext cx="2875281" cy="3444240"/>
              </a:xfrm>
              <a:prstGeom prst="roundRect">
                <a:avLst>
                  <a:gd name="adj" fmla="val 4401"/>
                </a:avLst>
              </a:prstGeom>
              <a:solidFill>
                <a:schemeClr val="bg1"/>
              </a:solidFill>
              <a:ln>
                <a:noFill/>
              </a:ln>
              <a:effectLst>
                <a:outerShdw blurRad="508000" dist="190500" dir="5400000" sx="95000" sy="95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8" name="矩形: 圆角 27"/>
              <p:cNvSpPr/>
              <p:nvPr>
                <p:custDataLst>
                  <p:tags r:id="rId9"/>
                </p:custDataLst>
              </p:nvPr>
            </p:nvSpPr>
            <p:spPr>
              <a:xfrm>
                <a:off x="9143999" y="5715001"/>
                <a:ext cx="1513840" cy="45719"/>
              </a:xfrm>
              <a:prstGeom prst="roundRect">
                <a:avLst>
                  <a:gd name="adj" fmla="val 50000"/>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sp>
          <p:nvSpPr>
            <p:cNvPr id="24" name="文本框 23"/>
            <p:cNvSpPr txBox="1"/>
            <p:nvPr>
              <p:custDataLst>
                <p:tags r:id="rId10"/>
              </p:custDataLst>
            </p:nvPr>
          </p:nvSpPr>
          <p:spPr>
            <a:xfrm>
              <a:off x="8883482" y="3457141"/>
              <a:ext cx="2474128" cy="2307208"/>
            </a:xfrm>
            <a:prstGeom prst="rect">
              <a:avLst/>
            </a:prstGeom>
            <a:noFill/>
            <a:ln>
              <a:noFill/>
            </a:ln>
          </p:spPr>
          <p:txBody>
            <a:bodyPr wrap="square" rtlCol="0">
              <a:spAutoFit/>
            </a:bodyPr>
            <a:lstStyle/>
            <a:p>
              <a:pPr algn="ctr" hangingPunct="0">
                <a:lnSpc>
                  <a:spcPct val="150000"/>
                </a:lnSpc>
              </a:pPr>
              <a:r>
                <a:rPr lang="zh-CN" altLang="en-US" sz="1200">
                  <a:sym typeface="+mn-ea"/>
                </a:rPr>
                <a:t>职工达到最低缴费年限，可以自愿选择弹性</a:t>
              </a:r>
              <a:r>
                <a:rPr lang="zh-CN" altLang="en-US" sz="1200">
                  <a:gradFill>
                    <a:gsLst>
                      <a:gs pos="51300">
                        <a:srgbClr val="32B0EA"/>
                      </a:gs>
                      <a:gs pos="0">
                        <a:srgbClr val="005F9F"/>
                      </a:gs>
                      <a:gs pos="100000">
                        <a:srgbClr val="ADDCE1"/>
                      </a:gs>
                    </a:gsLst>
                    <a:lin ang="5400000" scaled="1"/>
                  </a:gradFill>
                  <a:sym typeface="+mn-ea"/>
                </a:rPr>
                <a:t>提前退休</a:t>
              </a:r>
              <a:r>
                <a:rPr lang="zh-CN" altLang="en-US" sz="1200">
                  <a:sym typeface="+mn-ea"/>
                </a:rPr>
                <a:t>，提前时间最长不超过三年，且退休年龄不得低于女职工五十周岁、五十五周岁及男职工六十周岁的原法定退休年龄。</a:t>
              </a:r>
              <a:endParaRPr lang="zh-CN" altLang="en-US" sz="1200">
                <a:sym typeface="+mn-ea"/>
              </a:endParaRPr>
            </a:p>
            <a:p>
              <a:pPr algn="ctr" hangingPunct="0">
                <a:lnSpc>
                  <a:spcPct val="150000"/>
                </a:lnSpc>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lgn="ctr" hangingPunct="0">
                <a:lnSpc>
                  <a:spcPct val="150000"/>
                </a:lnSpc>
              </a:pPr>
              <a:r>
                <a:rPr lang="zh-CN" altLang="en-US" sz="1200">
                  <a:sym typeface="+mn-ea"/>
                </a:rPr>
                <a:t>可以弹性</a:t>
              </a:r>
              <a:r>
                <a:rPr lang="zh-CN" altLang="en-US" sz="1200">
                  <a:gradFill>
                    <a:gsLst>
                      <a:gs pos="51300">
                        <a:srgbClr val="32B0EA"/>
                      </a:gs>
                      <a:gs pos="0">
                        <a:srgbClr val="005F9F"/>
                      </a:gs>
                      <a:gs pos="100000">
                        <a:srgbClr val="ADDCE1"/>
                      </a:gs>
                    </a:gsLst>
                    <a:lin ang="5400000" scaled="1"/>
                  </a:gradFill>
                  <a:sym typeface="+mn-ea"/>
                </a:rPr>
                <a:t>延迟退休</a:t>
              </a:r>
              <a:r>
                <a:rPr lang="zh-CN" altLang="en-US" sz="1200">
                  <a:sym typeface="+mn-ea"/>
                </a:rPr>
                <a:t>，延迟时间最长不超过三年</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6" name="椭圆 25"/>
            <p:cNvSpPr/>
            <p:nvPr>
              <p:custDataLst>
                <p:tags r:id="rId11"/>
              </p:custDataLst>
            </p:nvPr>
          </p:nvSpPr>
          <p:spPr>
            <a:xfrm flipH="1">
              <a:off x="9690444" y="2565840"/>
              <a:ext cx="860204" cy="860206"/>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grpSp>
        <p:nvGrpSpPr>
          <p:cNvPr id="29" name="组合 28"/>
          <p:cNvGrpSpPr/>
          <p:nvPr>
            <p:custDataLst>
              <p:tags r:id="rId12"/>
            </p:custDataLst>
          </p:nvPr>
        </p:nvGrpSpPr>
        <p:grpSpPr>
          <a:xfrm>
            <a:off x="929737" y="2510334"/>
            <a:ext cx="2874966" cy="3443862"/>
            <a:chOff x="8682906" y="2316480"/>
            <a:chExt cx="2875281" cy="3444240"/>
          </a:xfrm>
        </p:grpSpPr>
        <p:grpSp>
          <p:nvGrpSpPr>
            <p:cNvPr id="31" name="组合 30"/>
            <p:cNvGrpSpPr/>
            <p:nvPr/>
          </p:nvGrpSpPr>
          <p:grpSpPr>
            <a:xfrm>
              <a:off x="8682906" y="2316480"/>
              <a:ext cx="2875281" cy="3444240"/>
              <a:chOff x="8463279" y="2316480"/>
              <a:chExt cx="2875281" cy="3444240"/>
            </a:xfrm>
          </p:grpSpPr>
          <p:sp>
            <p:nvSpPr>
              <p:cNvPr id="34" name="iš1íḋê"/>
              <p:cNvSpPr/>
              <p:nvPr>
                <p:custDataLst>
                  <p:tags r:id="rId13"/>
                </p:custDataLst>
              </p:nvPr>
            </p:nvSpPr>
            <p:spPr>
              <a:xfrm>
                <a:off x="8463279" y="2316480"/>
                <a:ext cx="2875281" cy="3444240"/>
              </a:xfrm>
              <a:prstGeom prst="roundRect">
                <a:avLst>
                  <a:gd name="adj" fmla="val 4401"/>
                </a:avLst>
              </a:prstGeom>
              <a:solidFill>
                <a:schemeClr val="bg1"/>
              </a:solidFill>
              <a:ln>
                <a:noFill/>
              </a:ln>
              <a:effectLst>
                <a:outerShdw blurRad="508000" dist="190500" dir="5400000" sx="95000" sy="95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5" name="矩形: 圆角 34"/>
              <p:cNvSpPr/>
              <p:nvPr>
                <p:custDataLst>
                  <p:tags r:id="rId14"/>
                </p:custDataLst>
              </p:nvPr>
            </p:nvSpPr>
            <p:spPr>
              <a:xfrm>
                <a:off x="9143999" y="5715001"/>
                <a:ext cx="1513840" cy="45719"/>
              </a:xfrm>
              <a:prstGeom prst="roundRect">
                <a:avLst>
                  <a:gd name="adj" fmla="val 50000"/>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sp>
          <p:nvSpPr>
            <p:cNvPr id="32" name="文本框 31"/>
            <p:cNvSpPr txBox="1"/>
            <p:nvPr>
              <p:custDataLst>
                <p:tags r:id="rId15"/>
              </p:custDataLst>
            </p:nvPr>
          </p:nvSpPr>
          <p:spPr>
            <a:xfrm>
              <a:off x="8929208" y="3449520"/>
              <a:ext cx="2474128" cy="2307208"/>
            </a:xfrm>
            <a:prstGeom prst="rect">
              <a:avLst/>
            </a:prstGeom>
            <a:noFill/>
            <a:ln>
              <a:noFill/>
            </a:ln>
          </p:spPr>
          <p:txBody>
            <a:bodyPr wrap="square" rtlCol="0">
              <a:spAutoFit/>
            </a:bodyPr>
            <a:lstStyle/>
            <a:p>
              <a:pPr algn="ctr" hangingPunct="0">
                <a:lnSpc>
                  <a:spcPct val="150000"/>
                </a:lnSpc>
              </a:pPr>
              <a:r>
                <a:rPr lang="zh-CN" altLang="en-US" sz="1200">
                  <a:sym typeface="+mn-ea"/>
                </a:rPr>
                <a:t>从</a:t>
              </a:r>
              <a:r>
                <a:rPr lang="en-US" altLang="zh-CN" sz="1200">
                  <a:sym typeface="+mn-ea"/>
                </a:rPr>
                <a:t>2030</a:t>
              </a:r>
              <a:r>
                <a:rPr lang="zh-CN" altLang="en-US" sz="1200">
                  <a:sym typeface="+mn-ea"/>
                </a:rPr>
                <a:t>年</a:t>
              </a:r>
              <a:r>
                <a:rPr lang="en-US" altLang="zh-CN" sz="1200">
                  <a:sym typeface="+mn-ea"/>
                </a:rPr>
                <a:t>1</a:t>
              </a:r>
              <a:r>
                <a:rPr lang="zh-CN" altLang="en-US" sz="1200">
                  <a:sym typeface="+mn-ea"/>
                </a:rPr>
                <a:t>月</a:t>
              </a:r>
              <a:r>
                <a:rPr lang="en-US" altLang="zh-CN" sz="1200">
                  <a:sym typeface="+mn-ea"/>
                </a:rPr>
                <a:t>1</a:t>
              </a:r>
              <a:r>
                <a:rPr lang="zh-CN" altLang="en-US" sz="1200">
                  <a:sym typeface="+mn-ea"/>
                </a:rPr>
                <a:t>日起，将职工按月领取基本</a:t>
              </a:r>
              <a:r>
                <a:rPr lang="zh-CN" altLang="en-US" sz="1200">
                  <a:gradFill>
                    <a:gsLst>
                      <a:gs pos="51300">
                        <a:srgbClr val="32B0EA"/>
                      </a:gs>
                      <a:gs pos="0">
                        <a:srgbClr val="005F9F"/>
                      </a:gs>
                      <a:gs pos="100000">
                        <a:srgbClr val="ADDCE1"/>
                      </a:gs>
                    </a:gsLst>
                    <a:lin ang="5400000" scaled="1"/>
                  </a:gradFill>
                  <a:sym typeface="+mn-ea"/>
                </a:rPr>
                <a:t>养老金最低缴费</a:t>
              </a:r>
              <a:r>
                <a:rPr lang="zh-CN" altLang="en-US" sz="1200">
                  <a:sym typeface="+mn-ea"/>
                </a:rPr>
                <a:t>年限由十五年逐步提高至二十年，每年提高六个月。职工达到法定退休年龄但不满最低缴费年限的，可以按照规定通过延长缴费或者一次性缴费的办法达到最低缴费年限，按月领取基本养老金。</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3" name="椭圆 32"/>
            <p:cNvSpPr/>
            <p:nvPr>
              <p:custDataLst>
                <p:tags r:id="rId16"/>
              </p:custDataLst>
            </p:nvPr>
          </p:nvSpPr>
          <p:spPr>
            <a:xfrm flipH="1">
              <a:off x="9690444" y="2565840"/>
              <a:ext cx="860204" cy="860206"/>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sp>
        <p:nvSpPr>
          <p:cNvPr id="17" name="Freeform 77"/>
          <p:cNvSpPr/>
          <p:nvPr>
            <p:custDataLst>
              <p:tags r:id="rId17"/>
            </p:custDataLst>
          </p:nvPr>
        </p:nvSpPr>
        <p:spPr bwMode="auto">
          <a:xfrm>
            <a:off x="9889178" y="2993839"/>
            <a:ext cx="551302" cy="465283"/>
          </a:xfrm>
          <a:custGeom>
            <a:avLst/>
            <a:gdLst>
              <a:gd name="T0" fmla="*/ 75456038 w 497"/>
              <a:gd name="T1" fmla="*/ 25327314 h 418"/>
              <a:gd name="T2" fmla="*/ 75456038 w 497"/>
              <a:gd name="T3" fmla="*/ 25327314 h 418"/>
              <a:gd name="T4" fmla="*/ 78904119 w 497"/>
              <a:gd name="T5" fmla="*/ 25327314 h 418"/>
              <a:gd name="T6" fmla="*/ 78904119 w 497"/>
              <a:gd name="T7" fmla="*/ 36356973 h 418"/>
              <a:gd name="T8" fmla="*/ 100608201 w 497"/>
              <a:gd name="T9" fmla="*/ 18178487 h 418"/>
              <a:gd name="T10" fmla="*/ 78904119 w 497"/>
              <a:gd name="T11" fmla="*/ 0 h 418"/>
              <a:gd name="T12" fmla="*/ 78904119 w 497"/>
              <a:gd name="T13" fmla="*/ 10825381 h 418"/>
              <a:gd name="T14" fmla="*/ 75456038 w 497"/>
              <a:gd name="T15" fmla="*/ 10825381 h 418"/>
              <a:gd name="T16" fmla="*/ 37728019 w 497"/>
              <a:gd name="T17" fmla="*/ 38195024 h 418"/>
              <a:gd name="T18" fmla="*/ 10750481 w 497"/>
              <a:gd name="T19" fmla="*/ 58007735 h 418"/>
              <a:gd name="T20" fmla="*/ 0 w 497"/>
              <a:gd name="T21" fmla="*/ 58007735 h 418"/>
              <a:gd name="T22" fmla="*/ 0 w 497"/>
              <a:gd name="T23" fmla="*/ 72509668 h 418"/>
              <a:gd name="T24" fmla="*/ 10750481 w 497"/>
              <a:gd name="T25" fmla="*/ 72509668 h 418"/>
              <a:gd name="T26" fmla="*/ 48478500 w 497"/>
              <a:gd name="T27" fmla="*/ 45343851 h 418"/>
              <a:gd name="T28" fmla="*/ 75456038 w 497"/>
              <a:gd name="T29" fmla="*/ 25327314 h 418"/>
              <a:gd name="T30" fmla="*/ 26774869 w 497"/>
              <a:gd name="T31" fmla="*/ 34518471 h 418"/>
              <a:gd name="T32" fmla="*/ 26774869 w 497"/>
              <a:gd name="T33" fmla="*/ 34518471 h 418"/>
              <a:gd name="T34" fmla="*/ 28600243 w 497"/>
              <a:gd name="T35" fmla="*/ 31046196 h 418"/>
              <a:gd name="T36" fmla="*/ 35902644 w 497"/>
              <a:gd name="T37" fmla="*/ 23693090 h 418"/>
              <a:gd name="T38" fmla="*/ 10750481 w 497"/>
              <a:gd name="T39" fmla="*/ 12867709 h 418"/>
              <a:gd name="T40" fmla="*/ 0 w 497"/>
              <a:gd name="T41" fmla="*/ 12867709 h 418"/>
              <a:gd name="T42" fmla="*/ 0 w 497"/>
              <a:gd name="T43" fmla="*/ 27369643 h 418"/>
              <a:gd name="T44" fmla="*/ 10750481 w 497"/>
              <a:gd name="T45" fmla="*/ 27369643 h 418"/>
              <a:gd name="T46" fmla="*/ 26774869 w 497"/>
              <a:gd name="T47" fmla="*/ 34518471 h 418"/>
              <a:gd name="T48" fmla="*/ 78904119 w 497"/>
              <a:gd name="T49" fmla="*/ 59845785 h 418"/>
              <a:gd name="T50" fmla="*/ 78904119 w 497"/>
              <a:gd name="T51" fmla="*/ 59845785 h 418"/>
              <a:gd name="T52" fmla="*/ 75456038 w 497"/>
              <a:gd name="T53" fmla="*/ 59845785 h 418"/>
              <a:gd name="T54" fmla="*/ 57403156 w 497"/>
              <a:gd name="T55" fmla="*/ 50858907 h 418"/>
              <a:gd name="T56" fmla="*/ 57403156 w 497"/>
              <a:gd name="T57" fmla="*/ 52696957 h 418"/>
              <a:gd name="T58" fmla="*/ 50303875 w 497"/>
              <a:gd name="T59" fmla="*/ 61684287 h 418"/>
              <a:gd name="T60" fmla="*/ 75456038 w 497"/>
              <a:gd name="T61" fmla="*/ 72509668 h 418"/>
              <a:gd name="T62" fmla="*/ 78904119 w 497"/>
              <a:gd name="T63" fmla="*/ 72509668 h 418"/>
              <a:gd name="T64" fmla="*/ 78904119 w 497"/>
              <a:gd name="T65" fmla="*/ 85173099 h 418"/>
              <a:gd name="T66" fmla="*/ 100608201 w 497"/>
              <a:gd name="T67" fmla="*/ 66994613 h 418"/>
              <a:gd name="T68" fmla="*/ 78904119 w 497"/>
              <a:gd name="T69" fmla="*/ 49020404 h 418"/>
              <a:gd name="T70" fmla="*/ 78904119 w 497"/>
              <a:gd name="T71" fmla="*/ 59845785 h 41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97" h="418">
                <a:moveTo>
                  <a:pt x="372" y="124"/>
                </a:moveTo>
                <a:lnTo>
                  <a:pt x="372" y="124"/>
                </a:lnTo>
                <a:cubicBezTo>
                  <a:pt x="389" y="124"/>
                  <a:pt x="389" y="124"/>
                  <a:pt x="389" y="124"/>
                </a:cubicBezTo>
                <a:cubicBezTo>
                  <a:pt x="389" y="178"/>
                  <a:pt x="389" y="178"/>
                  <a:pt x="389" y="178"/>
                </a:cubicBezTo>
                <a:cubicBezTo>
                  <a:pt x="496" y="89"/>
                  <a:pt x="496" y="89"/>
                  <a:pt x="496" y="89"/>
                </a:cubicBezTo>
                <a:cubicBezTo>
                  <a:pt x="389" y="0"/>
                  <a:pt x="389" y="0"/>
                  <a:pt x="389" y="0"/>
                </a:cubicBezTo>
                <a:cubicBezTo>
                  <a:pt x="389" y="53"/>
                  <a:pt x="389" y="53"/>
                  <a:pt x="389" y="53"/>
                </a:cubicBezTo>
                <a:cubicBezTo>
                  <a:pt x="372" y="53"/>
                  <a:pt x="372" y="53"/>
                  <a:pt x="372" y="53"/>
                </a:cubicBezTo>
                <a:cubicBezTo>
                  <a:pt x="283" y="53"/>
                  <a:pt x="230" y="124"/>
                  <a:pt x="186" y="187"/>
                </a:cubicBezTo>
                <a:cubicBezTo>
                  <a:pt x="141" y="240"/>
                  <a:pt x="106" y="284"/>
                  <a:pt x="53" y="284"/>
                </a:cubicBezTo>
                <a:cubicBezTo>
                  <a:pt x="0" y="284"/>
                  <a:pt x="0" y="284"/>
                  <a:pt x="0" y="284"/>
                </a:cubicBezTo>
                <a:cubicBezTo>
                  <a:pt x="0" y="355"/>
                  <a:pt x="0" y="355"/>
                  <a:pt x="0" y="355"/>
                </a:cubicBezTo>
                <a:cubicBezTo>
                  <a:pt x="53" y="355"/>
                  <a:pt x="53" y="355"/>
                  <a:pt x="53" y="355"/>
                </a:cubicBezTo>
                <a:cubicBezTo>
                  <a:pt x="141" y="355"/>
                  <a:pt x="194" y="284"/>
                  <a:pt x="239" y="222"/>
                </a:cubicBezTo>
                <a:cubicBezTo>
                  <a:pt x="283" y="169"/>
                  <a:pt x="319" y="124"/>
                  <a:pt x="372" y="124"/>
                </a:cubicBezTo>
                <a:close/>
                <a:moveTo>
                  <a:pt x="132" y="169"/>
                </a:moveTo>
                <a:lnTo>
                  <a:pt x="132" y="169"/>
                </a:lnTo>
                <a:cubicBezTo>
                  <a:pt x="132" y="160"/>
                  <a:pt x="141" y="160"/>
                  <a:pt x="141" y="152"/>
                </a:cubicBezTo>
                <a:cubicBezTo>
                  <a:pt x="150" y="143"/>
                  <a:pt x="167" y="124"/>
                  <a:pt x="177" y="116"/>
                </a:cubicBezTo>
                <a:cubicBezTo>
                  <a:pt x="141" y="80"/>
                  <a:pt x="106" y="63"/>
                  <a:pt x="53" y="63"/>
                </a:cubicBezTo>
                <a:cubicBezTo>
                  <a:pt x="0" y="63"/>
                  <a:pt x="0" y="63"/>
                  <a:pt x="0" y="63"/>
                </a:cubicBezTo>
                <a:cubicBezTo>
                  <a:pt x="0" y="134"/>
                  <a:pt x="0" y="134"/>
                  <a:pt x="0" y="134"/>
                </a:cubicBezTo>
                <a:cubicBezTo>
                  <a:pt x="53" y="134"/>
                  <a:pt x="53" y="134"/>
                  <a:pt x="53" y="134"/>
                </a:cubicBezTo>
                <a:cubicBezTo>
                  <a:pt x="79" y="134"/>
                  <a:pt x="106" y="143"/>
                  <a:pt x="132" y="169"/>
                </a:cubicBezTo>
                <a:close/>
                <a:moveTo>
                  <a:pt x="389" y="293"/>
                </a:moveTo>
                <a:lnTo>
                  <a:pt x="389" y="293"/>
                </a:lnTo>
                <a:cubicBezTo>
                  <a:pt x="372" y="293"/>
                  <a:pt x="372" y="293"/>
                  <a:pt x="372" y="293"/>
                </a:cubicBezTo>
                <a:cubicBezTo>
                  <a:pt x="336" y="293"/>
                  <a:pt x="310" y="275"/>
                  <a:pt x="283" y="249"/>
                </a:cubicBezTo>
                <a:cubicBezTo>
                  <a:pt x="283" y="249"/>
                  <a:pt x="283" y="249"/>
                  <a:pt x="283" y="258"/>
                </a:cubicBezTo>
                <a:cubicBezTo>
                  <a:pt x="266" y="266"/>
                  <a:pt x="257" y="284"/>
                  <a:pt x="248" y="302"/>
                </a:cubicBezTo>
                <a:cubicBezTo>
                  <a:pt x="274" y="337"/>
                  <a:pt x="319" y="355"/>
                  <a:pt x="372" y="355"/>
                </a:cubicBezTo>
                <a:cubicBezTo>
                  <a:pt x="389" y="355"/>
                  <a:pt x="389" y="355"/>
                  <a:pt x="389" y="355"/>
                </a:cubicBezTo>
                <a:cubicBezTo>
                  <a:pt x="389" y="417"/>
                  <a:pt x="389" y="417"/>
                  <a:pt x="389" y="417"/>
                </a:cubicBezTo>
                <a:cubicBezTo>
                  <a:pt x="496" y="328"/>
                  <a:pt x="496" y="328"/>
                  <a:pt x="496" y="328"/>
                </a:cubicBezTo>
                <a:cubicBezTo>
                  <a:pt x="389" y="240"/>
                  <a:pt x="389" y="240"/>
                  <a:pt x="389" y="240"/>
                </a:cubicBezTo>
                <a:lnTo>
                  <a:pt x="389" y="29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none" lIns="45716" tIns="22858" rIns="45716" bIns="22858" anchor="ctr"/>
          <a:lstStyle/>
          <a:p>
            <a:endParaRPr lang="zh-CN" altLang="en-US" sz="24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1" name="Freeform 154"/>
          <p:cNvSpPr/>
          <p:nvPr>
            <p:custDataLst>
              <p:tags r:id="rId18"/>
            </p:custDataLst>
          </p:nvPr>
        </p:nvSpPr>
        <p:spPr bwMode="auto">
          <a:xfrm>
            <a:off x="6016232" y="2958649"/>
            <a:ext cx="394904" cy="535661"/>
          </a:xfrm>
          <a:custGeom>
            <a:avLst/>
            <a:gdLst>
              <a:gd name="T0" fmla="*/ 70580799 w 355"/>
              <a:gd name="T1" fmla="*/ 26326320 h 487"/>
              <a:gd name="T2" fmla="*/ 70580799 w 355"/>
              <a:gd name="T3" fmla="*/ 26326320 h 487"/>
              <a:gd name="T4" fmla="*/ 23663031 w 355"/>
              <a:gd name="T5" fmla="*/ 3390491 h 487"/>
              <a:gd name="T6" fmla="*/ 1835972 w 355"/>
              <a:gd name="T7" fmla="*/ 10570274 h 487"/>
              <a:gd name="T8" fmla="*/ 0 w 355"/>
              <a:gd name="T9" fmla="*/ 15755599 h 487"/>
              <a:gd name="T10" fmla="*/ 1835972 w 355"/>
              <a:gd name="T11" fmla="*/ 68807040 h 487"/>
              <a:gd name="T12" fmla="*/ 3671943 w 355"/>
              <a:gd name="T13" fmla="*/ 72396709 h 487"/>
              <a:gd name="T14" fmla="*/ 45285944 w 355"/>
              <a:gd name="T15" fmla="*/ 96927747 h 487"/>
              <a:gd name="T16" fmla="*/ 47121915 w 355"/>
              <a:gd name="T17" fmla="*/ 96927747 h 487"/>
              <a:gd name="T18" fmla="*/ 48957887 w 355"/>
              <a:gd name="T19" fmla="*/ 96927747 h 487"/>
              <a:gd name="T20" fmla="*/ 50589711 w 355"/>
              <a:gd name="T21" fmla="*/ 95332538 h 487"/>
              <a:gd name="T22" fmla="*/ 50589711 w 355"/>
              <a:gd name="T23" fmla="*/ 40486262 h 487"/>
              <a:gd name="T24" fmla="*/ 48957887 w 355"/>
              <a:gd name="T25" fmla="*/ 36896594 h 487"/>
              <a:gd name="T26" fmla="*/ 8975710 w 355"/>
              <a:gd name="T27" fmla="*/ 13960765 h 487"/>
              <a:gd name="T28" fmla="*/ 14483173 w 355"/>
              <a:gd name="T29" fmla="*/ 10570274 h 487"/>
              <a:gd name="T30" fmla="*/ 21827060 w 355"/>
              <a:gd name="T31" fmla="*/ 8775440 h 487"/>
              <a:gd name="T32" fmla="*/ 61401393 w 355"/>
              <a:gd name="T33" fmla="*/ 29915988 h 487"/>
              <a:gd name="T34" fmla="*/ 63237364 w 355"/>
              <a:gd name="T35" fmla="*/ 31710822 h 487"/>
              <a:gd name="T36" fmla="*/ 63237364 w 355"/>
              <a:gd name="T37" fmla="*/ 84762264 h 487"/>
              <a:gd name="T38" fmla="*/ 66908856 w 355"/>
              <a:gd name="T39" fmla="*/ 88152754 h 487"/>
              <a:gd name="T40" fmla="*/ 72212623 w 355"/>
              <a:gd name="T41" fmla="*/ 84762264 h 487"/>
              <a:gd name="T42" fmla="*/ 72212623 w 355"/>
              <a:gd name="T43" fmla="*/ 28121154 h 487"/>
              <a:gd name="T44" fmla="*/ 70580799 w 355"/>
              <a:gd name="T45" fmla="*/ 26326320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55" h="487">
                <a:moveTo>
                  <a:pt x="346" y="132"/>
                </a:moveTo>
                <a:lnTo>
                  <a:pt x="346" y="132"/>
                </a:lnTo>
                <a:cubicBezTo>
                  <a:pt x="116" y="17"/>
                  <a:pt x="116" y="17"/>
                  <a:pt x="116" y="17"/>
                </a:cubicBezTo>
                <a:cubicBezTo>
                  <a:pt x="89" y="0"/>
                  <a:pt x="27" y="25"/>
                  <a:pt x="9" y="53"/>
                </a:cubicBezTo>
                <a:cubicBezTo>
                  <a:pt x="0" y="70"/>
                  <a:pt x="0" y="79"/>
                  <a:pt x="0" y="79"/>
                </a:cubicBezTo>
                <a:cubicBezTo>
                  <a:pt x="9" y="345"/>
                  <a:pt x="9" y="345"/>
                  <a:pt x="9" y="345"/>
                </a:cubicBezTo>
                <a:cubicBezTo>
                  <a:pt x="9" y="345"/>
                  <a:pt x="18" y="354"/>
                  <a:pt x="18" y="363"/>
                </a:cubicBezTo>
                <a:cubicBezTo>
                  <a:pt x="36" y="363"/>
                  <a:pt x="222" y="486"/>
                  <a:pt x="222" y="486"/>
                </a:cubicBezTo>
                <a:cubicBezTo>
                  <a:pt x="231" y="486"/>
                  <a:pt x="231" y="486"/>
                  <a:pt x="231" y="486"/>
                </a:cubicBezTo>
                <a:cubicBezTo>
                  <a:pt x="240" y="486"/>
                  <a:pt x="240" y="486"/>
                  <a:pt x="240" y="486"/>
                </a:cubicBezTo>
                <a:cubicBezTo>
                  <a:pt x="248" y="486"/>
                  <a:pt x="248" y="478"/>
                  <a:pt x="248" y="478"/>
                </a:cubicBezTo>
                <a:cubicBezTo>
                  <a:pt x="248" y="203"/>
                  <a:pt x="248" y="203"/>
                  <a:pt x="248" y="203"/>
                </a:cubicBezTo>
                <a:cubicBezTo>
                  <a:pt x="248" y="194"/>
                  <a:pt x="248" y="194"/>
                  <a:pt x="240" y="185"/>
                </a:cubicBezTo>
                <a:cubicBezTo>
                  <a:pt x="44" y="70"/>
                  <a:pt x="44" y="70"/>
                  <a:pt x="44" y="70"/>
                </a:cubicBezTo>
                <a:cubicBezTo>
                  <a:pt x="44" y="70"/>
                  <a:pt x="53" y="61"/>
                  <a:pt x="71" y="53"/>
                </a:cubicBezTo>
                <a:cubicBezTo>
                  <a:pt x="89" y="44"/>
                  <a:pt x="97" y="44"/>
                  <a:pt x="107" y="44"/>
                </a:cubicBezTo>
                <a:cubicBezTo>
                  <a:pt x="107" y="44"/>
                  <a:pt x="293" y="150"/>
                  <a:pt x="301" y="150"/>
                </a:cubicBezTo>
                <a:cubicBezTo>
                  <a:pt x="310" y="159"/>
                  <a:pt x="310" y="159"/>
                  <a:pt x="310" y="159"/>
                </a:cubicBezTo>
                <a:cubicBezTo>
                  <a:pt x="310" y="168"/>
                  <a:pt x="310" y="425"/>
                  <a:pt x="310" y="425"/>
                </a:cubicBezTo>
                <a:cubicBezTo>
                  <a:pt x="310" y="433"/>
                  <a:pt x="319" y="442"/>
                  <a:pt x="328" y="442"/>
                </a:cubicBezTo>
                <a:cubicBezTo>
                  <a:pt x="337" y="442"/>
                  <a:pt x="354" y="433"/>
                  <a:pt x="354" y="425"/>
                </a:cubicBezTo>
                <a:cubicBezTo>
                  <a:pt x="354" y="141"/>
                  <a:pt x="354" y="141"/>
                  <a:pt x="354" y="141"/>
                </a:cubicBezTo>
                <a:lnTo>
                  <a:pt x="346" y="132"/>
                </a:lnTo>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none" lIns="45716" tIns="22858" rIns="45716" bIns="22858" anchor="ctr"/>
          <a:lstStyle/>
          <a:p>
            <a:endParaRPr lang="zh-CN" altLang="en-US" sz="24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0" name="PA-文本框 8"/>
          <p:cNvSpPr txBox="1"/>
          <p:nvPr>
            <p:custDataLst>
              <p:tags r:id="rId19"/>
            </p:custDataLst>
          </p:nvPr>
        </p:nvSpPr>
        <p:spPr>
          <a:xfrm>
            <a:off x="1272176" y="485429"/>
            <a:ext cx="5778419"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一、</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老年劳动力就业形势及政策解读</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 name="矩形 5"/>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510030" y="1214120"/>
            <a:ext cx="9467850" cy="398780"/>
          </a:xfrm>
          <a:prstGeom prst="rect">
            <a:avLst/>
          </a:prstGeom>
          <a:noFill/>
        </p:spPr>
        <p:txBody>
          <a:bodyPr wrap="square" rtlCol="0" anchor="t">
            <a:spAutoFit/>
          </a:bodyPr>
          <a:p>
            <a:r>
              <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小步调整、弹性实施、分类推进、统筹兼顾的原则，实施</a:t>
            </a:r>
            <a:r>
              <a:rPr lang="zh-CN" altLang="en-US" sz="2000" b="1" u="sng"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渐进式</a:t>
            </a:r>
            <a:r>
              <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rPr>
              <a:t>延迟法定退休年龄</a:t>
            </a:r>
            <a:endParaRPr lang="zh-CN" altLang="en-US" sz="2000" b="1" dirty="0">
              <a:solidFill>
                <a:srgbClr val="4F5260"/>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 name="图片 1" descr="金币"/>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2037715" y="2853690"/>
            <a:ext cx="605155" cy="6051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bldLst>
      <p:bldP spid="10" grpId="0" animBg="1"/>
      <p:bldP spid="25" grpId="0" animBg="1"/>
      <p:bldP spid="17"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PA-文本框 8"/>
          <p:cNvSpPr txBox="1"/>
          <p:nvPr>
            <p:custDataLst>
              <p:tags r:id="rId1"/>
            </p:custDataLst>
          </p:nvPr>
        </p:nvSpPr>
        <p:spPr>
          <a:xfrm>
            <a:off x="1272176" y="485429"/>
            <a:ext cx="5778419"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二、文本挖掘与分析过程</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方法</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简介</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 name="矩形 5"/>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2" name="图示 1"/>
          <p:cNvGraphicFramePr/>
          <p:nvPr/>
        </p:nvGraphicFramePr>
        <p:xfrm>
          <a:off x="2032000" y="1260475"/>
          <a:ext cx="8128000" cy="54184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不完整圆 12"/>
          <p:cNvSpPr/>
          <p:nvPr/>
        </p:nvSpPr>
        <p:spPr>
          <a:xfrm flipH="1">
            <a:off x="4509648" y="450094"/>
            <a:ext cx="6863973" cy="6863973"/>
          </a:xfrm>
          <a:prstGeom prst="pie">
            <a:avLst>
              <a:gd name="adj1" fmla="val 7261952"/>
              <a:gd name="adj2" fmla="val 13951602"/>
            </a:avLst>
          </a:prstGeom>
          <a:noFill/>
          <a:ln w="12700" cap="flat" cmpd="sng" algn="ctr">
            <a:gradFill flip="none" rotWithShape="1">
              <a:gsLst>
                <a:gs pos="75000">
                  <a:srgbClr val="787C90">
                    <a:alpha val="0"/>
                  </a:srgbClr>
                </a:gs>
                <a:gs pos="100000">
                  <a:srgbClr val="787C90">
                    <a:alpha val="43000"/>
                  </a:srgbClr>
                </a:gs>
              </a:gsLst>
              <a:lin ang="10800000" scaled="1"/>
              <a:tileRect/>
            </a:gradFill>
            <a:prstDash val="solid"/>
            <a:miter lim="800000"/>
          </a:ln>
          <a:effectLst/>
        </p:spPr>
        <p:txBody>
          <a:bodyPr rtlCol="0" anchor="ctr"/>
          <a:lstStyle/>
          <a:p>
            <a:pPr algn="ctr" defTabSz="914400">
              <a:defRPr/>
            </a:pPr>
            <a:endParaRPr lang="zh-CN" altLang="en-US" sz="1800" kern="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4" name="不完整圆 13"/>
          <p:cNvSpPr/>
          <p:nvPr/>
        </p:nvSpPr>
        <p:spPr>
          <a:xfrm>
            <a:off x="771991" y="450094"/>
            <a:ext cx="6863973" cy="6863973"/>
          </a:xfrm>
          <a:prstGeom prst="pie">
            <a:avLst>
              <a:gd name="adj1" fmla="val 7261952"/>
              <a:gd name="adj2" fmla="val 13951602"/>
            </a:avLst>
          </a:prstGeom>
          <a:noFill/>
          <a:ln w="12700" cap="flat" cmpd="sng" algn="ctr">
            <a:gradFill flip="none" rotWithShape="1">
              <a:gsLst>
                <a:gs pos="75000">
                  <a:srgbClr val="787C90">
                    <a:alpha val="0"/>
                  </a:srgbClr>
                </a:gs>
                <a:gs pos="100000">
                  <a:srgbClr val="787C90">
                    <a:alpha val="43000"/>
                  </a:srgbClr>
                </a:gs>
              </a:gsLst>
              <a:lin ang="10800000" scaled="1"/>
              <a:tileRect/>
            </a:gradFill>
            <a:prstDash val="solid"/>
            <a:miter lim="800000"/>
          </a:ln>
          <a:effectLst/>
        </p:spPr>
        <p:txBody>
          <a:bodyPr rtlCol="0" anchor="ctr"/>
          <a:lstStyle/>
          <a:p>
            <a:pPr algn="ctr"/>
            <a:endParaRPr lang="zh-CN" altLang="en-US" sz="1800" kern="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5" name="不完整圆 14"/>
          <p:cNvSpPr/>
          <p:nvPr/>
        </p:nvSpPr>
        <p:spPr>
          <a:xfrm flipH="1">
            <a:off x="5660687" y="1651242"/>
            <a:ext cx="4654671" cy="4654671"/>
          </a:xfrm>
          <a:prstGeom prst="pie">
            <a:avLst>
              <a:gd name="adj1" fmla="val 5387899"/>
              <a:gd name="adj2" fmla="val 16209087"/>
            </a:avLst>
          </a:prstGeom>
          <a:gradFill flip="none" rotWithShape="1">
            <a:gsLst>
              <a:gs pos="0">
                <a:srgbClr val="787C90">
                  <a:alpha val="19000"/>
                </a:srgbClr>
              </a:gs>
              <a:gs pos="100000">
                <a:schemeClr val="accent1">
                  <a:alpha val="0"/>
                </a:schemeClr>
              </a:gs>
            </a:gsLst>
            <a:lin ang="0" scaled="1"/>
            <a:tileRect/>
          </a:gradFill>
          <a:ln w="12700" cap="flat" cmpd="sng" algn="ctr">
            <a:noFill/>
            <a:prstDash val="solid"/>
            <a:miter lim="800000"/>
          </a:ln>
          <a:effectLst/>
        </p:spPr>
        <p:txBody>
          <a:bodyPr rtlCol="0" anchor="ctr"/>
          <a:lstStyle/>
          <a:p>
            <a:pPr algn="ctr"/>
            <a:endParaRPr lang="zh-CN" altLang="en-US" sz="1800" kern="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6" name="不完整圆 15"/>
          <p:cNvSpPr/>
          <p:nvPr/>
        </p:nvSpPr>
        <p:spPr>
          <a:xfrm>
            <a:off x="1876642" y="1651242"/>
            <a:ext cx="4654671" cy="4654671"/>
          </a:xfrm>
          <a:prstGeom prst="pie">
            <a:avLst>
              <a:gd name="adj1" fmla="val 5387899"/>
              <a:gd name="adj2" fmla="val 16209087"/>
            </a:avLst>
          </a:prstGeom>
          <a:gradFill flip="none" rotWithShape="1">
            <a:gsLst>
              <a:gs pos="0">
                <a:srgbClr val="787C90">
                  <a:alpha val="19000"/>
                </a:srgbClr>
              </a:gs>
              <a:gs pos="100000">
                <a:schemeClr val="accent1">
                  <a:alpha val="0"/>
                </a:schemeClr>
              </a:gs>
            </a:gsLst>
            <a:lin ang="0" scaled="1"/>
            <a:tileRect/>
          </a:gradFill>
          <a:ln w="12700" cap="flat" cmpd="sng" algn="ctr">
            <a:noFill/>
            <a:prstDash val="solid"/>
            <a:miter lim="800000"/>
          </a:ln>
          <a:effectLst/>
        </p:spPr>
        <p:txBody>
          <a:bodyPr rtlCol="0" anchor="ctr"/>
          <a:lstStyle/>
          <a:p>
            <a:pPr algn="ctr"/>
            <a:endParaRPr lang="zh-CN" altLang="en-US" sz="1800" kern="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9" name="椭圆 18"/>
          <p:cNvSpPr/>
          <p:nvPr/>
        </p:nvSpPr>
        <p:spPr>
          <a:xfrm>
            <a:off x="3121362" y="2892788"/>
            <a:ext cx="2165231" cy="2165231"/>
          </a:xfrm>
          <a:prstGeom prst="ellipse">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0" name="椭圆 19"/>
          <p:cNvSpPr/>
          <p:nvPr/>
        </p:nvSpPr>
        <p:spPr>
          <a:xfrm>
            <a:off x="6905407" y="2892788"/>
            <a:ext cx="2165231" cy="2165231"/>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1" name="文本框 20"/>
          <p:cNvSpPr txBox="1"/>
          <p:nvPr/>
        </p:nvSpPr>
        <p:spPr>
          <a:xfrm>
            <a:off x="7403339" y="3544540"/>
            <a:ext cx="1169366" cy="861695"/>
          </a:xfrm>
          <a:prstGeom prst="rect">
            <a:avLst/>
          </a:prstGeom>
          <a:noFill/>
          <a:ln>
            <a:noFill/>
          </a:ln>
        </p:spPr>
        <p:txBody>
          <a:bodyPr wrap="square" lIns="0" tIns="0" rIns="0" bIns="0" rtlCol="0">
            <a:spAutoFit/>
          </a:bodyPr>
          <a:lstStyle/>
          <a:p>
            <a:pPr algn="ctr" hangingPunct="0">
              <a:defRPr/>
            </a:pPr>
            <a:r>
              <a:rPr lang="zh-CN" altLang="en-US" sz="2800" spc="1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社媒</a:t>
            </a:r>
            <a:endParaRPr lang="zh-CN" altLang="en-US" sz="2800" spc="1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lgn="ctr" hangingPunct="0">
              <a:defRPr/>
            </a:pPr>
            <a:r>
              <a:rPr lang="zh-CN" altLang="en-US" sz="2800" spc="1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文本</a:t>
            </a:r>
            <a:endParaRPr lang="zh-CN" altLang="en-US" sz="2800" spc="1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2" name="文本框 21"/>
          <p:cNvSpPr txBox="1"/>
          <p:nvPr/>
        </p:nvSpPr>
        <p:spPr>
          <a:xfrm>
            <a:off x="3619295" y="3544540"/>
            <a:ext cx="1169366" cy="861695"/>
          </a:xfrm>
          <a:prstGeom prst="rect">
            <a:avLst/>
          </a:prstGeom>
          <a:noFill/>
          <a:ln>
            <a:noFill/>
          </a:ln>
        </p:spPr>
        <p:txBody>
          <a:bodyPr wrap="square" lIns="0" tIns="0" rIns="0" bIns="0" rtlCol="0">
            <a:spAutoFit/>
          </a:bodyPr>
          <a:lstStyle/>
          <a:p>
            <a:pPr algn="ctr" hangingPunct="0">
              <a:defRPr/>
            </a:pPr>
            <a:r>
              <a:rPr lang="zh-CN" altLang="en-US" sz="2800" spc="1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政策</a:t>
            </a:r>
            <a:endParaRPr lang="zh-CN" altLang="en-US" sz="2800" spc="1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lgn="ctr" hangingPunct="0">
              <a:defRPr/>
            </a:pPr>
            <a:r>
              <a:rPr lang="zh-CN" altLang="en-US" sz="2800" spc="1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文本</a:t>
            </a:r>
            <a:endParaRPr lang="zh-CN" altLang="en-US" sz="2800" spc="1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4" name="椭圆 23"/>
          <p:cNvSpPr/>
          <p:nvPr/>
        </p:nvSpPr>
        <p:spPr>
          <a:xfrm>
            <a:off x="2107176" y="1577295"/>
            <a:ext cx="1217982" cy="1217982"/>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专题专栏</a:t>
            </a: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5" name="椭圆 24"/>
          <p:cNvSpPr/>
          <p:nvPr/>
        </p:nvSpPr>
        <p:spPr>
          <a:xfrm>
            <a:off x="1368650" y="3363237"/>
            <a:ext cx="1217982" cy="1217982"/>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政务公开</a:t>
            </a: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6" name="椭圆 25"/>
          <p:cNvSpPr/>
          <p:nvPr/>
        </p:nvSpPr>
        <p:spPr>
          <a:xfrm>
            <a:off x="2277480" y="5155529"/>
            <a:ext cx="1217982" cy="1217982"/>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新闻中心</a:t>
            </a: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7" name="椭圆 26"/>
          <p:cNvSpPr/>
          <p:nvPr/>
        </p:nvSpPr>
        <p:spPr>
          <a:xfrm>
            <a:off x="9615035" y="3327866"/>
            <a:ext cx="1217982" cy="1217982"/>
          </a:xfrm>
          <a:prstGeom prst="ellipse">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热点热搜</a:t>
            </a: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8" name="椭圆 27"/>
          <p:cNvSpPr/>
          <p:nvPr/>
        </p:nvSpPr>
        <p:spPr>
          <a:xfrm>
            <a:off x="8942516" y="1577295"/>
            <a:ext cx="1217982" cy="1217982"/>
          </a:xfrm>
          <a:prstGeom prst="ellipse">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微博</a:t>
            </a: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lgn="ctr"/>
            <a:r>
              <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话题</a:t>
            </a: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9" name="椭圆 28"/>
          <p:cNvSpPr/>
          <p:nvPr/>
        </p:nvSpPr>
        <p:spPr>
          <a:xfrm>
            <a:off x="8922600" y="5155529"/>
            <a:ext cx="1217982" cy="1217982"/>
          </a:xfrm>
          <a:prstGeom prst="ellipse">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b</a:t>
            </a:r>
            <a:r>
              <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站</a:t>
            </a: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lgn="ctr"/>
            <a:r>
              <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弹幕</a:t>
            </a: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 name="textcount"/>
          <p:cNvSpPr txBox="1"/>
          <p:nvPr/>
        </p:nvSpPr>
        <p:spPr>
          <a:xfrm>
            <a:off x="3907790" y="2155190"/>
            <a:ext cx="4443095" cy="460375"/>
          </a:xfrm>
          <a:prstGeom prst="rect">
            <a:avLst/>
          </a:prstGeom>
          <a:noFill/>
        </p:spPr>
        <p:txBody>
          <a:bodyPr vert="horz" wrap="square" rtlCol="0">
            <a:spAutoFit/>
          </a:bodyPr>
          <a:lstStyle/>
          <a:p>
            <a:pPr algn="ctr">
              <a:lnSpc>
                <a:spcPct val="150000"/>
              </a:lnSpc>
              <a:defRPr/>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爬取时间段为</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2024</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年</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9</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月</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10</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日至</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2025</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年</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6</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月</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1</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日</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 name="文本框 2"/>
          <p:cNvSpPr txBox="1"/>
          <p:nvPr/>
        </p:nvSpPr>
        <p:spPr>
          <a:xfrm>
            <a:off x="5293460" y="1792888"/>
            <a:ext cx="1679041" cy="368300"/>
          </a:xfrm>
          <a:prstGeom prst="rect">
            <a:avLst/>
          </a:prstGeom>
          <a:noFill/>
        </p:spPr>
        <p:txBody>
          <a:bodyPr wrap="square" rtlCol="0" anchor="ctr">
            <a:spAutoFit/>
          </a:bodyPr>
          <a:lstStyle/>
          <a:p>
            <a:pPr algn="ctr">
              <a:defRPr/>
            </a:pPr>
            <a:r>
              <a:rPr lang="zh-CN" altLang="en-US" sz="18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爬取</a:t>
            </a:r>
            <a:r>
              <a:rPr lang="zh-CN" altLang="en-US" sz="18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时间段</a:t>
            </a:r>
            <a:endParaRPr lang="zh-CN" altLang="en-US" sz="18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 name="textcount"/>
          <p:cNvSpPr txBox="1"/>
          <p:nvPr/>
        </p:nvSpPr>
        <p:spPr>
          <a:xfrm>
            <a:off x="4262769" y="5653234"/>
            <a:ext cx="3740423" cy="460375"/>
          </a:xfrm>
          <a:prstGeom prst="rect">
            <a:avLst/>
          </a:prstGeom>
          <a:noFill/>
        </p:spPr>
        <p:txBody>
          <a:bodyPr vert="horz" wrap="square" rtlCol="0">
            <a:spAutoFit/>
          </a:bodyPr>
          <a:lstStyle/>
          <a:p>
            <a:pPr algn="ctr">
              <a:lnSpc>
                <a:spcPct val="150000"/>
              </a:lnSpc>
              <a:defRPr/>
            </a:pP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jieba</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分词、去除停用词、重复值</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等</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 name="文本框 4"/>
          <p:cNvSpPr txBox="1"/>
          <p:nvPr/>
        </p:nvSpPr>
        <p:spPr>
          <a:xfrm>
            <a:off x="5123180" y="5290820"/>
            <a:ext cx="2112645" cy="368300"/>
          </a:xfrm>
          <a:prstGeom prst="rect">
            <a:avLst/>
          </a:prstGeom>
          <a:noFill/>
        </p:spPr>
        <p:txBody>
          <a:bodyPr wrap="square" rtlCol="0" anchor="ctr">
            <a:spAutoFit/>
          </a:bodyPr>
          <a:lstStyle/>
          <a:p>
            <a:pPr algn="ctr">
              <a:defRPr/>
            </a:pPr>
            <a:r>
              <a:rPr lang="zh-CN" altLang="en-US" sz="18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文本清洗</a:t>
            </a:r>
            <a:r>
              <a:rPr lang="zh-CN" altLang="en-US" sz="18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与预处理</a:t>
            </a:r>
            <a:endParaRPr lang="zh-CN" altLang="en-US" sz="18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0" name="PA-文本框 8"/>
          <p:cNvSpPr txBox="1"/>
          <p:nvPr>
            <p:custDataLst>
              <p:tags r:id="rId1"/>
            </p:custDataLst>
          </p:nvPr>
        </p:nvSpPr>
        <p:spPr>
          <a:xfrm>
            <a:off x="1271905" y="485140"/>
            <a:ext cx="7671435"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二、</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文本挖掘与分析过程</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文本数据爬取与</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预处理</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 name="矩形 5"/>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bldLst>
      <p:bldP spid="13" grpId="0" animBg="1"/>
      <p:bldP spid="14" grpId="0" animBg="1"/>
      <p:bldP spid="15" grpId="0" animBg="1"/>
      <p:bldP spid="16" grpId="0" animBg="1"/>
      <p:bldP spid="19" grpId="0" animBg="1"/>
      <p:bldP spid="20" grpId="0" animBg="1"/>
      <p:bldP spid="21" grpId="0"/>
      <p:bldP spid="22" grpId="0"/>
      <p:bldP spid="24" grpId="0" animBg="1"/>
      <p:bldP spid="25" grpId="0" animBg="1"/>
      <p:bldP spid="26" grpId="0" animBg="1"/>
      <p:bldP spid="27" grpId="0" animBg="1"/>
      <p:bldP spid="28" grpId="0" animBg="1"/>
      <p:bldP spid="29" grpId="0" animBg="1"/>
      <p:bldP spid="2" grpId="0"/>
      <p:bldP spid="3" grpId="0"/>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custDataLst>
              <p:tags r:id="rId1"/>
            </p:custDataLst>
          </p:nvPr>
        </p:nvPicPr>
        <p:blipFill>
          <a:blip r:embed="rId2"/>
          <a:stretch>
            <a:fillRect/>
          </a:stretch>
        </p:blipFill>
        <p:spPr>
          <a:xfrm>
            <a:off x="781050" y="1818005"/>
            <a:ext cx="10629900" cy="3914775"/>
          </a:xfrm>
          <a:prstGeom prst="rect">
            <a:avLst/>
          </a:prstGeom>
        </p:spPr>
      </p:pic>
      <p:sp>
        <p:nvSpPr>
          <p:cNvPr id="22" name="PA-文本框 8"/>
          <p:cNvSpPr txBox="1"/>
          <p:nvPr>
            <p:custDataLst>
              <p:tags r:id="rId3"/>
            </p:custDataLst>
          </p:nvPr>
        </p:nvSpPr>
        <p:spPr>
          <a:xfrm>
            <a:off x="1271905" y="485140"/>
            <a:ext cx="6283960"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二、文本挖掘与分析过程</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——LDA</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主题</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模型</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 name="矩形 1"/>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7" name="对象 6">
            <a:hlinkClick r:id="" action="ppaction://ole?verb="/>
          </p:cNvPr>
          <p:cNvGraphicFramePr>
            <a:graphicFrameLocks noChangeAspect="1"/>
          </p:cNvGraphicFramePr>
          <p:nvPr/>
        </p:nvGraphicFramePr>
        <p:xfrm>
          <a:off x="9129395" y="330200"/>
          <a:ext cx="971550" cy="1238250"/>
        </p:xfrm>
        <a:graphic>
          <a:graphicData uri="http://schemas.openxmlformats.org/presentationml/2006/ole">
            <mc:AlternateContent xmlns:mc="http://schemas.openxmlformats.org/markup-compatibility/2006">
              <mc:Choice xmlns:v="urn:schemas-microsoft-com:vml" Requires="v">
                <p:oleObj spid="_x0000_s1025" name="" showAsIcon="1" r:id="rId4" imgW="971550" imgH="1238250" progId="Package">
                  <p:embed/>
                </p:oleObj>
              </mc:Choice>
              <mc:Fallback>
                <p:oleObj name="" showAsIcon="1" r:id="rId4" imgW="971550" imgH="1238250" progId="Package">
                  <p:embed/>
                  <p:pic>
                    <p:nvPicPr>
                      <p:cNvPr id="0" name="图片 1024"/>
                      <p:cNvPicPr/>
                      <p:nvPr/>
                    </p:nvPicPr>
                    <p:blipFill>
                      <a:blip r:embed="rId5"/>
                      <a:stretch>
                        <a:fillRect/>
                      </a:stretch>
                    </p:blipFill>
                    <p:spPr>
                      <a:xfrm>
                        <a:off x="9129395" y="330200"/>
                        <a:ext cx="971550" cy="1238250"/>
                      </a:xfrm>
                      <a:prstGeom prst="rect">
                        <a:avLst/>
                      </a:prstGeom>
                    </p:spPr>
                  </p:pic>
                </p:oleObj>
              </mc:Fallback>
            </mc:AlternateContent>
          </a:graphicData>
        </a:graphic>
      </p:graphicFrame>
      <p:sp>
        <p:nvSpPr>
          <p:cNvPr id="9" name="椭圆 8"/>
          <p:cNvSpPr/>
          <p:nvPr>
            <p:custDataLst>
              <p:tags r:id="rId6"/>
            </p:custDataLst>
          </p:nvPr>
        </p:nvSpPr>
        <p:spPr>
          <a:xfrm>
            <a:off x="9476740" y="2073910"/>
            <a:ext cx="1085850" cy="45720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椭圆 9"/>
          <p:cNvSpPr/>
          <p:nvPr>
            <p:custDataLst>
              <p:tags r:id="rId7"/>
            </p:custDataLst>
          </p:nvPr>
        </p:nvSpPr>
        <p:spPr>
          <a:xfrm>
            <a:off x="5193665" y="2753360"/>
            <a:ext cx="781050" cy="42862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椭圆 10"/>
          <p:cNvSpPr/>
          <p:nvPr>
            <p:custDataLst>
              <p:tags r:id="rId8"/>
            </p:custDataLst>
          </p:nvPr>
        </p:nvSpPr>
        <p:spPr>
          <a:xfrm>
            <a:off x="4032250" y="4057650"/>
            <a:ext cx="762635" cy="35560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椭圆 11"/>
          <p:cNvSpPr/>
          <p:nvPr>
            <p:custDataLst>
              <p:tags r:id="rId9"/>
            </p:custDataLst>
          </p:nvPr>
        </p:nvSpPr>
        <p:spPr>
          <a:xfrm>
            <a:off x="5463540" y="3481705"/>
            <a:ext cx="762635" cy="35560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椭圆 12"/>
          <p:cNvSpPr/>
          <p:nvPr>
            <p:custDataLst>
              <p:tags r:id="rId10"/>
            </p:custDataLst>
          </p:nvPr>
        </p:nvSpPr>
        <p:spPr>
          <a:xfrm>
            <a:off x="3479165" y="4413250"/>
            <a:ext cx="762635" cy="35560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圆角矩形 47"/>
          <p:cNvSpPr/>
          <p:nvPr/>
        </p:nvSpPr>
        <p:spPr>
          <a:xfrm>
            <a:off x="614045" y="1019175"/>
            <a:ext cx="10964545" cy="5419725"/>
          </a:xfrm>
          <a:prstGeom prst="roundRect">
            <a:avLst/>
          </a:prstGeom>
          <a:solidFill>
            <a:schemeClr val="bg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 name="PPT世界-2"/>
          <p:cNvGrpSpPr/>
          <p:nvPr>
            <p:custDataLst>
              <p:tags r:id="rId11"/>
            </p:custDataLst>
          </p:nvPr>
        </p:nvGrpSpPr>
        <p:grpSpPr>
          <a:xfrm>
            <a:off x="1257557" y="1996760"/>
            <a:ext cx="4303794" cy="1730540"/>
            <a:chOff x="1058344" y="1541929"/>
            <a:chExt cx="4626725" cy="2051276"/>
          </a:xfrm>
          <a:effectLst>
            <a:outerShdw blurRad="254000" dist="101600" dir="2700000" algn="tl" rotWithShape="0">
              <a:schemeClr val="dk1">
                <a:lumMod val="100000"/>
                <a:alpha val="15000"/>
              </a:schemeClr>
            </a:outerShdw>
          </a:effectLst>
        </p:grpSpPr>
        <p:sp>
          <p:nvSpPr>
            <p:cNvPr id="28" name="PPT世界-2-1"/>
            <p:cNvSpPr/>
            <p:nvPr>
              <p:custDataLst>
                <p:tags r:id="rId12"/>
              </p:custDataLst>
            </p:nvPr>
          </p:nvSpPr>
          <p:spPr>
            <a:xfrm>
              <a:off x="1058344" y="1541929"/>
              <a:ext cx="4626725" cy="2051276"/>
            </a:xfrm>
            <a:prstGeom prst="roundRect">
              <a:avLst>
                <a:gd name="adj" fmla="val 5697"/>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9pPr>
            </a:lstStyle>
            <a:p>
              <a:pPr algn="ctr"/>
              <a:endParaRPr lang="zh-CN" altLang="en-US" sz="18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2" name="PPT世界-2-2"/>
            <p:cNvSpPr txBox="1"/>
            <p:nvPr>
              <p:custDataLst>
                <p:tags r:id="rId13"/>
              </p:custDataLst>
            </p:nvPr>
          </p:nvSpPr>
          <p:spPr>
            <a:xfrm>
              <a:off x="2569860" y="1840392"/>
              <a:ext cx="2748791" cy="330853"/>
            </a:xfrm>
            <a:prstGeom prst="rect">
              <a:avLst/>
            </a:prstGeom>
            <a:noFill/>
          </p:spPr>
          <p:txBody>
            <a:bodyPr wrap="square" lIns="0" tIns="0" rIns="0" bIns="0" rtlCol="0">
              <a:noAutofit/>
            </a:bodyPr>
            <a:lstStyle>
              <a:defPPr>
                <a:defRPr lang="zh-CN"/>
              </a:defPPr>
              <a:lvl1pPr>
                <a:defRPr sz="2400">
                  <a:gradFill flip="none" rotWithShape="1">
                    <a:gsLst>
                      <a:gs pos="88000">
                        <a:schemeClr val="accent1"/>
                      </a:gs>
                      <a:gs pos="0">
                        <a:schemeClr val="accent2"/>
                      </a:gs>
                    </a:gsLst>
                    <a:lin ang="0" scaled="1"/>
                  </a:gradFill>
                  <a:latin typeface="+mj-ea"/>
                  <a:ea typeface="+mj-ea"/>
                </a:defRPr>
              </a:lvl1pPr>
            </a:lstStyle>
            <a:p>
              <a:r>
                <a:rPr lang="zh-CN" altLang="en-US" sz="2000" kern="1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个</a:t>
              </a:r>
              <a:r>
                <a:rPr lang="zh-CN" altLang="en-US" sz="2000" kern="1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体层面</a:t>
              </a:r>
              <a:endParaRPr lang="zh-CN" altLang="en-US" sz="2000" kern="1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3" name="PPT世界-2-3"/>
            <p:cNvSpPr txBox="1"/>
            <p:nvPr>
              <p:custDataLst>
                <p:tags r:id="rId14"/>
              </p:custDataLst>
            </p:nvPr>
          </p:nvSpPr>
          <p:spPr>
            <a:xfrm>
              <a:off x="2569860" y="2196819"/>
              <a:ext cx="2748791" cy="1006136"/>
            </a:xfrm>
            <a:prstGeom prst="rect">
              <a:avLst/>
            </a:prstGeom>
            <a:noFill/>
          </p:spPr>
          <p:txBody>
            <a:bodyPr wrap="square" lIns="0" tIns="0" rIns="0" bIns="0" rtlCol="0">
              <a:noAutofit/>
            </a:bodyPr>
            <a:lstStyle>
              <a:defPPr>
                <a:defRPr lang="zh-CN"/>
              </a:defPPr>
              <a:lvl1pPr hangingPunct="0">
                <a:lnSpc>
                  <a:spcPct val="120000"/>
                </a:lnSpc>
                <a:defRPr sz="1600"/>
              </a:lvl1pPr>
            </a:lstStyle>
            <a:p>
              <a:pPr marL="171450" indent="-171450">
                <a:lnSpc>
                  <a:spcPct val="150000"/>
                </a:lnSpc>
                <a:spcAft>
                  <a:spcPts val="600"/>
                </a:spcAft>
                <a:buFont typeface="Arial" panose="020B0604020202020204" pitchFamily="34" charset="0"/>
                <a:buChar char="•"/>
              </a:pPr>
              <a:r>
                <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健康体能条件</a:t>
              </a:r>
              <a:endPar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marL="171450" indent="-171450">
                <a:lnSpc>
                  <a:spcPct val="150000"/>
                </a:lnSpc>
                <a:spcAft>
                  <a:spcPts val="600"/>
                </a:spcAft>
                <a:buFont typeface="Arial" panose="020B0604020202020204" pitchFamily="34" charset="0"/>
                <a:buChar char="•"/>
              </a:pPr>
              <a:r>
                <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再就业意愿</a:t>
              </a:r>
              <a:endPar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marL="171450" indent="-171450">
                <a:lnSpc>
                  <a:spcPct val="150000"/>
                </a:lnSpc>
                <a:spcAft>
                  <a:spcPts val="600"/>
                </a:spcAft>
                <a:buFont typeface="Arial" panose="020B0604020202020204" pitchFamily="34" charset="0"/>
                <a:buChar char="•"/>
              </a:pPr>
              <a:r>
                <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技能适应能力</a:t>
              </a:r>
              <a:endPar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0" name="PPT世界-2-4"/>
            <p:cNvSpPr txBox="1"/>
            <p:nvPr>
              <p:custDataLst>
                <p:tags r:id="rId15"/>
              </p:custDataLst>
            </p:nvPr>
          </p:nvSpPr>
          <p:spPr>
            <a:xfrm>
              <a:off x="1474505" y="1891793"/>
              <a:ext cx="721070" cy="1293665"/>
            </a:xfrm>
            <a:prstGeom prst="rect">
              <a:avLst/>
            </a:prstGeom>
            <a:noFill/>
            <a:effectLst/>
          </p:spPr>
          <p:txBody>
            <a:bodyPr wrap="square" numCol="1" rtlCol="0">
              <a:prstTxWarp prst="textPlain">
                <a:avLst>
                  <a:gd name="adj" fmla="val 51083"/>
                </a:avLst>
              </a:prstTxWarp>
              <a:noAutofit/>
            </a:bodyPr>
            <a:lstStyle>
              <a:defPPr>
                <a:defRPr lang="zh-CN"/>
              </a:defPPr>
              <a:lvl1pPr>
                <a:defRPr sz="8800">
                  <a:gradFill>
                    <a:gsLst>
                      <a:gs pos="0">
                        <a:schemeClr val="accent2"/>
                      </a:gs>
                      <a:gs pos="100000">
                        <a:schemeClr val="accent1"/>
                      </a:gs>
                    </a:gsLst>
                    <a:lin ang="2700000" scaled="0"/>
                  </a:gradFill>
                  <a:latin typeface="+mj-lt"/>
                </a:defRPr>
              </a:lvl1pPr>
            </a:lstStyle>
            <a:p>
              <a:pPr defTabSz="914400">
                <a:defRPr/>
              </a:pPr>
              <a:r>
                <a:rPr lang="en-US" altLang="zh-CN" sz="8000" i="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1</a:t>
              </a:r>
              <a:endParaRPr lang="zh-CN" altLang="en-US" sz="8000" i="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grpSp>
        <p:nvGrpSpPr>
          <p:cNvPr id="4" name="PPT世界-3"/>
          <p:cNvGrpSpPr/>
          <p:nvPr>
            <p:custDataLst>
              <p:tags r:id="rId16"/>
            </p:custDataLst>
          </p:nvPr>
        </p:nvGrpSpPr>
        <p:grpSpPr>
          <a:xfrm>
            <a:off x="6325849" y="1996760"/>
            <a:ext cx="4303794" cy="1730540"/>
            <a:chOff x="6506931" y="1541929"/>
            <a:chExt cx="4626725" cy="2051276"/>
          </a:xfrm>
          <a:effectLst>
            <a:outerShdw blurRad="254000" dist="101600" dir="2700000" algn="tl" rotWithShape="0">
              <a:schemeClr val="dk1">
                <a:lumMod val="100000"/>
                <a:alpha val="15000"/>
              </a:schemeClr>
            </a:outerShdw>
          </a:effectLst>
        </p:grpSpPr>
        <p:sp>
          <p:nvSpPr>
            <p:cNvPr id="29" name="PPT世界-3-1"/>
            <p:cNvSpPr/>
            <p:nvPr>
              <p:custDataLst>
                <p:tags r:id="rId17"/>
              </p:custDataLst>
            </p:nvPr>
          </p:nvSpPr>
          <p:spPr>
            <a:xfrm>
              <a:off x="6506931" y="1541929"/>
              <a:ext cx="4626725" cy="2051276"/>
            </a:xfrm>
            <a:prstGeom prst="roundRect">
              <a:avLst>
                <a:gd name="adj" fmla="val 5697"/>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9pPr>
            </a:lstStyle>
            <a:p>
              <a:pPr algn="ctr"/>
              <a:endParaRPr lang="zh-CN" altLang="en-US" sz="18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4" name="PPT世界-3-2"/>
            <p:cNvSpPr txBox="1"/>
            <p:nvPr>
              <p:custDataLst>
                <p:tags r:id="rId18"/>
              </p:custDataLst>
            </p:nvPr>
          </p:nvSpPr>
          <p:spPr>
            <a:xfrm>
              <a:off x="8043017" y="1840392"/>
              <a:ext cx="2748791" cy="330853"/>
            </a:xfrm>
            <a:prstGeom prst="rect">
              <a:avLst/>
            </a:prstGeom>
            <a:noFill/>
          </p:spPr>
          <p:txBody>
            <a:bodyPr wrap="square" lIns="0" tIns="0" rIns="0" bIns="0" rtlCol="0">
              <a:noAutofit/>
            </a:bodyPr>
            <a:lstStyle>
              <a:defPPr>
                <a:defRPr lang="zh-CN"/>
              </a:defPPr>
            </a:lstStyle>
            <a:p>
              <a:r>
                <a:rPr lang="zh-CN" altLang="en-US" sz="2000" kern="1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技术层面</a:t>
              </a:r>
              <a:endParaRPr lang="zh-CN" altLang="en-US" sz="2000" kern="1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5" name="PPT世界-3-3"/>
            <p:cNvSpPr txBox="1"/>
            <p:nvPr>
              <p:custDataLst>
                <p:tags r:id="rId19"/>
              </p:custDataLst>
            </p:nvPr>
          </p:nvSpPr>
          <p:spPr>
            <a:xfrm>
              <a:off x="8043017" y="2296173"/>
              <a:ext cx="2748791" cy="1006136"/>
            </a:xfrm>
            <a:prstGeom prst="rect">
              <a:avLst/>
            </a:prstGeom>
            <a:noFill/>
          </p:spPr>
          <p:txBody>
            <a:bodyPr wrap="square" lIns="0" tIns="0" rIns="0" bIns="0" rtlCol="0">
              <a:noAutofit/>
            </a:bodyPr>
            <a:lstStyle>
              <a:defPPr>
                <a:defRPr lang="zh-CN"/>
              </a:defPPr>
              <a:lvl1pPr hangingPunct="0">
                <a:lnSpc>
                  <a:spcPct val="120000"/>
                </a:lnSpc>
                <a:defRPr sz="1600"/>
              </a:lvl1pPr>
            </a:lstStyle>
            <a:p>
              <a:pPr marL="171450" indent="-171450">
                <a:lnSpc>
                  <a:spcPct val="150000"/>
                </a:lnSpc>
                <a:spcAft>
                  <a:spcPts val="600"/>
                </a:spcAft>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数字获取能力</a:t>
              </a:r>
              <a:endParaRPr lang="zh-CN" altLang="en-US"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marL="171450" indent="-171450">
                <a:lnSpc>
                  <a:spcPct val="150000"/>
                </a:lnSpc>
                <a:spcAft>
                  <a:spcPts val="600"/>
                </a:spcAft>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技术替代风险</a:t>
              </a:r>
              <a:endParaRPr lang="zh-CN" altLang="en-US"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1" name="PPT世界-3-4"/>
            <p:cNvSpPr txBox="1"/>
            <p:nvPr>
              <p:custDataLst>
                <p:tags r:id="rId20"/>
              </p:custDataLst>
            </p:nvPr>
          </p:nvSpPr>
          <p:spPr>
            <a:xfrm>
              <a:off x="6759004" y="1891793"/>
              <a:ext cx="942165" cy="1293665"/>
            </a:xfrm>
            <a:prstGeom prst="rect">
              <a:avLst/>
            </a:prstGeom>
            <a:noFill/>
            <a:effectLst/>
          </p:spPr>
          <p:txBody>
            <a:bodyPr wrap="square" numCol="1" rtlCol="0">
              <a:prstTxWarp prst="textPlain">
                <a:avLst>
                  <a:gd name="adj" fmla="val 51083"/>
                </a:avLst>
              </a:prstTxWarp>
              <a:noAutofit/>
            </a:bodyPr>
            <a:lstStyle>
              <a:defPPr>
                <a:defRPr lang="zh-CN"/>
              </a:defPPr>
              <a:lvl1pPr>
                <a:defRPr sz="8800">
                  <a:gradFill>
                    <a:gsLst>
                      <a:gs pos="0">
                        <a:schemeClr val="accent2"/>
                      </a:gs>
                      <a:gs pos="100000">
                        <a:schemeClr val="accent1"/>
                      </a:gs>
                    </a:gsLst>
                    <a:lin ang="2700000" scaled="0"/>
                  </a:gradFill>
                  <a:latin typeface="+mj-lt"/>
                </a:defRPr>
              </a:lvl1pPr>
            </a:lstStyle>
            <a:p>
              <a:pPr defTabSz="914400">
                <a:defRPr/>
              </a:pPr>
              <a:r>
                <a:rPr lang="en-US" altLang="zh-CN" sz="8000" i="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2</a:t>
              </a:r>
              <a:endParaRPr lang="zh-CN" altLang="en-US" sz="8000" i="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grpSp>
        <p:nvGrpSpPr>
          <p:cNvPr id="6" name="PPT世界-4"/>
          <p:cNvGrpSpPr/>
          <p:nvPr>
            <p:custDataLst>
              <p:tags r:id="rId21"/>
            </p:custDataLst>
          </p:nvPr>
        </p:nvGrpSpPr>
        <p:grpSpPr>
          <a:xfrm>
            <a:off x="1257557" y="4463811"/>
            <a:ext cx="4303794" cy="1730540"/>
            <a:chOff x="1058344" y="4193949"/>
            <a:chExt cx="4626725" cy="2051276"/>
          </a:xfrm>
          <a:effectLst>
            <a:outerShdw blurRad="254000" dist="101600" dir="2700000" algn="tl" rotWithShape="0">
              <a:schemeClr val="dk1">
                <a:lumMod val="100000"/>
                <a:alpha val="15000"/>
              </a:schemeClr>
            </a:outerShdw>
          </a:effectLst>
        </p:grpSpPr>
        <p:sp>
          <p:nvSpPr>
            <p:cNvPr id="30" name="PPT世界-4-1"/>
            <p:cNvSpPr/>
            <p:nvPr>
              <p:custDataLst>
                <p:tags r:id="rId22"/>
              </p:custDataLst>
            </p:nvPr>
          </p:nvSpPr>
          <p:spPr>
            <a:xfrm>
              <a:off x="1058344" y="4193949"/>
              <a:ext cx="4626725" cy="2051276"/>
            </a:xfrm>
            <a:prstGeom prst="roundRect">
              <a:avLst>
                <a:gd name="adj" fmla="val 5697"/>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9pPr>
            </a:lstStyle>
            <a:p>
              <a:pPr algn="ctr"/>
              <a:endParaRPr lang="zh-CN" altLang="en-US" sz="18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6" name="PPT世界-4-2"/>
            <p:cNvSpPr txBox="1"/>
            <p:nvPr>
              <p:custDataLst>
                <p:tags r:id="rId23"/>
              </p:custDataLst>
            </p:nvPr>
          </p:nvSpPr>
          <p:spPr>
            <a:xfrm>
              <a:off x="2569860" y="4475307"/>
              <a:ext cx="2748791" cy="330853"/>
            </a:xfrm>
            <a:prstGeom prst="rect">
              <a:avLst/>
            </a:prstGeom>
            <a:noFill/>
          </p:spPr>
          <p:txBody>
            <a:bodyPr wrap="square" lIns="0" tIns="0" rIns="0" bIns="0" rtlCol="0">
              <a:noAutofit/>
            </a:bodyPr>
            <a:lstStyle>
              <a:defPPr>
                <a:defRPr lang="zh-CN"/>
              </a:defPPr>
            </a:lstStyle>
            <a:p>
              <a:r>
                <a:rPr lang="zh-CN" altLang="en-US" sz="2000" kern="1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社会层面</a:t>
              </a:r>
              <a:endParaRPr lang="zh-CN" altLang="en-US" sz="2000" kern="1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7" name="PPT世界-4-3"/>
            <p:cNvSpPr txBox="1"/>
            <p:nvPr>
              <p:custDataLst>
                <p:tags r:id="rId24"/>
              </p:custDataLst>
            </p:nvPr>
          </p:nvSpPr>
          <p:spPr>
            <a:xfrm>
              <a:off x="2569860" y="4839726"/>
              <a:ext cx="2748791" cy="1006136"/>
            </a:xfrm>
            <a:prstGeom prst="rect">
              <a:avLst/>
            </a:prstGeom>
            <a:noFill/>
          </p:spPr>
          <p:txBody>
            <a:bodyPr wrap="square" lIns="0" tIns="0" rIns="0" bIns="0" rtlCol="0">
              <a:noAutofit/>
            </a:bodyPr>
            <a:lstStyle>
              <a:defPPr>
                <a:defRPr lang="zh-CN"/>
              </a:defPPr>
              <a:lvl1pPr hangingPunct="0">
                <a:lnSpc>
                  <a:spcPct val="120000"/>
                </a:lnSpc>
                <a:defRPr sz="1600"/>
              </a:lvl1pPr>
            </a:lstStyle>
            <a:p>
              <a:pPr marL="171450" indent="-171450">
                <a:lnSpc>
                  <a:spcPct val="150000"/>
                </a:lnSpc>
                <a:spcAft>
                  <a:spcPts val="600"/>
                </a:spcAft>
                <a:buFont typeface="Arial" panose="020B0604020202020204" pitchFamily="34" charset="0"/>
                <a:buChar char="•"/>
              </a:pPr>
              <a:r>
                <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职场年龄歧视</a:t>
              </a:r>
              <a:endPar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marL="171450" indent="-171450">
                <a:lnSpc>
                  <a:spcPct val="150000"/>
                </a:lnSpc>
                <a:spcAft>
                  <a:spcPts val="600"/>
                </a:spcAft>
                <a:buFont typeface="Arial" panose="020B0604020202020204" pitchFamily="34" charset="0"/>
                <a:buChar char="•"/>
              </a:pPr>
              <a:r>
                <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家庭职责冲突</a:t>
              </a:r>
              <a:endPar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marL="171450" indent="-171450">
                <a:lnSpc>
                  <a:spcPct val="150000"/>
                </a:lnSpc>
                <a:spcAft>
                  <a:spcPts val="600"/>
                </a:spcAft>
                <a:buFont typeface="Arial" panose="020B0604020202020204" pitchFamily="34" charset="0"/>
                <a:buChar char="•"/>
              </a:pPr>
              <a:r>
                <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群体规范效应</a:t>
              </a:r>
              <a:endPar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2" name="PPT世界-4-4"/>
            <p:cNvSpPr txBox="1"/>
            <p:nvPr>
              <p:custDataLst>
                <p:tags r:id="rId25"/>
              </p:custDataLst>
            </p:nvPr>
          </p:nvSpPr>
          <p:spPr>
            <a:xfrm>
              <a:off x="1257189" y="4572755"/>
              <a:ext cx="942165" cy="1293664"/>
            </a:xfrm>
            <a:prstGeom prst="rect">
              <a:avLst/>
            </a:prstGeom>
            <a:noFill/>
            <a:effectLst/>
          </p:spPr>
          <p:txBody>
            <a:bodyPr wrap="square" numCol="1" rtlCol="0">
              <a:prstTxWarp prst="textPlain">
                <a:avLst>
                  <a:gd name="adj" fmla="val 51083"/>
                </a:avLst>
              </a:prstTxWarp>
              <a:noAutofit/>
            </a:bodyPr>
            <a:lstStyle>
              <a:defPPr>
                <a:defRPr lang="zh-CN"/>
              </a:defPPr>
              <a:lvl1pPr>
                <a:defRPr sz="8800">
                  <a:gradFill>
                    <a:gsLst>
                      <a:gs pos="0">
                        <a:schemeClr val="accent2"/>
                      </a:gs>
                      <a:gs pos="100000">
                        <a:schemeClr val="accent1"/>
                      </a:gs>
                    </a:gsLst>
                    <a:lin ang="2700000" scaled="0"/>
                  </a:gradFill>
                  <a:latin typeface="+mj-lt"/>
                </a:defRPr>
              </a:lvl1pPr>
            </a:lstStyle>
            <a:p>
              <a:pPr defTabSz="914400">
                <a:defRPr/>
              </a:pPr>
              <a:r>
                <a:rPr lang="en-US" altLang="zh-CN" sz="8000" i="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3</a:t>
              </a:r>
              <a:endParaRPr lang="zh-CN" altLang="en-US" sz="8000" i="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grpSp>
        <p:nvGrpSpPr>
          <p:cNvPr id="5" name="PPT世界-5"/>
          <p:cNvGrpSpPr/>
          <p:nvPr>
            <p:custDataLst>
              <p:tags r:id="rId26"/>
            </p:custDataLst>
          </p:nvPr>
        </p:nvGrpSpPr>
        <p:grpSpPr>
          <a:xfrm>
            <a:off x="6325849" y="4463811"/>
            <a:ext cx="4303794" cy="1730540"/>
            <a:chOff x="6506931" y="4193949"/>
            <a:chExt cx="4626725" cy="2051276"/>
          </a:xfrm>
          <a:effectLst>
            <a:outerShdw blurRad="254000" dist="101600" dir="2700000" algn="tl" rotWithShape="0">
              <a:schemeClr val="dk1">
                <a:lumMod val="100000"/>
                <a:alpha val="15000"/>
              </a:schemeClr>
            </a:outerShdw>
          </a:effectLst>
        </p:grpSpPr>
        <p:sp>
          <p:nvSpPr>
            <p:cNvPr id="31" name="PPT世界-5-1"/>
            <p:cNvSpPr/>
            <p:nvPr>
              <p:custDataLst>
                <p:tags r:id="rId27"/>
              </p:custDataLst>
            </p:nvPr>
          </p:nvSpPr>
          <p:spPr>
            <a:xfrm>
              <a:off x="6506931" y="4193949"/>
              <a:ext cx="4626725" cy="2051276"/>
            </a:xfrm>
            <a:prstGeom prst="roundRect">
              <a:avLst>
                <a:gd name="adj" fmla="val 5697"/>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charset="-122"/>
                  <a:cs typeface="Arial" panose="020B0604020202020204" pitchFamily="34" charset="0"/>
                  <a:sym typeface="Wingdings" panose="05000000000000000000"/>
                </a:defRPr>
              </a:lvl9pPr>
            </a:lstStyle>
            <a:p>
              <a:pPr algn="ctr"/>
              <a:endParaRPr lang="zh-CN" altLang="en-US" sz="18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8" name="PPT世界-5-2"/>
            <p:cNvSpPr txBox="1"/>
            <p:nvPr>
              <p:custDataLst>
                <p:tags r:id="rId28"/>
              </p:custDataLst>
            </p:nvPr>
          </p:nvSpPr>
          <p:spPr>
            <a:xfrm>
              <a:off x="8043017" y="4475307"/>
              <a:ext cx="2748791" cy="330853"/>
            </a:xfrm>
            <a:prstGeom prst="rect">
              <a:avLst/>
            </a:prstGeom>
            <a:noFill/>
          </p:spPr>
          <p:txBody>
            <a:bodyPr wrap="square" lIns="0" tIns="0" rIns="0" bIns="0" rtlCol="0">
              <a:noAutofit/>
            </a:bodyPr>
            <a:lstStyle>
              <a:defPPr>
                <a:defRPr lang="zh-CN"/>
              </a:defPPr>
            </a:lstStyle>
            <a:p>
              <a:r>
                <a:rPr lang="zh-CN" altLang="en-US" sz="2000" kern="1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政府制度</a:t>
              </a:r>
              <a:r>
                <a:rPr lang="zh-CN" altLang="en-US" sz="2000" kern="1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层面</a:t>
              </a:r>
              <a:endParaRPr lang="zh-CN" altLang="en-US" sz="2000" kern="1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9" name="PPT世界-5-3"/>
            <p:cNvSpPr txBox="1"/>
            <p:nvPr>
              <p:custDataLst>
                <p:tags r:id="rId29"/>
              </p:custDataLst>
            </p:nvPr>
          </p:nvSpPr>
          <p:spPr>
            <a:xfrm>
              <a:off x="8043018" y="4969188"/>
              <a:ext cx="2658594" cy="1006136"/>
            </a:xfrm>
            <a:prstGeom prst="rect">
              <a:avLst/>
            </a:prstGeom>
            <a:noFill/>
          </p:spPr>
          <p:txBody>
            <a:bodyPr wrap="square" lIns="0" tIns="0" rIns="0" bIns="0" rtlCol="0">
              <a:noAutofit/>
            </a:bodyPr>
            <a:lstStyle>
              <a:defPPr>
                <a:defRPr lang="zh-CN"/>
              </a:defPPr>
              <a:lvl1pPr hangingPunct="0">
                <a:lnSpc>
                  <a:spcPct val="120000"/>
                </a:lnSpc>
                <a:defRPr sz="1600"/>
              </a:lvl1pPr>
            </a:lstStyle>
            <a:p>
              <a:pPr marL="171450" indent="-171450">
                <a:lnSpc>
                  <a:spcPct val="150000"/>
                </a:lnSpc>
                <a:spcAft>
                  <a:spcPts val="600"/>
                </a:spcAft>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政策扶持力度</a:t>
              </a:r>
              <a:endParaRPr lang="zh-CN" altLang="en-US"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marL="171450" indent="-171450">
                <a:lnSpc>
                  <a:spcPct val="150000"/>
                </a:lnSpc>
                <a:spcAft>
                  <a:spcPts val="600"/>
                </a:spcAft>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制度配套完善度</a:t>
              </a:r>
              <a:endParaRPr lang="zh-CN" altLang="en-US"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3" name="PPT世界-5-4"/>
            <p:cNvSpPr txBox="1"/>
            <p:nvPr>
              <p:custDataLst>
                <p:tags r:id="rId30"/>
              </p:custDataLst>
            </p:nvPr>
          </p:nvSpPr>
          <p:spPr>
            <a:xfrm>
              <a:off x="6723145" y="4555762"/>
              <a:ext cx="942165" cy="1293664"/>
            </a:xfrm>
            <a:prstGeom prst="rect">
              <a:avLst/>
            </a:prstGeom>
            <a:noFill/>
            <a:effectLst/>
          </p:spPr>
          <p:txBody>
            <a:bodyPr wrap="square" numCol="1" rtlCol="0">
              <a:prstTxWarp prst="textPlain">
                <a:avLst>
                  <a:gd name="adj" fmla="val 51083"/>
                </a:avLst>
              </a:prstTxWarp>
              <a:noAutofit/>
            </a:bodyPr>
            <a:lstStyle>
              <a:defPPr>
                <a:defRPr lang="zh-CN"/>
              </a:defPPr>
              <a:lvl1pPr>
                <a:defRPr sz="8800">
                  <a:gradFill>
                    <a:gsLst>
                      <a:gs pos="0">
                        <a:schemeClr val="accent2"/>
                      </a:gs>
                      <a:gs pos="100000">
                        <a:schemeClr val="accent1"/>
                      </a:gs>
                    </a:gsLst>
                    <a:lin ang="2700000" scaled="0"/>
                  </a:gradFill>
                  <a:latin typeface="+mj-lt"/>
                </a:defRPr>
              </a:lvl1pPr>
            </a:lstStyle>
            <a:p>
              <a:pPr defTabSz="914400">
                <a:defRPr/>
              </a:pPr>
              <a:r>
                <a:rPr lang="en-US" altLang="zh-CN" sz="8000" i="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4</a:t>
              </a:r>
              <a:endParaRPr lang="zh-CN" altLang="en-US" sz="8000" i="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500"/>
                                        <p:tgtEl>
                                          <p:spTgt spid="48"/>
                                        </p:tgtEl>
                                      </p:cBhvr>
                                    </p:animEffect>
                                  </p:childTnLst>
                                </p:cTn>
                              </p:par>
                              <p:par>
                                <p:cTn id="38" presetID="10" presetClass="entr" presetSubtype="0" fill="hold"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500"/>
                                        <p:tgtEl>
                                          <p:spTgt spid="3"/>
                                        </p:tgtEl>
                                      </p:cBhvr>
                                    </p:animEffect>
                                  </p:childTnLst>
                                </p:cTn>
                              </p:par>
                              <p:par>
                                <p:cTn id="41" presetID="10" presetClass="entr" presetSubtype="0" fill="hold" nodeType="with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500"/>
                                        <p:tgtEl>
                                          <p:spTgt spid="4"/>
                                        </p:tgtEl>
                                      </p:cBhvr>
                                    </p:animEffect>
                                  </p:childTnLst>
                                </p:cTn>
                              </p:par>
                              <p:par>
                                <p:cTn id="44" presetID="10" presetClass="entr" presetSubtype="0" fill="hold" nodeType="with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500"/>
                                        <p:tgtEl>
                                          <p:spTgt spid="6"/>
                                        </p:tgtEl>
                                      </p:cBhvr>
                                    </p:animEffect>
                                  </p:childTnLst>
                                </p:cTn>
                              </p:par>
                              <p:par>
                                <p:cTn id="47" presetID="10" presetClass="entr" presetSubtype="0" fill="hold" nodeType="with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2" grpId="0" bldLvl="0" animBg="1"/>
      <p:bldP spid="12" grpId="1" animBg="1"/>
      <p:bldP spid="11" grpId="0" animBg="1"/>
      <p:bldP spid="11" grpId="1" animBg="1"/>
      <p:bldP spid="13" grpId="0" animBg="1"/>
      <p:bldP spid="13" grpId="1" animBg="1"/>
      <p:bldP spid="48" grpId="0" animBg="1"/>
      <p:bldP spid="48" grpId="1" animBg="1"/>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pic>
        <p:nvPicPr>
          <p:cNvPr id="2" name="图片 1"/>
          <p:cNvPicPr>
            <a:picLocks noChangeAspect="1"/>
          </p:cNvPicPr>
          <p:nvPr/>
        </p:nvPicPr>
        <p:blipFill>
          <a:blip r:embed="rId1"/>
          <a:stretch>
            <a:fillRect/>
          </a:stretch>
        </p:blipFill>
        <p:spPr>
          <a:xfrm>
            <a:off x="0" y="151130"/>
            <a:ext cx="12160250" cy="64706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pic>
        <p:nvPicPr>
          <p:cNvPr id="3" name="图片 2"/>
          <p:cNvPicPr>
            <a:picLocks noChangeAspect="1"/>
          </p:cNvPicPr>
          <p:nvPr/>
        </p:nvPicPr>
        <p:blipFill>
          <a:blip r:embed="rId1"/>
          <a:stretch>
            <a:fillRect/>
          </a:stretch>
        </p:blipFill>
        <p:spPr>
          <a:xfrm>
            <a:off x="0" y="275590"/>
            <a:ext cx="12192000" cy="63588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pic>
        <p:nvPicPr>
          <p:cNvPr id="2" name="图片 1"/>
          <p:cNvPicPr>
            <a:picLocks noChangeAspect="1"/>
          </p:cNvPicPr>
          <p:nvPr/>
        </p:nvPicPr>
        <p:blipFill>
          <a:blip r:embed="rId1"/>
          <a:stretch>
            <a:fillRect/>
          </a:stretch>
        </p:blipFill>
        <p:spPr>
          <a:xfrm>
            <a:off x="0" y="118110"/>
            <a:ext cx="12221210" cy="66560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对话气泡: 圆角矩形 8"/>
          <p:cNvSpPr/>
          <p:nvPr>
            <p:custDataLst>
              <p:tags r:id="rId1"/>
            </p:custDataLst>
          </p:nvPr>
        </p:nvSpPr>
        <p:spPr>
          <a:xfrm>
            <a:off x="6618302" y="1854516"/>
            <a:ext cx="4972801" cy="1906542"/>
          </a:xfrm>
          <a:prstGeom prst="wedgeRoundRectCallout">
            <a:avLst>
              <a:gd name="adj1" fmla="val -71920"/>
              <a:gd name="adj2" fmla="val 18664"/>
              <a:gd name="adj3" fmla="val 16667"/>
            </a:avLst>
          </a:prstGeom>
          <a:solidFill>
            <a:schemeClr val="bg1"/>
          </a:solidFill>
          <a:ln>
            <a:noFill/>
          </a:ln>
          <a:effectLst>
            <a:outerShdw blurRad="508000" dist="190500" dir="5400000" sx="95000" sy="95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tx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9" name="对话气泡: 圆角矩形 18"/>
          <p:cNvSpPr/>
          <p:nvPr>
            <p:custDataLst>
              <p:tags r:id="rId2"/>
            </p:custDataLst>
          </p:nvPr>
        </p:nvSpPr>
        <p:spPr>
          <a:xfrm flipH="1">
            <a:off x="422763" y="4482349"/>
            <a:ext cx="4972801" cy="1906542"/>
          </a:xfrm>
          <a:prstGeom prst="wedgeRoundRectCallout">
            <a:avLst>
              <a:gd name="adj1" fmla="val -71920"/>
              <a:gd name="adj2" fmla="val 18664"/>
              <a:gd name="adj3" fmla="val 16667"/>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2" name="文本框 11"/>
          <p:cNvSpPr txBox="1"/>
          <p:nvPr>
            <p:custDataLst>
              <p:tags r:id="rId3"/>
            </p:custDataLst>
          </p:nvPr>
        </p:nvSpPr>
        <p:spPr>
          <a:xfrm>
            <a:off x="6972485" y="2643578"/>
            <a:ext cx="3738994" cy="968375"/>
          </a:xfrm>
          <a:prstGeom prst="rect">
            <a:avLst/>
          </a:prstGeom>
          <a:noFill/>
        </p:spPr>
        <p:txBody>
          <a:bodyPr wrap="square" rtlCol="0">
            <a:spAutoFit/>
          </a:bodyPr>
          <a:lstStyle/>
          <a:p>
            <a:pPr algn="just" hangingPunct="0">
              <a:lnSpc>
                <a:spcPct val="150000"/>
              </a:lnSpc>
            </a:pPr>
            <a:r>
              <a:rPr lang="zh-CN" altLang="en-US" sz="1400">
                <a:solidFill>
                  <a:schemeClr val="dk1"/>
                </a:solidFill>
                <a:sym typeface="+mn-ea"/>
              </a:rPr>
              <a:t>得到各影响因素之间的语义关联强度</a:t>
            </a:r>
            <a:endParaRPr lang="zh-CN" altLang="en-US" sz="1400">
              <a:solidFill>
                <a:schemeClr val="dk1"/>
              </a:solidFill>
              <a:sym typeface="+mn-ea"/>
            </a:endParaRPr>
          </a:p>
          <a:p>
            <a:pPr algn="just" hangingPunct="0">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直接运用</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15</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万字的文本数据训练模型，避免了专家评分的局限性和</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主观性</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3" name="矩形: 圆角 12"/>
          <p:cNvSpPr/>
          <p:nvPr>
            <p:custDataLst>
              <p:tags r:id="rId4"/>
            </p:custDataLst>
          </p:nvPr>
        </p:nvSpPr>
        <p:spPr>
          <a:xfrm>
            <a:off x="7083224" y="2103732"/>
            <a:ext cx="1223697" cy="453360"/>
          </a:xfrm>
          <a:prstGeom prst="roundRect">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影响矩阵：</a:t>
            </a:r>
            <a:endParaRPr lang="zh-CN" altLang="en-US" b="1"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7" name="文本框 26"/>
          <p:cNvSpPr txBox="1"/>
          <p:nvPr>
            <p:custDataLst>
              <p:tags r:id="rId5"/>
            </p:custDataLst>
          </p:nvPr>
        </p:nvSpPr>
        <p:spPr>
          <a:xfrm>
            <a:off x="1134483" y="5322437"/>
            <a:ext cx="3818485" cy="922020"/>
          </a:xfrm>
          <a:prstGeom prst="rect">
            <a:avLst/>
          </a:prstGeom>
          <a:noFill/>
        </p:spPr>
        <p:txBody>
          <a:bodyPr wrap="square" rtlCol="0">
            <a:spAutoFit/>
          </a:bodyPr>
          <a:lstStyle/>
          <a:p>
            <a:pPr algn="r" hangingPunct="0">
              <a:lnSpc>
                <a:spcPct val="150000"/>
              </a:lnSpc>
            </a:pPr>
            <a:r>
              <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原因度</a:t>
            </a:r>
            <a:r>
              <a:rPr lang="en-US" altLang="zh-CN"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&gt;0 </a:t>
            </a:r>
            <a:r>
              <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是</a:t>
            </a:r>
            <a:r>
              <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原因因素</a:t>
            </a:r>
            <a:endPar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lgn="r" hangingPunct="0">
              <a:lnSpc>
                <a:spcPct val="150000"/>
              </a:lnSpc>
            </a:pPr>
            <a:r>
              <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原因度</a:t>
            </a:r>
            <a:r>
              <a:rPr lang="en-US" altLang="zh-CN"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&lt;0 </a:t>
            </a:r>
            <a:r>
              <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是</a:t>
            </a:r>
            <a:r>
              <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结果因素</a:t>
            </a:r>
            <a:endPar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lgn="r" hangingPunct="0">
              <a:lnSpc>
                <a:spcPct val="150000"/>
              </a:lnSpc>
            </a:pPr>
            <a:r>
              <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中心度越高，在整个体系的重要性越强（</a:t>
            </a:r>
            <a:r>
              <a:rPr lang="en-US" altLang="zh-CN"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S3</a:t>
            </a:r>
            <a:r>
              <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endPar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8" name="矩形: 圆角 27"/>
          <p:cNvSpPr/>
          <p:nvPr>
            <p:custDataLst>
              <p:tags r:id="rId6"/>
            </p:custDataLst>
          </p:nvPr>
        </p:nvSpPr>
        <p:spPr>
          <a:xfrm>
            <a:off x="3627261" y="4782591"/>
            <a:ext cx="1223697" cy="453360"/>
          </a:xfrm>
          <a:prstGeom prst="roundRect">
            <a:avLst/>
          </a:prstGeom>
          <a:solidFill>
            <a:schemeClr val="bg1"/>
          </a:solidFill>
          <a:ln>
            <a:noFill/>
          </a:ln>
          <a:effectLst>
            <a:outerShdw blurRad="1270000" dist="647700" dir="2700000" sx="89000" sy="89000" algn="tl" rotWithShape="0">
              <a:schemeClr val="tx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30" tIns="45716" rIns="91430" bIns="45716" rtlCol="0" anchor="ctr">
            <a:normAutofit fontScale="90000"/>
          </a:bodyPr>
          <a:lstStyle/>
          <a:p>
            <a:pPr algn="ctr"/>
            <a:r>
              <a:rPr lang="zh-CN" altLang="en-US"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因素</a:t>
            </a:r>
            <a:r>
              <a:rPr lang="zh-CN" altLang="en-US"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属性：</a:t>
            </a:r>
            <a:endParaRPr lang="zh-CN" altLang="en-US"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6" name="PA-文本框 8"/>
          <p:cNvSpPr txBox="1"/>
          <p:nvPr>
            <p:custDataLst>
              <p:tags r:id="rId7"/>
            </p:custDataLst>
          </p:nvPr>
        </p:nvSpPr>
        <p:spPr>
          <a:xfrm>
            <a:off x="1271905" y="485140"/>
            <a:ext cx="7842250"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二、文本挖掘与分析过程</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DEMATEL</a:t>
            </a:r>
            <a:endPar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 name="矩形 1"/>
          <p:cNvSpPr/>
          <p:nvPr/>
        </p:nvSpPr>
        <p:spPr>
          <a:xfrm>
            <a:off x="1272176" y="1130245"/>
            <a:ext cx="7837170" cy="460375"/>
          </a:xfrm>
          <a:prstGeom prst="rect">
            <a:avLst/>
          </a:prstGeom>
        </p:spPr>
        <p:txBody>
          <a:bodyPr wrap="none">
            <a:spAutoFit/>
          </a:bodyPr>
          <a:lstStyle/>
          <a:p>
            <a:pPr>
              <a:buFont typeface="Wingdings" panose="05000000000000000000" pitchFamily="2" charset="2"/>
              <a:buNone/>
            </a:pPr>
            <a:r>
              <a:rPr lang="en-US" altLang="zh-CN" sz="2400" b="1" dirty="0">
                <a:solidFill>
                  <a:srgbClr val="2E61FA"/>
                </a:solidFill>
                <a:latin typeface="微软雅黑" panose="020B0503020204020204" pitchFamily="34" charset="-122"/>
                <a:ea typeface="微软雅黑" panose="020B0503020204020204" pitchFamily="34" charset="-122"/>
                <a:sym typeface="微软雅黑" panose="020B0503020204020204" pitchFamily="34" charset="-122"/>
              </a:rPr>
              <a:t>1.TF-IDF+Word2Vec</a:t>
            </a:r>
            <a:r>
              <a:rPr lang="zh-CN" altLang="en-US" sz="2400" b="1" dirty="0">
                <a:solidFill>
                  <a:srgbClr val="2E61FA"/>
                </a:solidFill>
                <a:latin typeface="微软雅黑" panose="020B0503020204020204" pitchFamily="34" charset="-122"/>
                <a:ea typeface="微软雅黑" panose="020B0503020204020204" pitchFamily="34" charset="-122"/>
                <a:sym typeface="微软雅黑" panose="020B0503020204020204" pitchFamily="34" charset="-122"/>
              </a:rPr>
              <a:t>词嵌入的余弦相似度计算</a:t>
            </a:r>
            <a:r>
              <a:rPr lang="zh-CN" altLang="en-US" sz="2400" b="1" dirty="0">
                <a:solidFill>
                  <a:srgbClr val="2E61FA"/>
                </a:solidFill>
                <a:latin typeface="微软雅黑" panose="020B0503020204020204" pitchFamily="34" charset="-122"/>
                <a:ea typeface="微软雅黑" panose="020B0503020204020204" pitchFamily="34" charset="-122"/>
                <a:sym typeface="微软雅黑" panose="020B0503020204020204" pitchFamily="34" charset="-122"/>
              </a:rPr>
              <a:t>影响矩阵</a:t>
            </a:r>
            <a:endParaRPr lang="zh-CN" altLang="en-US" sz="2400" b="1" dirty="0">
              <a:solidFill>
                <a:srgbClr val="2E61F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矩形 5"/>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custDataLst>
              <p:tags r:id="rId8"/>
            </p:custDataLst>
          </p:nvPr>
        </p:nvPicPr>
        <p:blipFill>
          <a:blip r:embed="rId9"/>
          <a:stretch>
            <a:fillRect/>
          </a:stretch>
        </p:blipFill>
        <p:spPr>
          <a:xfrm>
            <a:off x="712470" y="1718310"/>
            <a:ext cx="4811395" cy="2178050"/>
          </a:xfrm>
          <a:prstGeom prst="rect">
            <a:avLst/>
          </a:prstGeom>
        </p:spPr>
      </p:pic>
      <p:pic>
        <p:nvPicPr>
          <p:cNvPr id="21" name="图片 20"/>
          <p:cNvPicPr>
            <a:picLocks noChangeAspect="1"/>
          </p:cNvPicPr>
          <p:nvPr/>
        </p:nvPicPr>
        <p:blipFill>
          <a:blip r:embed="rId10"/>
          <a:stretch>
            <a:fillRect/>
          </a:stretch>
        </p:blipFill>
        <p:spPr>
          <a:xfrm>
            <a:off x="6468745" y="4329430"/>
            <a:ext cx="5122545" cy="2153920"/>
          </a:xfrm>
          <a:prstGeom prst="rect">
            <a:avLst/>
          </a:prstGeom>
        </p:spPr>
      </p:pic>
      <p:sp>
        <p:nvSpPr>
          <p:cNvPr id="23" name="文本框 22"/>
          <p:cNvSpPr txBox="1"/>
          <p:nvPr/>
        </p:nvSpPr>
        <p:spPr>
          <a:xfrm>
            <a:off x="2591435" y="3959225"/>
            <a:ext cx="6096000" cy="460375"/>
          </a:xfrm>
          <a:prstGeom prst="rect">
            <a:avLst/>
          </a:prstGeom>
          <a:noFill/>
        </p:spPr>
        <p:txBody>
          <a:bodyPr wrap="square" rtlCol="0" anchor="t">
            <a:spAutoFit/>
          </a:bodyPr>
          <a:p>
            <a:r>
              <a:rPr lang="en-US" altLang="zh-CN" sz="2400" b="1" dirty="0">
                <a:solidFill>
                  <a:srgbClr val="2E61FA"/>
                </a:solidFill>
                <a:latin typeface="微软雅黑" panose="020B0503020204020204" pitchFamily="34" charset="-122"/>
                <a:ea typeface="微软雅黑" panose="020B0503020204020204" pitchFamily="34" charset="-122"/>
                <a:sym typeface="微软雅黑" panose="020B0503020204020204" pitchFamily="34" charset="-122"/>
              </a:rPr>
              <a:t>2. </a:t>
            </a:r>
            <a:r>
              <a:rPr lang="zh-CN" altLang="en-US" sz="2400" b="1" dirty="0">
                <a:solidFill>
                  <a:srgbClr val="2E61FA"/>
                </a:solidFill>
                <a:latin typeface="微软雅黑" panose="020B0503020204020204" pitchFamily="34" charset="-122"/>
                <a:ea typeface="微软雅黑" panose="020B0503020204020204" pitchFamily="34" charset="-122"/>
                <a:sym typeface="微软雅黑" panose="020B0503020204020204" pitchFamily="34" charset="-122"/>
              </a:rPr>
              <a:t>中心度</a:t>
            </a:r>
            <a:r>
              <a:rPr lang="zh-CN" altLang="en-US" sz="2400" b="1" dirty="0">
                <a:solidFill>
                  <a:srgbClr val="2E61FA"/>
                </a:solidFill>
                <a:latin typeface="微软雅黑" panose="020B0503020204020204" pitchFamily="34" charset="-122"/>
                <a:ea typeface="微软雅黑" panose="020B0503020204020204" pitchFamily="34" charset="-122"/>
                <a:sym typeface="微软雅黑" panose="020B0503020204020204" pitchFamily="34" charset="-122"/>
              </a:rPr>
              <a:t>原因度</a:t>
            </a:r>
            <a:endParaRPr lang="zh-CN" altLang="en-US" sz="2400" b="1" dirty="0">
              <a:solidFill>
                <a:srgbClr val="2E61FA"/>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10"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P spid="13" grpId="0" animBg="1"/>
      <p:bldP spid="2" grpId="0"/>
      <p:bldP spid="9" grpId="1" animBg="1"/>
      <p:bldP spid="12" grpId="1"/>
      <p:bldP spid="13" grpId="1" animBg="1"/>
      <p:bldP spid="2" grpId="1"/>
      <p:bldP spid="19" grpId="0" animBg="1"/>
      <p:bldP spid="27" grpId="0"/>
      <p:bldP spid="28" grpId="0" animBg="1"/>
      <p:bldP spid="23" grpId="0"/>
      <p:bldP spid="19" grpId="1" animBg="1"/>
      <p:bldP spid="27" grpId="1"/>
      <p:bldP spid="28" grpId="1" animBg="1"/>
      <p:bldP spid="2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文本框 8"/>
          <p:cNvSpPr txBox="1"/>
          <p:nvPr>
            <p:custDataLst>
              <p:tags r:id="rId1"/>
            </p:custDataLst>
          </p:nvPr>
        </p:nvSpPr>
        <p:spPr>
          <a:xfrm>
            <a:off x="1272176" y="485429"/>
            <a:ext cx="5778419"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二、文本挖掘与分析过程</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ISM</a:t>
            </a:r>
            <a:endPar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 name="矩形 1"/>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543560" y="1228725"/>
            <a:ext cx="5568315" cy="2716530"/>
          </a:xfrm>
          <a:prstGeom prst="rect">
            <a:avLst/>
          </a:prstGeom>
        </p:spPr>
      </p:pic>
      <p:sp>
        <p:nvSpPr>
          <p:cNvPr id="29" name="文本框 28"/>
          <p:cNvSpPr txBox="1"/>
          <p:nvPr/>
        </p:nvSpPr>
        <p:spPr>
          <a:xfrm>
            <a:off x="6884670" y="2261235"/>
            <a:ext cx="4064000" cy="368300"/>
          </a:xfrm>
          <a:prstGeom prst="rect">
            <a:avLst/>
          </a:prstGeom>
          <a:noFill/>
        </p:spPr>
        <p:txBody>
          <a:bodyPr wrap="square" rtlCol="0">
            <a:spAutoFit/>
          </a:bodyPr>
          <a:p>
            <a:r>
              <a:rPr lang="zh-CN" altLang="en-US"/>
              <a:t>阈值</a:t>
            </a:r>
            <a:r>
              <a:rPr lang="en-US" altLang="zh-CN"/>
              <a:t> λ=0.72</a:t>
            </a:r>
            <a:r>
              <a:rPr lang="zh-CN" altLang="en-US"/>
              <a:t>，得到</a:t>
            </a:r>
            <a:r>
              <a:rPr lang="zh-CN" altLang="en-US"/>
              <a:t>可达矩阵</a:t>
            </a:r>
            <a:endParaRPr lang="zh-CN" altLang="en-US"/>
          </a:p>
        </p:txBody>
      </p:sp>
      <p:pic>
        <p:nvPicPr>
          <p:cNvPr id="30" name="图片 29"/>
          <p:cNvPicPr>
            <a:picLocks noChangeAspect="1"/>
          </p:cNvPicPr>
          <p:nvPr/>
        </p:nvPicPr>
        <p:blipFill>
          <a:blip r:embed="rId3"/>
          <a:stretch>
            <a:fillRect/>
          </a:stretch>
        </p:blipFill>
        <p:spPr>
          <a:xfrm>
            <a:off x="4474210" y="3945255"/>
            <a:ext cx="7304405" cy="2853055"/>
          </a:xfrm>
          <a:prstGeom prst="rect">
            <a:avLst/>
          </a:prstGeom>
        </p:spPr>
      </p:pic>
      <p:sp>
        <p:nvSpPr>
          <p:cNvPr id="31" name="圆角矩形 30"/>
          <p:cNvSpPr/>
          <p:nvPr/>
        </p:nvSpPr>
        <p:spPr>
          <a:xfrm>
            <a:off x="4807585" y="4966970"/>
            <a:ext cx="6850380" cy="193675"/>
          </a:xfrm>
          <a:prstGeom prst="roundRect">
            <a:avLst/>
          </a:prstGeom>
          <a:solidFill>
            <a:schemeClr val="accent1">
              <a:alpha val="56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2" name="图片 2"/>
          <p:cNvPicPr>
            <a:picLocks noChangeAspect="1"/>
          </p:cNvPicPr>
          <p:nvPr/>
        </p:nvPicPr>
        <p:blipFill>
          <a:blip r:embed="rId4"/>
          <a:stretch>
            <a:fillRect/>
          </a:stretch>
        </p:blipFill>
        <p:spPr>
          <a:xfrm>
            <a:off x="705485" y="1599565"/>
            <a:ext cx="10781030" cy="4904740"/>
          </a:xfrm>
          <a:prstGeom prst="rect">
            <a:avLst/>
          </a:prstGeom>
          <a:ln w="9525">
            <a:solidFill>
              <a:schemeClr val="tx1">
                <a:alpha val="0"/>
              </a:schemeClr>
            </a:solidFill>
          </a:ln>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blinds(horizontal)">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box(in)">
                                      <p:cBhvr>
                                        <p:cTn id="25" dur="2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9" grpId="1"/>
      <p:bldP spid="31" grpId="0" animBg="1"/>
      <p:bldP spid="31"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1567999" y="1623477"/>
            <a:ext cx="2563672" cy="4107211"/>
          </a:xfrm>
          <a:prstGeom prst="rect">
            <a:avLst/>
          </a:prstGeom>
          <a:solidFill>
            <a:schemeClr val="bg1"/>
          </a:solidFill>
          <a:ln>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8" name="文本框 37"/>
          <p:cNvSpPr txBox="1"/>
          <p:nvPr/>
        </p:nvSpPr>
        <p:spPr>
          <a:xfrm>
            <a:off x="1677035" y="3091815"/>
            <a:ext cx="2339340" cy="521970"/>
          </a:xfrm>
          <a:prstGeom prst="rect">
            <a:avLst/>
          </a:prstGeom>
          <a:solidFill>
            <a:sysClr val="window" lastClr="FFFFFF"/>
          </a:solidFill>
        </p:spPr>
        <p:txBody>
          <a:bodyPr wrap="square" rtlCol="0">
            <a:spAutoFit/>
          </a:bodyPr>
          <a:lstStyle/>
          <a:p>
            <a:pPr lvl="0" algn="ctr">
              <a:defRPr/>
            </a:pPr>
            <a:r>
              <a:rPr lang="zh-CN" altLang="en-US" sz="2800" b="1" kern="0" dirty="0">
                <a:gradFill flip="none" rotWithShape="1">
                  <a:gsLst>
                    <a:gs pos="0">
                      <a:schemeClr val="tx1">
                        <a:lumMod val="60000"/>
                        <a:lumOff val="40000"/>
                      </a:schemeClr>
                    </a:gs>
                    <a:gs pos="100000">
                      <a:schemeClr val="tx1"/>
                    </a:gs>
                  </a:gsLst>
                  <a:lin ang="5400000" scaled="1"/>
                  <a:tileRect/>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技能适应</a:t>
            </a:r>
            <a:r>
              <a:rPr lang="zh-CN" altLang="en-US" sz="2800" b="1" kern="0" dirty="0">
                <a:gradFill flip="none" rotWithShape="1">
                  <a:gsLst>
                    <a:gs pos="0">
                      <a:schemeClr val="tx1">
                        <a:lumMod val="60000"/>
                        <a:lumOff val="40000"/>
                      </a:schemeClr>
                    </a:gs>
                    <a:gs pos="100000">
                      <a:schemeClr val="tx1"/>
                    </a:gs>
                  </a:gsLst>
                  <a:lin ang="5400000" scaled="1"/>
                  <a:tileRect/>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能力</a:t>
            </a:r>
            <a:endParaRPr lang="zh-CN" altLang="en-US" sz="2800" b="1" kern="0" dirty="0">
              <a:gradFill flip="none" rotWithShape="1">
                <a:gsLst>
                  <a:gs pos="0">
                    <a:schemeClr val="tx1">
                      <a:lumMod val="60000"/>
                      <a:lumOff val="40000"/>
                    </a:schemeClr>
                  </a:gs>
                  <a:gs pos="100000">
                    <a:schemeClr val="tx1"/>
                  </a:gs>
                </a:gsLst>
                <a:lin ang="5400000" scaled="1"/>
                <a:tileRect/>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1" name="文本框 40"/>
          <p:cNvSpPr txBox="1"/>
          <p:nvPr/>
        </p:nvSpPr>
        <p:spPr>
          <a:xfrm>
            <a:off x="1738050" y="3835115"/>
            <a:ext cx="2223567" cy="1198880"/>
          </a:xfrm>
          <a:prstGeom prst="rect">
            <a:avLst/>
          </a:prstGeom>
          <a:noFill/>
        </p:spPr>
        <p:txBody>
          <a:bodyPr wrap="square" rtlCol="0">
            <a:spAutoFit/>
          </a:bodyPr>
          <a:lstStyle/>
          <a:p>
            <a:pPr algn="ctr">
              <a:lnSpc>
                <a:spcPct val="150000"/>
              </a:lnSpc>
              <a:defRPr/>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许多岗位对</a:t>
            </a:r>
            <a:r>
              <a:rPr lang="zh-CN" altLang="en-US" sz="1200" u="sng"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数字技能</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或</a:t>
            </a:r>
            <a:r>
              <a:rPr lang="zh-CN" altLang="en-US" sz="1200" u="sng"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新工具</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有一定要求，老年人的</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学习能力与适应能力</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成为关键障碍或助力。</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cxnSp>
        <p:nvCxnSpPr>
          <p:cNvPr id="43" name="直接连接符 42"/>
          <p:cNvCxnSpPr/>
          <p:nvPr/>
        </p:nvCxnSpPr>
        <p:spPr>
          <a:xfrm>
            <a:off x="2068827" y="3719381"/>
            <a:ext cx="1562014" cy="0"/>
          </a:xfrm>
          <a:prstGeom prst="line">
            <a:avLst/>
          </a:prstGeom>
          <a:noFill/>
          <a:ln w="6350" cap="flat" cmpd="sng" algn="ctr">
            <a:solidFill>
              <a:srgbClr val="4F5260"/>
            </a:solidFill>
            <a:prstDash val="solid"/>
            <a:miter lim="800000"/>
          </a:ln>
          <a:effectLst/>
        </p:spPr>
      </p:cxnSp>
      <p:sp>
        <p:nvSpPr>
          <p:cNvPr id="45" name="矩形 44"/>
          <p:cNvSpPr/>
          <p:nvPr>
            <p:custDataLst>
              <p:tags r:id="rId1"/>
            </p:custDataLst>
          </p:nvPr>
        </p:nvSpPr>
        <p:spPr>
          <a:xfrm>
            <a:off x="5653889" y="1605321"/>
            <a:ext cx="2236664" cy="405626"/>
          </a:xfrm>
          <a:prstGeom prst="rect">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6" name="文本框 45"/>
          <p:cNvSpPr txBox="1"/>
          <p:nvPr>
            <p:custDataLst>
              <p:tags r:id="rId2"/>
            </p:custDataLst>
          </p:nvPr>
        </p:nvSpPr>
        <p:spPr>
          <a:xfrm>
            <a:off x="5743354" y="2131375"/>
            <a:ext cx="5279969" cy="645160"/>
          </a:xfrm>
          <a:prstGeom prst="rect">
            <a:avLst/>
          </a:prstGeom>
          <a:noFill/>
        </p:spPr>
        <p:txBody>
          <a:bodyPr wrap="square" rtlCol="0">
            <a:spAutoFit/>
          </a:bodyPr>
          <a:lstStyle/>
          <a:p>
            <a:pPr lvl="0">
              <a:lnSpc>
                <a:spcPct val="150000"/>
              </a:lnSpc>
              <a:defRPr/>
            </a:pPr>
            <a:r>
              <a:rPr lang="zh-CN" altLang="en-US" sz="1200">
                <a:sym typeface="+mn-ea"/>
              </a:rPr>
              <a:t>个体在漫长职业生涯中积累的专业知识、实践经验以及学习新技能的能力，共同构成了其在劳动力市场上的核心竞争力。</a:t>
            </a:r>
            <a:endPar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7" name="文本框 46"/>
          <p:cNvSpPr txBox="1"/>
          <p:nvPr>
            <p:custDataLst>
              <p:tags r:id="rId3"/>
            </p:custDataLst>
          </p:nvPr>
        </p:nvSpPr>
        <p:spPr>
          <a:xfrm>
            <a:off x="5713183" y="1623477"/>
            <a:ext cx="1979514" cy="368300"/>
          </a:xfrm>
          <a:prstGeom prst="rect">
            <a:avLst/>
          </a:prstGeom>
          <a:noFill/>
          <a:ln>
            <a:noFill/>
          </a:ln>
        </p:spPr>
        <p:txBody>
          <a:bodyPr wrap="square" rtlCol="0">
            <a:spAutoFit/>
          </a:bodyPr>
          <a:lstStyle/>
          <a:p>
            <a:pPr lvl="0">
              <a:defRPr/>
            </a:pPr>
            <a:r>
              <a:rPr lang="zh-CN" altLang="en-US" sz="1800" kern="0" dirty="0">
                <a:solidFill>
                  <a:schemeClr val="bg1"/>
                </a:solidFill>
                <a:effectLst>
                  <a:outerShdw blurRad="127000" dist="38100" dir="2700000" algn="tl" rotWithShape="0">
                    <a:prstClr val="black">
                      <a:alpha val="20000"/>
                    </a:prst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人力资本</a:t>
            </a:r>
            <a:r>
              <a:rPr lang="zh-CN" altLang="en-US" sz="1800" kern="0" dirty="0">
                <a:solidFill>
                  <a:schemeClr val="bg1"/>
                </a:solidFill>
                <a:effectLst>
                  <a:outerShdw blurRad="127000" dist="38100" dir="2700000" algn="tl" rotWithShape="0">
                    <a:prstClr val="black">
                      <a:alpha val="20000"/>
                    </a:prst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理论</a:t>
            </a:r>
            <a:endParaRPr lang="zh-CN" altLang="en-US" sz="1800" kern="0" dirty="0">
              <a:solidFill>
                <a:schemeClr val="bg1"/>
              </a:solidFill>
              <a:effectLst>
                <a:outerShdw blurRad="127000" dist="38100" dir="2700000" algn="tl" rotWithShape="0">
                  <a:prstClr val="black">
                    <a:alpha val="20000"/>
                  </a:prst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9" name="矩形 48"/>
          <p:cNvSpPr/>
          <p:nvPr>
            <p:custDataLst>
              <p:tags r:id="rId4"/>
            </p:custDataLst>
          </p:nvPr>
        </p:nvSpPr>
        <p:spPr>
          <a:xfrm>
            <a:off x="5654040" y="3025775"/>
            <a:ext cx="3371850" cy="405765"/>
          </a:xfrm>
          <a:prstGeom prst="rect">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0" name="文本框 49"/>
          <p:cNvSpPr txBox="1"/>
          <p:nvPr>
            <p:custDataLst>
              <p:tags r:id="rId5"/>
            </p:custDataLst>
          </p:nvPr>
        </p:nvSpPr>
        <p:spPr>
          <a:xfrm>
            <a:off x="5743352" y="3551529"/>
            <a:ext cx="5279970" cy="1198880"/>
          </a:xfrm>
          <a:prstGeom prst="rect">
            <a:avLst/>
          </a:prstGeom>
          <a:noFill/>
        </p:spPr>
        <p:txBody>
          <a:bodyPr wrap="square" rtlCol="0">
            <a:spAutoFit/>
          </a:bodyPr>
          <a:lstStyle/>
          <a:p>
            <a:pPr lvl="0">
              <a:lnSpc>
                <a:spcPct val="150000"/>
              </a:lnSpc>
              <a:defRPr/>
            </a:pPr>
            <a:r>
              <a:rPr lang="zh-CN" altLang="en-US" sz="1200">
                <a:sym typeface="+mn-ea"/>
              </a:rPr>
              <a:t>无论是传统行业的技术升级，还是新兴领域的技能要求，都</a:t>
            </a:r>
            <a:r>
              <a:rPr lang="zh-CN" altLang="en-US" sz="1200">
                <a:sym typeface="+mn-ea"/>
              </a:rPr>
              <a:t>能够凭借自身长期积累的知识储备与操作经验，快速适应不断变化的岗位需求</a:t>
            </a: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endPar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marL="171450" lvl="0" indent="-171450">
              <a:lnSpc>
                <a:spcPct val="150000"/>
              </a:lnSpc>
              <a:buFont typeface="Arial" panose="020B0604020202020204" pitchFamily="34" charset="0"/>
              <a:buChar char="•"/>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掌握数字化办公技能的经验丰富的</a:t>
            </a: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老年技术顾问</a:t>
            </a:r>
            <a:endPar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marL="171450" lvl="0" indent="-171450">
              <a:lnSpc>
                <a:spcPct val="150000"/>
              </a:lnSpc>
              <a:buFont typeface="Arial" panose="020B0604020202020204" pitchFamily="34" charset="0"/>
              <a:buChar char="•"/>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熟悉新兴服务流程的</a:t>
            </a: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老年健康管理师</a:t>
            </a:r>
            <a:endPar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1" name="文本框 50"/>
          <p:cNvSpPr txBox="1"/>
          <p:nvPr>
            <p:custDataLst>
              <p:tags r:id="rId6"/>
            </p:custDataLst>
          </p:nvPr>
        </p:nvSpPr>
        <p:spPr>
          <a:xfrm>
            <a:off x="5713095" y="3043555"/>
            <a:ext cx="3192145" cy="368300"/>
          </a:xfrm>
          <a:prstGeom prst="rect">
            <a:avLst/>
          </a:prstGeom>
          <a:noFill/>
        </p:spPr>
        <p:txBody>
          <a:bodyPr wrap="square" rtlCol="0">
            <a:spAutoFit/>
          </a:bodyPr>
          <a:lstStyle/>
          <a:p>
            <a:pPr lvl="0">
              <a:defRPr/>
            </a:pPr>
            <a:r>
              <a:rPr lang="zh-CN" altLang="en-US" sz="1800" kern="0" dirty="0">
                <a:solidFill>
                  <a:schemeClr val="bg1"/>
                </a:solidFill>
                <a:effectLst>
                  <a:outerShdw blurRad="127000" dist="38100" dir="2700000" algn="tl" rotWithShape="0">
                    <a:prstClr val="black">
                      <a:alpha val="20000"/>
                    </a:prst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技能适应力强的大龄</a:t>
            </a:r>
            <a:r>
              <a:rPr lang="zh-CN" altLang="en-US" sz="1800" kern="0" dirty="0">
                <a:solidFill>
                  <a:schemeClr val="bg1"/>
                </a:solidFill>
                <a:effectLst>
                  <a:outerShdw blurRad="127000" dist="38100" dir="2700000" algn="tl" rotWithShape="0">
                    <a:prstClr val="black">
                      <a:alpha val="20000"/>
                    </a:prst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劳动力</a:t>
            </a:r>
            <a:endParaRPr lang="zh-CN" altLang="en-US" sz="1800" kern="0" dirty="0">
              <a:solidFill>
                <a:schemeClr val="bg1"/>
              </a:solidFill>
              <a:effectLst>
                <a:outerShdw blurRad="127000" dist="38100" dir="2700000" algn="tl" rotWithShape="0">
                  <a:prstClr val="black">
                    <a:alpha val="20000"/>
                  </a:prst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3" name="矩形 52"/>
          <p:cNvSpPr/>
          <p:nvPr>
            <p:custDataLst>
              <p:tags r:id="rId7"/>
            </p:custDataLst>
          </p:nvPr>
        </p:nvSpPr>
        <p:spPr>
          <a:xfrm>
            <a:off x="5654040" y="4832985"/>
            <a:ext cx="1753235" cy="405765"/>
          </a:xfrm>
          <a:prstGeom prst="rect">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4" name="文本框 53"/>
          <p:cNvSpPr txBox="1"/>
          <p:nvPr>
            <p:custDataLst>
              <p:tags r:id="rId8"/>
            </p:custDataLst>
          </p:nvPr>
        </p:nvSpPr>
        <p:spPr>
          <a:xfrm>
            <a:off x="5743353" y="5358741"/>
            <a:ext cx="5380004" cy="645160"/>
          </a:xfrm>
          <a:prstGeom prst="rect">
            <a:avLst/>
          </a:prstGeom>
          <a:noFill/>
        </p:spPr>
        <p:txBody>
          <a:bodyPr wrap="square" rtlCol="0">
            <a:spAutoFit/>
          </a:bodyPr>
          <a:lstStyle/>
          <a:p>
            <a:pPr lvl="0">
              <a:lnSpc>
                <a:spcPct val="150000"/>
              </a:lnSpc>
              <a:defRPr/>
            </a:pPr>
            <a:r>
              <a:rPr lang="zh-CN" altLang="en-US" sz="1200">
                <a:sym typeface="+mn-ea"/>
              </a:rPr>
              <a:t>高技能带来高工资率，增强再就业吸引力；低技能则可能因收入不足被迫就业，但就业稳定性与可持续性较差。</a:t>
            </a:r>
            <a:endPar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5" name="文本框 54"/>
          <p:cNvSpPr txBox="1"/>
          <p:nvPr>
            <p:custDataLst>
              <p:tags r:id="rId9"/>
            </p:custDataLst>
          </p:nvPr>
        </p:nvSpPr>
        <p:spPr>
          <a:xfrm>
            <a:off x="5713095" y="4850765"/>
            <a:ext cx="1104265" cy="368300"/>
          </a:xfrm>
          <a:prstGeom prst="rect">
            <a:avLst/>
          </a:prstGeom>
          <a:noFill/>
        </p:spPr>
        <p:txBody>
          <a:bodyPr wrap="square" rtlCol="0">
            <a:spAutoFit/>
          </a:bodyPr>
          <a:lstStyle/>
          <a:p>
            <a:pPr lvl="0">
              <a:defRPr/>
            </a:pPr>
            <a:r>
              <a:rPr lang="zh-CN" altLang="en-US" sz="1800" kern="0" dirty="0">
                <a:solidFill>
                  <a:schemeClr val="bg1"/>
                </a:solidFill>
                <a:effectLst>
                  <a:outerShdw blurRad="127000" dist="38100" dir="2700000" algn="tl" rotWithShape="0">
                    <a:prstClr val="black">
                      <a:alpha val="20000"/>
                    </a:prst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替代效应</a:t>
            </a:r>
            <a:endParaRPr lang="zh-CN" altLang="en-US" sz="1800" kern="0" dirty="0">
              <a:solidFill>
                <a:schemeClr val="bg1"/>
              </a:solidFill>
              <a:effectLst>
                <a:outerShdw blurRad="127000" dist="38100" dir="2700000" algn="tl" rotWithShape="0">
                  <a:prstClr val="black">
                    <a:alpha val="20000"/>
                  </a:prstClr>
                </a:outerShdw>
              </a:effectLst>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cxnSp>
        <p:nvCxnSpPr>
          <p:cNvPr id="57" name="直接连接符 56"/>
          <p:cNvCxnSpPr>
            <a:stCxn id="58" idx="4"/>
            <a:endCxn id="60" idx="4"/>
          </p:cNvCxnSpPr>
          <p:nvPr>
            <p:custDataLst>
              <p:tags r:id="rId10"/>
            </p:custDataLst>
          </p:nvPr>
        </p:nvCxnSpPr>
        <p:spPr>
          <a:xfrm>
            <a:off x="5176619" y="1881622"/>
            <a:ext cx="0" cy="3249119"/>
          </a:xfrm>
          <a:prstGeom prst="line">
            <a:avLst/>
          </a:prstGeom>
          <a:noFill/>
          <a:ln w="6350" cap="flat" cmpd="sng" algn="ctr">
            <a:solidFill>
              <a:srgbClr val="787C90"/>
            </a:solidFill>
            <a:prstDash val="solid"/>
            <a:miter lim="800000"/>
          </a:ln>
          <a:effectLst/>
        </p:spPr>
      </p:cxnSp>
      <p:sp>
        <p:nvSpPr>
          <p:cNvPr id="58" name="椭圆 57"/>
          <p:cNvSpPr/>
          <p:nvPr>
            <p:custDataLst>
              <p:tags r:id="rId11"/>
            </p:custDataLst>
          </p:nvPr>
        </p:nvSpPr>
        <p:spPr>
          <a:xfrm>
            <a:off x="5103130" y="1734645"/>
            <a:ext cx="146977" cy="146977"/>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9" name="椭圆 58"/>
          <p:cNvSpPr/>
          <p:nvPr>
            <p:custDataLst>
              <p:tags r:id="rId12"/>
            </p:custDataLst>
          </p:nvPr>
        </p:nvSpPr>
        <p:spPr>
          <a:xfrm>
            <a:off x="5103130" y="3154798"/>
            <a:ext cx="146977" cy="146977"/>
          </a:xfrm>
          <a:prstGeom prst="ellipse">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0" name="椭圆 59"/>
          <p:cNvSpPr/>
          <p:nvPr>
            <p:custDataLst>
              <p:tags r:id="rId13"/>
            </p:custDataLst>
          </p:nvPr>
        </p:nvSpPr>
        <p:spPr>
          <a:xfrm>
            <a:off x="5103130" y="4983764"/>
            <a:ext cx="146977" cy="146977"/>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0" name="PA-文本框 8"/>
          <p:cNvSpPr txBox="1"/>
          <p:nvPr>
            <p:custDataLst>
              <p:tags r:id="rId14"/>
            </p:custDataLst>
          </p:nvPr>
        </p:nvSpPr>
        <p:spPr>
          <a:xfrm>
            <a:off x="1271905" y="485140"/>
            <a:ext cx="7753985" cy="82994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三、老年劳动力</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再就业影响因素结果解析</a:t>
            </a:r>
            <a:r>
              <a:rPr lang="en-US" altLang="zh-CN"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表层因素</a:t>
            </a:r>
            <a:endPar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 name="矩形 5"/>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2" name="图片 2"/>
          <p:cNvPicPr>
            <a:picLocks noChangeAspect="1"/>
          </p:cNvPicPr>
          <p:nvPr/>
        </p:nvPicPr>
        <p:blipFill>
          <a:blip r:embed="rId15"/>
          <a:srcRect l="33620" t="3845" r="50695" b="76243"/>
          <a:stretch>
            <a:fillRect/>
          </a:stretch>
        </p:blipFill>
        <p:spPr>
          <a:xfrm>
            <a:off x="2000885" y="1980565"/>
            <a:ext cx="1691005" cy="976630"/>
          </a:xfrm>
          <a:prstGeom prst="rect">
            <a:avLst/>
          </a:prstGeom>
          <a:ln w="9525">
            <a:solidFill>
              <a:schemeClr val="tx1">
                <a:alpha val="0"/>
              </a:schemeClr>
            </a:solidFill>
          </a:ln>
          <a:effectLst>
            <a:outerShdw blurRad="50800" dist="38100" dir="2700000" algn="tl" rotWithShape="0">
              <a:prstClr val="black">
                <a:alpha val="40000"/>
              </a:prstClr>
            </a:outerShdw>
          </a:effectLst>
        </p:spPr>
      </p:pic>
      <p:sp>
        <p:nvSpPr>
          <p:cNvPr id="16" name="矩形 15"/>
          <p:cNvSpPr/>
          <p:nvPr/>
        </p:nvSpPr>
        <p:spPr>
          <a:xfrm>
            <a:off x="2552700" y="6143625"/>
            <a:ext cx="7086600" cy="3429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技能适应能力直接决定了老年劳动力在市场中的岗位适配结</a:t>
            </a:r>
            <a:r>
              <a:rPr lang="zh-CN" altLang="en-US"/>
              <a:t>构</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500"/>
                                        <p:tgtEl>
                                          <p:spTgt spid="3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500"/>
                                        <p:tgtEl>
                                          <p:spTgt spid="38"/>
                                        </p:tgtEl>
                                      </p:cBhvr>
                                    </p:animEffect>
                                  </p:childTnLst>
                                </p:cTn>
                              </p:par>
                              <p:par>
                                <p:cTn id="17" presetID="10"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500"/>
                                        <p:tgtEl>
                                          <p:spTgt spid="43"/>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blinds(horizontal)">
                                      <p:cBhvr>
                                        <p:cTn id="24" dur="500"/>
                                        <p:tgtEl>
                                          <p:spTgt spid="47"/>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blinds(horizontal)">
                                      <p:cBhvr>
                                        <p:cTn id="27" dur="500"/>
                                        <p:tgtEl>
                                          <p:spTgt spid="4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45"/>
                                        </p:tgtEl>
                                        <p:attrNameLst>
                                          <p:attrName>style.visibility</p:attrName>
                                        </p:attrNameLst>
                                      </p:cBhvr>
                                      <p:to>
                                        <p:strVal val="visible"/>
                                      </p:to>
                                    </p:set>
                                    <p:animEffect transition="in" filter="blinds(horizontal)">
                                      <p:cBhvr>
                                        <p:cTn id="30" dur="500"/>
                                        <p:tgtEl>
                                          <p:spTgt spid="45"/>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blinds(horizontal)">
                                      <p:cBhvr>
                                        <p:cTn id="35" dur="500"/>
                                        <p:tgtEl>
                                          <p:spTgt spid="51"/>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50"/>
                                        </p:tgtEl>
                                        <p:attrNameLst>
                                          <p:attrName>style.visibility</p:attrName>
                                        </p:attrNameLst>
                                      </p:cBhvr>
                                      <p:to>
                                        <p:strVal val="visible"/>
                                      </p:to>
                                    </p:set>
                                    <p:animEffect transition="in" filter="blinds(horizontal)">
                                      <p:cBhvr>
                                        <p:cTn id="38" dur="500"/>
                                        <p:tgtEl>
                                          <p:spTgt spid="50"/>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blinds(horizontal)">
                                      <p:cBhvr>
                                        <p:cTn id="41" dur="500"/>
                                        <p:tgtEl>
                                          <p:spTgt spid="49"/>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54"/>
                                        </p:tgtEl>
                                        <p:attrNameLst>
                                          <p:attrName>style.visibility</p:attrName>
                                        </p:attrNameLst>
                                      </p:cBhvr>
                                      <p:to>
                                        <p:strVal val="visible"/>
                                      </p:to>
                                    </p:set>
                                    <p:animEffect transition="in" filter="blinds(horizontal)">
                                      <p:cBhvr>
                                        <p:cTn id="46" dur="500"/>
                                        <p:tgtEl>
                                          <p:spTgt spid="54"/>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blinds(horizontal)">
                                      <p:cBhvr>
                                        <p:cTn id="49" dur="500"/>
                                        <p:tgtEl>
                                          <p:spTgt spid="55"/>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blinds(horizontal)">
                                      <p:cBhvr>
                                        <p:cTn id="52" dur="5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ox(in)">
                                      <p:cBhvr>
                                        <p:cTn id="57"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0" grpId="0" animBg="1"/>
      <p:bldP spid="41" grpId="0"/>
      <p:bldP spid="37" grpId="0" animBg="1"/>
      <p:bldP spid="38" grpId="0" animBg="1"/>
      <p:bldP spid="41" grpId="1"/>
      <p:bldP spid="37" grpId="1" animBg="1"/>
      <p:bldP spid="38" grpId="1" animBg="1"/>
      <p:bldP spid="47" grpId="0"/>
      <p:bldP spid="46" grpId="0"/>
      <p:bldP spid="45" grpId="0" animBg="1"/>
      <p:bldP spid="47" grpId="1"/>
      <p:bldP spid="46" grpId="1"/>
      <p:bldP spid="45" grpId="1" animBg="1"/>
      <p:bldP spid="51" grpId="0"/>
      <p:bldP spid="50" grpId="0"/>
      <p:bldP spid="49" grpId="0" animBg="1"/>
      <p:bldP spid="51" grpId="1"/>
      <p:bldP spid="50" grpId="1"/>
      <p:bldP spid="49" grpId="1" animBg="1"/>
      <p:bldP spid="54" grpId="0"/>
      <p:bldP spid="55" grpId="0"/>
      <p:bldP spid="53" grpId="0" animBg="1"/>
      <p:bldP spid="54" grpId="1"/>
      <p:bldP spid="55" grpId="1"/>
      <p:bldP spid="53" grpId="1" animBg="1"/>
      <p:bldP spid="16" grpId="0" animBg="1"/>
      <p:bldP spid="16"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968523" y="4556238"/>
            <a:ext cx="5204067" cy="1400608"/>
            <a:chOff x="9189" y="2795"/>
            <a:chExt cx="8195" cy="2206"/>
          </a:xfrm>
        </p:grpSpPr>
        <p:sp>
          <p:nvSpPr>
            <p:cNvPr id="10" name="搜索：www.1314ppt.com  公众号：陈西设计之家。微信搜索即可。更多免费PPT模版教程等都可以在公众号内获取。PPT高端定制/发布会PPT设计微信：2090298045【陈西】"/>
            <p:cNvSpPr/>
            <p:nvPr>
              <p:custDataLst>
                <p:tags r:id="rId1"/>
              </p:custDataLst>
            </p:nvPr>
          </p:nvSpPr>
          <p:spPr>
            <a:xfrm>
              <a:off x="9189" y="2795"/>
              <a:ext cx="8195" cy="2206"/>
            </a:xfrm>
            <a:prstGeom prst="rect">
              <a:avLst/>
            </a:prstGeom>
            <a:gradFill flip="none" rotWithShape="1">
              <a:gsLst>
                <a:gs pos="55000">
                  <a:schemeClr val="bg1"/>
                </a:gs>
                <a:gs pos="100000">
                  <a:schemeClr val="bg1"/>
                </a:gs>
              </a:gsLst>
              <a:lin ang="2700000" scaled="1"/>
              <a:tileRect/>
            </a:gradFill>
            <a:ln>
              <a:noFill/>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3" name="椭圆 12"/>
            <p:cNvSpPr/>
            <p:nvPr>
              <p:custDataLst>
                <p:tags r:id="rId2"/>
              </p:custDataLst>
            </p:nvPr>
          </p:nvSpPr>
          <p:spPr>
            <a:xfrm>
              <a:off x="9722" y="3167"/>
              <a:ext cx="1463" cy="1463"/>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nvGrpSpPr>
            <p:cNvPr id="22" name="组合 21"/>
            <p:cNvGrpSpPr/>
            <p:nvPr>
              <p:custDataLst>
                <p:tags r:id="rId3"/>
              </p:custDataLst>
            </p:nvPr>
          </p:nvGrpSpPr>
          <p:grpSpPr>
            <a:xfrm>
              <a:off x="10115" y="3559"/>
              <a:ext cx="678" cy="678"/>
              <a:chOff x="8784073" y="1749786"/>
              <a:chExt cx="346512" cy="346512"/>
            </a:xfrm>
            <a:solidFill>
              <a:schemeClr val="bg1"/>
            </a:solidFill>
          </p:grpSpPr>
          <p:sp>
            <p:nvSpPr>
              <p:cNvPr id="23" name="任意多边形: 形状 22"/>
              <p:cNvSpPr/>
              <p:nvPr>
                <p:custDataLst>
                  <p:tags r:id="rId4"/>
                </p:custDataLst>
              </p:nvPr>
            </p:nvSpPr>
            <p:spPr>
              <a:xfrm>
                <a:off x="8784085" y="1749787"/>
                <a:ext cx="346500" cy="346500"/>
              </a:xfrm>
              <a:custGeom>
                <a:avLst/>
                <a:gdLst>
                  <a:gd name="connsiteX0" fmla="*/ 265000 w 346500"/>
                  <a:gd name="connsiteY0" fmla="*/ 247500 h 346500"/>
                  <a:gd name="connsiteX1" fmla="*/ 99000 w 346500"/>
                  <a:gd name="connsiteY1" fmla="*/ 81501 h 346500"/>
                  <a:gd name="connsiteX2" fmla="*/ 99000 w 346500"/>
                  <a:gd name="connsiteY2" fmla="*/ 0 h 346500"/>
                  <a:gd name="connsiteX3" fmla="*/ 0 w 346500"/>
                  <a:gd name="connsiteY3" fmla="*/ 0 h 346500"/>
                  <a:gd name="connsiteX4" fmla="*/ 0 w 346500"/>
                  <a:gd name="connsiteY4" fmla="*/ 99000 h 346500"/>
                  <a:gd name="connsiteX5" fmla="*/ 81501 w 346500"/>
                  <a:gd name="connsiteY5" fmla="*/ 99000 h 346500"/>
                  <a:gd name="connsiteX6" fmla="*/ 247500 w 346500"/>
                  <a:gd name="connsiteY6" fmla="*/ 265000 h 346500"/>
                  <a:gd name="connsiteX7" fmla="*/ 247500 w 346500"/>
                  <a:gd name="connsiteY7" fmla="*/ 346500 h 346500"/>
                  <a:gd name="connsiteX8" fmla="*/ 346500 w 346500"/>
                  <a:gd name="connsiteY8" fmla="*/ 346500 h 346500"/>
                  <a:gd name="connsiteX9" fmla="*/ 346500 w 346500"/>
                  <a:gd name="connsiteY9" fmla="*/ 247500 h 346500"/>
                  <a:gd name="connsiteX10" fmla="*/ 74250 w 346500"/>
                  <a:gd name="connsiteY10" fmla="*/ 74250 h 346500"/>
                  <a:gd name="connsiteX11" fmla="*/ 24750 w 346500"/>
                  <a:gd name="connsiteY11" fmla="*/ 74250 h 346500"/>
                  <a:gd name="connsiteX12" fmla="*/ 24750 w 346500"/>
                  <a:gd name="connsiteY12" fmla="*/ 24750 h 346500"/>
                  <a:gd name="connsiteX13" fmla="*/ 74250 w 346500"/>
                  <a:gd name="connsiteY13" fmla="*/ 24750 h 346500"/>
                  <a:gd name="connsiteX14" fmla="*/ 321750 w 346500"/>
                  <a:gd name="connsiteY14" fmla="*/ 321750 h 346500"/>
                  <a:gd name="connsiteX15" fmla="*/ 272250 w 346500"/>
                  <a:gd name="connsiteY15" fmla="*/ 321750 h 346500"/>
                  <a:gd name="connsiteX16" fmla="*/ 272250 w 346500"/>
                  <a:gd name="connsiteY16" fmla="*/ 272250 h 346500"/>
                  <a:gd name="connsiteX17" fmla="*/ 321750 w 346500"/>
                  <a:gd name="connsiteY17" fmla="*/ 272250 h 34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6500" h="346500">
                    <a:moveTo>
                      <a:pt x="265000" y="247500"/>
                    </a:moveTo>
                    <a:lnTo>
                      <a:pt x="99000" y="81501"/>
                    </a:lnTo>
                    <a:lnTo>
                      <a:pt x="99000" y="0"/>
                    </a:lnTo>
                    <a:lnTo>
                      <a:pt x="0" y="0"/>
                    </a:lnTo>
                    <a:lnTo>
                      <a:pt x="0" y="99000"/>
                    </a:lnTo>
                    <a:lnTo>
                      <a:pt x="81501" y="99000"/>
                    </a:lnTo>
                    <a:lnTo>
                      <a:pt x="247500" y="265000"/>
                    </a:lnTo>
                    <a:lnTo>
                      <a:pt x="247500" y="346500"/>
                    </a:lnTo>
                    <a:lnTo>
                      <a:pt x="346500" y="346500"/>
                    </a:lnTo>
                    <a:lnTo>
                      <a:pt x="346500" y="247500"/>
                    </a:lnTo>
                    <a:close/>
                    <a:moveTo>
                      <a:pt x="74250" y="74250"/>
                    </a:moveTo>
                    <a:lnTo>
                      <a:pt x="24750" y="74250"/>
                    </a:lnTo>
                    <a:lnTo>
                      <a:pt x="24750" y="24750"/>
                    </a:lnTo>
                    <a:lnTo>
                      <a:pt x="74250" y="24750"/>
                    </a:lnTo>
                    <a:close/>
                    <a:moveTo>
                      <a:pt x="321750" y="321750"/>
                    </a:moveTo>
                    <a:lnTo>
                      <a:pt x="272250" y="321750"/>
                    </a:lnTo>
                    <a:lnTo>
                      <a:pt x="272250" y="272250"/>
                    </a:lnTo>
                    <a:lnTo>
                      <a:pt x="321750" y="272250"/>
                    </a:lnTo>
                    <a:close/>
                  </a:path>
                </a:pathLst>
              </a:custGeom>
              <a:grpFill/>
              <a:ln w="12204" cap="flat">
                <a:noFill/>
                <a:prstDash val="solid"/>
                <a:miter/>
              </a:ln>
            </p:spPr>
            <p:txBody>
              <a:bodyPr rtlCol="0" anchor="ctr"/>
              <a:lstStyle/>
              <a:p>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4" name="搜索：www.1314ppt.com  公众号：陈西设计之家。微信搜索即可。更多免费PPT模版教程等都可以在公众号内获取。PPT高端定制/发布会PPT设计微信：2090298045【陈西】"/>
              <p:cNvSpPr/>
              <p:nvPr>
                <p:custDataLst>
                  <p:tags r:id="rId5"/>
                </p:custDataLst>
              </p:nvPr>
            </p:nvSpPr>
            <p:spPr>
              <a:xfrm>
                <a:off x="8920210" y="1749786"/>
                <a:ext cx="210375" cy="210375"/>
              </a:xfrm>
              <a:custGeom>
                <a:avLst/>
                <a:gdLst>
                  <a:gd name="connsiteX0" fmla="*/ 210375 w 210375"/>
                  <a:gd name="connsiteY0" fmla="*/ 49501 h 210375"/>
                  <a:gd name="connsiteX1" fmla="*/ 161086 w 210375"/>
                  <a:gd name="connsiteY1" fmla="*/ 0 h 210375"/>
                  <a:gd name="connsiteX2" fmla="*/ 113133 w 210375"/>
                  <a:gd name="connsiteY2" fmla="*/ 37126 h 210375"/>
                  <a:gd name="connsiteX3" fmla="*/ 0 w 210375"/>
                  <a:gd name="connsiteY3" fmla="*/ 37126 h 210375"/>
                  <a:gd name="connsiteX4" fmla="*/ 0 w 210375"/>
                  <a:gd name="connsiteY4" fmla="*/ 61876 h 210375"/>
                  <a:gd name="connsiteX5" fmla="*/ 113133 w 210375"/>
                  <a:gd name="connsiteY5" fmla="*/ 61876 h 210375"/>
                  <a:gd name="connsiteX6" fmla="*/ 148500 w 210375"/>
                  <a:gd name="connsiteY6" fmla="*/ 97242 h 210375"/>
                  <a:gd name="connsiteX7" fmla="*/ 148500 w 210375"/>
                  <a:gd name="connsiteY7" fmla="*/ 210376 h 210375"/>
                  <a:gd name="connsiteX8" fmla="*/ 173250 w 210375"/>
                  <a:gd name="connsiteY8" fmla="*/ 210376 h 210375"/>
                  <a:gd name="connsiteX9" fmla="*/ 173250 w 210375"/>
                  <a:gd name="connsiteY9" fmla="*/ 97242 h 210375"/>
                  <a:gd name="connsiteX10" fmla="*/ 210375 w 210375"/>
                  <a:gd name="connsiteY10" fmla="*/ 49501 h 210375"/>
                  <a:gd name="connsiteX11" fmla="*/ 160875 w 210375"/>
                  <a:gd name="connsiteY11" fmla="*/ 74251 h 210375"/>
                  <a:gd name="connsiteX12" fmla="*/ 136125 w 210375"/>
                  <a:gd name="connsiteY12" fmla="*/ 49501 h 210375"/>
                  <a:gd name="connsiteX13" fmla="*/ 160875 w 210375"/>
                  <a:gd name="connsiteY13" fmla="*/ 24751 h 210375"/>
                  <a:gd name="connsiteX14" fmla="*/ 185625 w 210375"/>
                  <a:gd name="connsiteY14" fmla="*/ 49501 h 210375"/>
                  <a:gd name="connsiteX15" fmla="*/ 160875 w 210375"/>
                  <a:gd name="connsiteY15" fmla="*/ 74251 h 210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0375" h="210375">
                    <a:moveTo>
                      <a:pt x="210375" y="49501"/>
                    </a:moveTo>
                    <a:cubicBezTo>
                      <a:pt x="210434" y="22221"/>
                      <a:pt x="188366" y="59"/>
                      <a:pt x="161086" y="0"/>
                    </a:cubicBezTo>
                    <a:cubicBezTo>
                      <a:pt x="138492" y="-48"/>
                      <a:pt x="118746" y="15240"/>
                      <a:pt x="113133" y="37126"/>
                    </a:cubicBezTo>
                    <a:lnTo>
                      <a:pt x="0" y="37126"/>
                    </a:lnTo>
                    <a:lnTo>
                      <a:pt x="0" y="61876"/>
                    </a:lnTo>
                    <a:lnTo>
                      <a:pt x="113133" y="61876"/>
                    </a:lnTo>
                    <a:cubicBezTo>
                      <a:pt x="117649" y="79199"/>
                      <a:pt x="131177" y="92727"/>
                      <a:pt x="148500" y="97242"/>
                    </a:cubicBezTo>
                    <a:lnTo>
                      <a:pt x="148500" y="210376"/>
                    </a:lnTo>
                    <a:lnTo>
                      <a:pt x="173250" y="210376"/>
                    </a:lnTo>
                    <a:lnTo>
                      <a:pt x="173250" y="97242"/>
                    </a:lnTo>
                    <a:cubicBezTo>
                      <a:pt x="195048" y="91631"/>
                      <a:pt x="210307" y="72009"/>
                      <a:pt x="210375" y="49501"/>
                    </a:cubicBezTo>
                    <a:close/>
                    <a:moveTo>
                      <a:pt x="160875" y="74251"/>
                    </a:moveTo>
                    <a:cubicBezTo>
                      <a:pt x="147206" y="74251"/>
                      <a:pt x="136125" y="63170"/>
                      <a:pt x="136125" y="49501"/>
                    </a:cubicBezTo>
                    <a:cubicBezTo>
                      <a:pt x="136125" y="35832"/>
                      <a:pt x="147206" y="24751"/>
                      <a:pt x="160875" y="24751"/>
                    </a:cubicBezTo>
                    <a:cubicBezTo>
                      <a:pt x="174544" y="24751"/>
                      <a:pt x="185625" y="35832"/>
                      <a:pt x="185625" y="49501"/>
                    </a:cubicBezTo>
                    <a:cubicBezTo>
                      <a:pt x="185609" y="63163"/>
                      <a:pt x="174538" y="74235"/>
                      <a:pt x="160875" y="74251"/>
                    </a:cubicBezTo>
                    <a:close/>
                  </a:path>
                </a:pathLst>
              </a:custGeom>
              <a:grpFill/>
              <a:ln w="12204" cap="flat">
                <a:noFill/>
                <a:prstDash val="solid"/>
                <a:miter/>
              </a:ln>
            </p:spPr>
            <p:txBody>
              <a:bodyPr rtlCol="0" anchor="ctr"/>
              <a:lstStyle/>
              <a:p>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5" name="任意多边形: 形状 24"/>
              <p:cNvSpPr/>
              <p:nvPr>
                <p:custDataLst>
                  <p:tags r:id="rId6"/>
                </p:custDataLst>
              </p:nvPr>
            </p:nvSpPr>
            <p:spPr>
              <a:xfrm>
                <a:off x="8784073" y="1885912"/>
                <a:ext cx="210386" cy="210386"/>
              </a:xfrm>
              <a:custGeom>
                <a:avLst/>
                <a:gdLst>
                  <a:gd name="connsiteX0" fmla="*/ 210387 w 210386"/>
                  <a:gd name="connsiteY0" fmla="*/ 148500 h 210386"/>
                  <a:gd name="connsiteX1" fmla="*/ 97253 w 210386"/>
                  <a:gd name="connsiteY1" fmla="*/ 148500 h 210386"/>
                  <a:gd name="connsiteX2" fmla="*/ 61887 w 210386"/>
                  <a:gd name="connsiteY2" fmla="*/ 113133 h 210386"/>
                  <a:gd name="connsiteX3" fmla="*/ 61887 w 210386"/>
                  <a:gd name="connsiteY3" fmla="*/ 0 h 210386"/>
                  <a:gd name="connsiteX4" fmla="*/ 37137 w 210386"/>
                  <a:gd name="connsiteY4" fmla="*/ 0 h 210386"/>
                  <a:gd name="connsiteX5" fmla="*/ 37137 w 210386"/>
                  <a:gd name="connsiteY5" fmla="*/ 113133 h 210386"/>
                  <a:gd name="connsiteX6" fmla="*/ 1560 w 210386"/>
                  <a:gd name="connsiteY6" fmla="*/ 173250 h 210386"/>
                  <a:gd name="connsiteX7" fmla="*/ 61677 w 210386"/>
                  <a:gd name="connsiteY7" fmla="*/ 208827 h 210386"/>
                  <a:gd name="connsiteX8" fmla="*/ 97253 w 210386"/>
                  <a:gd name="connsiteY8" fmla="*/ 173250 h 210386"/>
                  <a:gd name="connsiteX9" fmla="*/ 210387 w 210386"/>
                  <a:gd name="connsiteY9" fmla="*/ 173250 h 210386"/>
                  <a:gd name="connsiteX10" fmla="*/ 49512 w 210386"/>
                  <a:gd name="connsiteY10" fmla="*/ 185625 h 210386"/>
                  <a:gd name="connsiteX11" fmla="*/ 24762 w 210386"/>
                  <a:gd name="connsiteY11" fmla="*/ 160875 h 210386"/>
                  <a:gd name="connsiteX12" fmla="*/ 49512 w 210386"/>
                  <a:gd name="connsiteY12" fmla="*/ 136125 h 210386"/>
                  <a:gd name="connsiteX13" fmla="*/ 74262 w 210386"/>
                  <a:gd name="connsiteY13" fmla="*/ 160875 h 210386"/>
                  <a:gd name="connsiteX14" fmla="*/ 49512 w 210386"/>
                  <a:gd name="connsiteY14" fmla="*/ 185625 h 210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0386" h="210386">
                    <a:moveTo>
                      <a:pt x="210387" y="148500"/>
                    </a:moveTo>
                    <a:lnTo>
                      <a:pt x="97253" y="148500"/>
                    </a:lnTo>
                    <a:cubicBezTo>
                      <a:pt x="92738" y="131177"/>
                      <a:pt x="79210" y="117649"/>
                      <a:pt x="61887" y="113133"/>
                    </a:cubicBezTo>
                    <a:lnTo>
                      <a:pt x="61887" y="0"/>
                    </a:lnTo>
                    <a:lnTo>
                      <a:pt x="37137" y="0"/>
                    </a:lnTo>
                    <a:lnTo>
                      <a:pt x="37137" y="113133"/>
                    </a:lnTo>
                    <a:cubicBezTo>
                      <a:pt x="10712" y="119910"/>
                      <a:pt x="-5216" y="146825"/>
                      <a:pt x="1560" y="173250"/>
                    </a:cubicBezTo>
                    <a:cubicBezTo>
                      <a:pt x="8337" y="199675"/>
                      <a:pt x="35252" y="215603"/>
                      <a:pt x="61677" y="208827"/>
                    </a:cubicBezTo>
                    <a:cubicBezTo>
                      <a:pt x="79139" y="204349"/>
                      <a:pt x="92775" y="190713"/>
                      <a:pt x="97253" y="173250"/>
                    </a:cubicBezTo>
                    <a:lnTo>
                      <a:pt x="210387" y="173250"/>
                    </a:lnTo>
                    <a:close/>
                    <a:moveTo>
                      <a:pt x="49512" y="185625"/>
                    </a:moveTo>
                    <a:cubicBezTo>
                      <a:pt x="35843" y="185625"/>
                      <a:pt x="24762" y="174544"/>
                      <a:pt x="24762" y="160875"/>
                    </a:cubicBezTo>
                    <a:cubicBezTo>
                      <a:pt x="24762" y="147206"/>
                      <a:pt x="35843" y="136125"/>
                      <a:pt x="49512" y="136125"/>
                    </a:cubicBezTo>
                    <a:cubicBezTo>
                      <a:pt x="63181" y="136125"/>
                      <a:pt x="74262" y="147206"/>
                      <a:pt x="74262" y="160875"/>
                    </a:cubicBezTo>
                    <a:cubicBezTo>
                      <a:pt x="74246" y="174538"/>
                      <a:pt x="63174" y="185609"/>
                      <a:pt x="49512" y="185625"/>
                    </a:cubicBezTo>
                    <a:close/>
                  </a:path>
                </a:pathLst>
              </a:custGeom>
              <a:grpFill/>
              <a:ln w="12204" cap="flat">
                <a:noFill/>
                <a:prstDash val="solid"/>
                <a:miter/>
              </a:ln>
            </p:spPr>
            <p:txBody>
              <a:bodyPr rtlCol="0" anchor="ctr"/>
              <a:lstStyle/>
              <a:p>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sp>
          <p:nvSpPr>
            <p:cNvPr id="26" name="搜索：www.1314ppt.com  公众号：陈西设计之家。微信搜索即可。更多免费PPT模版教程等都可以在公众号内获取。PPT高端定制/发布会PPT设计微信：2090298045【陈西】"/>
            <p:cNvSpPr txBox="1"/>
            <p:nvPr>
              <p:custDataLst>
                <p:tags r:id="rId7"/>
              </p:custDataLst>
            </p:nvPr>
          </p:nvSpPr>
          <p:spPr>
            <a:xfrm>
              <a:off x="11479" y="3010"/>
              <a:ext cx="2448" cy="580"/>
            </a:xfrm>
            <a:prstGeom prst="rect">
              <a:avLst/>
            </a:prstGeom>
            <a:noFill/>
          </p:spPr>
          <p:txBody>
            <a:bodyPr wrap="none" rtlCol="0">
              <a:spAutoFit/>
            </a:bodyPr>
            <a:lstStyle/>
            <a:p>
              <a:pPr defTabSz="914400">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数字获取能力</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7" name="小标题"/>
            <p:cNvSpPr txBox="1"/>
            <p:nvPr>
              <p:custDataLst>
                <p:tags r:id="rId8"/>
              </p:custDataLst>
            </p:nvPr>
          </p:nvSpPr>
          <p:spPr>
            <a:xfrm>
              <a:off x="11479" y="3468"/>
              <a:ext cx="5616" cy="1364"/>
            </a:xfrm>
            <a:prstGeom prst="rect">
              <a:avLst/>
            </a:prstGeom>
            <a:noFill/>
          </p:spPr>
          <p:txBody>
            <a:bodyPr wrap="square" rtlCol="0">
              <a:spAutoFit/>
            </a:bodyPr>
            <a:lstStyle/>
            <a:p>
              <a:pPr>
                <a:lnSpc>
                  <a:spcPct val="140000"/>
                </a:lnSpc>
              </a:pPr>
              <a:r>
                <a:rPr lang="zh-CN" altLang="en-US" sz="1200" dirty="0">
                  <a:sym typeface="+mn-ea"/>
                </a:rPr>
                <a:t>掌握智能设备操作、线上办公软件使用等数字技能的老年人，能够突破地域与信息壁垒，积极参与新兴就业形态</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grpSp>
        <p:nvGrpSpPr>
          <p:cNvPr id="2" name="组合 1"/>
          <p:cNvGrpSpPr/>
          <p:nvPr/>
        </p:nvGrpSpPr>
        <p:grpSpPr>
          <a:xfrm>
            <a:off x="5968523" y="1268037"/>
            <a:ext cx="5204067" cy="1400608"/>
            <a:chOff x="9189" y="5222"/>
            <a:chExt cx="8195" cy="2206"/>
          </a:xfrm>
        </p:grpSpPr>
        <p:sp>
          <p:nvSpPr>
            <p:cNvPr id="11" name="矩形 10"/>
            <p:cNvSpPr/>
            <p:nvPr>
              <p:custDataLst>
                <p:tags r:id="rId9"/>
              </p:custDataLst>
            </p:nvPr>
          </p:nvSpPr>
          <p:spPr>
            <a:xfrm>
              <a:off x="9189" y="5222"/>
              <a:ext cx="8195" cy="2206"/>
            </a:xfrm>
            <a:prstGeom prst="rect">
              <a:avLst/>
            </a:prstGeom>
            <a:gradFill flip="none" rotWithShape="1">
              <a:gsLst>
                <a:gs pos="55000">
                  <a:schemeClr val="bg1"/>
                </a:gs>
                <a:gs pos="100000">
                  <a:schemeClr val="bg1"/>
                </a:gs>
              </a:gsLst>
              <a:lin ang="2700000" scaled="1"/>
              <a:tileRect/>
            </a:gradFill>
            <a:ln>
              <a:noFill/>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8" name="椭圆 27"/>
            <p:cNvSpPr/>
            <p:nvPr>
              <p:custDataLst>
                <p:tags r:id="rId10"/>
              </p:custDataLst>
            </p:nvPr>
          </p:nvSpPr>
          <p:spPr>
            <a:xfrm>
              <a:off x="9722" y="5582"/>
              <a:ext cx="1463" cy="1463"/>
            </a:xfrm>
            <a:prstGeom prst="ellipse">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3" name="搜索：www.1314ppt.com  公众号：陈西设计之家。微信搜索即可。更多免费PPT模版教程等都可以在公众号内获取。PPT高端定制/发布会PPT设计微信：2090298045【陈西】"/>
            <p:cNvSpPr txBox="1"/>
            <p:nvPr>
              <p:custDataLst>
                <p:tags r:id="rId11"/>
              </p:custDataLst>
            </p:nvPr>
          </p:nvSpPr>
          <p:spPr>
            <a:xfrm>
              <a:off x="11479" y="5666"/>
              <a:ext cx="2448" cy="580"/>
            </a:xfrm>
            <a:prstGeom prst="rect">
              <a:avLst/>
            </a:prstGeom>
            <a:noFill/>
          </p:spPr>
          <p:txBody>
            <a:bodyPr wrap="none" rtlCol="0">
              <a:spAutoFit/>
            </a:bodyPr>
            <a:lstStyle/>
            <a:p>
              <a:pPr defTabSz="914400">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健康体能条件</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4" name="小标题"/>
            <p:cNvSpPr txBox="1"/>
            <p:nvPr>
              <p:custDataLst>
                <p:tags r:id="rId12"/>
              </p:custDataLst>
            </p:nvPr>
          </p:nvSpPr>
          <p:spPr>
            <a:xfrm>
              <a:off x="11479" y="6123"/>
              <a:ext cx="5616" cy="957"/>
            </a:xfrm>
            <a:prstGeom prst="rect">
              <a:avLst/>
            </a:prstGeom>
            <a:noFill/>
          </p:spPr>
          <p:txBody>
            <a:bodyPr wrap="square" rtlCol="0">
              <a:spAutoFit/>
            </a:bodyPr>
            <a:lstStyle/>
            <a:p>
              <a:pPr>
                <a:lnSpc>
                  <a:spcPct val="140000"/>
                </a:lnSpc>
              </a:pPr>
              <a:r>
                <a:rPr lang="zh-CN" altLang="en-US" sz="1200" dirty="0">
                  <a:sym typeface="+mn-ea"/>
                </a:rPr>
                <a:t>老年劳动力参与就业的物质基础，遵循生命周期理论中</a:t>
              </a:r>
              <a:r>
                <a:rPr lang="en-US" altLang="zh-CN" sz="1200" dirty="0">
                  <a:sym typeface="+mn-ea"/>
                </a:rPr>
                <a:t> “</a:t>
              </a:r>
              <a:r>
                <a:rPr lang="zh-CN" altLang="en-US" sz="1200" dirty="0">
                  <a:sym typeface="+mn-ea"/>
                </a:rPr>
                <a:t>健康资本存量</a:t>
              </a:r>
              <a:r>
                <a:rPr lang="en-US" altLang="zh-CN" sz="1200" dirty="0">
                  <a:sym typeface="+mn-ea"/>
                </a:rPr>
                <a:t>” </a:t>
              </a:r>
              <a:r>
                <a:rPr lang="zh-CN" altLang="en-US" sz="1200" dirty="0">
                  <a:sym typeface="+mn-ea"/>
                </a:rPr>
                <a:t>对劳动供给的约束逻辑。</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nvGrpSpPr>
            <p:cNvPr id="17" name="组合 16"/>
            <p:cNvGrpSpPr/>
            <p:nvPr>
              <p:custDataLst>
                <p:tags r:id="rId13"/>
              </p:custDataLst>
            </p:nvPr>
          </p:nvGrpSpPr>
          <p:grpSpPr>
            <a:xfrm>
              <a:off x="10115" y="5975"/>
              <a:ext cx="678" cy="678"/>
              <a:chOff x="5356669" y="5729967"/>
              <a:chExt cx="346500" cy="346500"/>
            </a:xfrm>
            <a:solidFill>
              <a:schemeClr val="bg1"/>
            </a:solidFill>
          </p:grpSpPr>
          <p:sp>
            <p:nvSpPr>
              <p:cNvPr id="18" name="搜索：www.1314ppt.com  公众号：陈西设计之家。微信搜索即可。更多免费PPT模版教程等都可以在公众号内获取。PPT高端定制/发布会PPT设计微信：2090298045【陈西】"/>
              <p:cNvSpPr/>
              <p:nvPr>
                <p:custDataLst>
                  <p:tags r:id="rId14"/>
                </p:custDataLst>
              </p:nvPr>
            </p:nvSpPr>
            <p:spPr>
              <a:xfrm>
                <a:off x="5616544" y="5927967"/>
                <a:ext cx="86625" cy="148500"/>
              </a:xfrm>
              <a:custGeom>
                <a:avLst/>
                <a:gdLst>
                  <a:gd name="connsiteX0" fmla="*/ 86625 w 86625"/>
                  <a:gd name="connsiteY0" fmla="*/ 148500 h 148500"/>
                  <a:gd name="connsiteX1" fmla="*/ 61875 w 86625"/>
                  <a:gd name="connsiteY1" fmla="*/ 148500 h 148500"/>
                  <a:gd name="connsiteX2" fmla="*/ 61875 w 86625"/>
                  <a:gd name="connsiteY2" fmla="*/ 86625 h 148500"/>
                  <a:gd name="connsiteX3" fmla="*/ 0 w 86625"/>
                  <a:gd name="connsiteY3" fmla="*/ 24750 h 148500"/>
                  <a:gd name="connsiteX4" fmla="*/ 0 w 86625"/>
                  <a:gd name="connsiteY4" fmla="*/ 0 h 148500"/>
                  <a:gd name="connsiteX5" fmla="*/ 86625 w 86625"/>
                  <a:gd name="connsiteY5" fmla="*/ 86625 h 14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625" h="148500">
                    <a:moveTo>
                      <a:pt x="86625" y="148500"/>
                    </a:moveTo>
                    <a:lnTo>
                      <a:pt x="61875" y="148500"/>
                    </a:lnTo>
                    <a:lnTo>
                      <a:pt x="61875" y="86625"/>
                    </a:lnTo>
                    <a:cubicBezTo>
                      <a:pt x="61836" y="52468"/>
                      <a:pt x="34157" y="24789"/>
                      <a:pt x="0" y="24750"/>
                    </a:cubicBezTo>
                    <a:lnTo>
                      <a:pt x="0" y="0"/>
                    </a:lnTo>
                    <a:cubicBezTo>
                      <a:pt x="47820" y="53"/>
                      <a:pt x="86572" y="38805"/>
                      <a:pt x="86625" y="86625"/>
                    </a:cubicBezTo>
                    <a:close/>
                  </a:path>
                </a:pathLst>
              </a:custGeom>
              <a:grpFill/>
              <a:ln w="12204" cap="flat">
                <a:noFill/>
                <a:prstDash val="solid"/>
                <a:miter/>
              </a:ln>
            </p:spPr>
            <p:txBody>
              <a:bodyPr rtlCol="0" anchor="ctr"/>
              <a:lstStyle/>
              <a:p>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9" name="任意多边形: 形状 18"/>
              <p:cNvSpPr/>
              <p:nvPr>
                <p:custDataLst>
                  <p:tags r:id="rId15"/>
                </p:custDataLst>
              </p:nvPr>
            </p:nvSpPr>
            <p:spPr>
              <a:xfrm>
                <a:off x="5356669" y="5927967"/>
                <a:ext cx="247500" cy="148500"/>
              </a:xfrm>
              <a:custGeom>
                <a:avLst/>
                <a:gdLst>
                  <a:gd name="connsiteX0" fmla="*/ 247500 w 247500"/>
                  <a:gd name="connsiteY0" fmla="*/ 148500 h 148500"/>
                  <a:gd name="connsiteX1" fmla="*/ 222750 w 247500"/>
                  <a:gd name="connsiteY1" fmla="*/ 148500 h 148500"/>
                  <a:gd name="connsiteX2" fmla="*/ 222750 w 247500"/>
                  <a:gd name="connsiteY2" fmla="*/ 86625 h 148500"/>
                  <a:gd name="connsiteX3" fmla="*/ 160875 w 247500"/>
                  <a:gd name="connsiteY3" fmla="*/ 24750 h 148500"/>
                  <a:gd name="connsiteX4" fmla="*/ 86625 w 247500"/>
                  <a:gd name="connsiteY4" fmla="*/ 24750 h 148500"/>
                  <a:gd name="connsiteX5" fmla="*/ 24750 w 247500"/>
                  <a:gd name="connsiteY5" fmla="*/ 86625 h 148500"/>
                  <a:gd name="connsiteX6" fmla="*/ 24750 w 247500"/>
                  <a:gd name="connsiteY6" fmla="*/ 148500 h 148500"/>
                  <a:gd name="connsiteX7" fmla="*/ 0 w 247500"/>
                  <a:gd name="connsiteY7" fmla="*/ 148500 h 148500"/>
                  <a:gd name="connsiteX8" fmla="*/ 0 w 247500"/>
                  <a:gd name="connsiteY8" fmla="*/ 86625 h 148500"/>
                  <a:gd name="connsiteX9" fmla="*/ 86625 w 247500"/>
                  <a:gd name="connsiteY9" fmla="*/ 0 h 148500"/>
                  <a:gd name="connsiteX10" fmla="*/ 160875 w 247500"/>
                  <a:gd name="connsiteY10" fmla="*/ 0 h 148500"/>
                  <a:gd name="connsiteX11" fmla="*/ 247500 w 247500"/>
                  <a:gd name="connsiteY11" fmla="*/ 86625 h 14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500" h="148500">
                    <a:moveTo>
                      <a:pt x="247500" y="148500"/>
                    </a:moveTo>
                    <a:lnTo>
                      <a:pt x="222750" y="148500"/>
                    </a:lnTo>
                    <a:lnTo>
                      <a:pt x="222750" y="86625"/>
                    </a:lnTo>
                    <a:cubicBezTo>
                      <a:pt x="222710" y="52469"/>
                      <a:pt x="195031" y="24790"/>
                      <a:pt x="160875" y="24750"/>
                    </a:cubicBezTo>
                    <a:lnTo>
                      <a:pt x="86625" y="24750"/>
                    </a:lnTo>
                    <a:cubicBezTo>
                      <a:pt x="52469" y="24790"/>
                      <a:pt x="24790" y="52469"/>
                      <a:pt x="24750" y="86625"/>
                    </a:cubicBezTo>
                    <a:lnTo>
                      <a:pt x="24750" y="148500"/>
                    </a:lnTo>
                    <a:lnTo>
                      <a:pt x="0" y="148500"/>
                    </a:lnTo>
                    <a:lnTo>
                      <a:pt x="0" y="86625"/>
                    </a:lnTo>
                    <a:cubicBezTo>
                      <a:pt x="56" y="38807"/>
                      <a:pt x="38807" y="56"/>
                      <a:pt x="86625" y="0"/>
                    </a:cubicBezTo>
                    <a:lnTo>
                      <a:pt x="160875" y="0"/>
                    </a:lnTo>
                    <a:cubicBezTo>
                      <a:pt x="208693" y="56"/>
                      <a:pt x="247444" y="38807"/>
                      <a:pt x="247500" y="86625"/>
                    </a:cubicBezTo>
                    <a:close/>
                  </a:path>
                </a:pathLst>
              </a:custGeom>
              <a:grpFill/>
              <a:ln w="12204" cap="flat">
                <a:noFill/>
                <a:prstDash val="solid"/>
                <a:miter/>
              </a:ln>
            </p:spPr>
            <p:txBody>
              <a:bodyPr rtlCol="0" anchor="ctr"/>
              <a:lstStyle/>
              <a:p>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0" name="搜索：www.1314ppt.com  公众号：陈西设计之家。微信搜索即可。更多免费PPT模版教程等都可以在公众号内获取。PPT高端定制/发布会PPT设计微信：2090298045【陈西】"/>
              <p:cNvSpPr/>
              <p:nvPr>
                <p:custDataLst>
                  <p:tags r:id="rId16"/>
                </p:custDataLst>
              </p:nvPr>
            </p:nvSpPr>
            <p:spPr>
              <a:xfrm>
                <a:off x="5579419" y="5729967"/>
                <a:ext cx="86625" cy="173250"/>
              </a:xfrm>
              <a:custGeom>
                <a:avLst/>
                <a:gdLst>
                  <a:gd name="connsiteX0" fmla="*/ 0 w 86625"/>
                  <a:gd name="connsiteY0" fmla="*/ 0 h 173250"/>
                  <a:gd name="connsiteX1" fmla="*/ 0 w 86625"/>
                  <a:gd name="connsiteY1" fmla="*/ 24750 h 173250"/>
                  <a:gd name="connsiteX2" fmla="*/ 61875 w 86625"/>
                  <a:gd name="connsiteY2" fmla="*/ 86625 h 173250"/>
                  <a:gd name="connsiteX3" fmla="*/ 0 w 86625"/>
                  <a:gd name="connsiteY3" fmla="*/ 148500 h 173250"/>
                  <a:gd name="connsiteX4" fmla="*/ 0 w 86625"/>
                  <a:gd name="connsiteY4" fmla="*/ 173250 h 173250"/>
                  <a:gd name="connsiteX5" fmla="*/ 86625 w 86625"/>
                  <a:gd name="connsiteY5" fmla="*/ 86625 h 173250"/>
                  <a:gd name="connsiteX6" fmla="*/ 0 w 86625"/>
                  <a:gd name="connsiteY6" fmla="*/ 0 h 17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625" h="173250">
                    <a:moveTo>
                      <a:pt x="0" y="0"/>
                    </a:moveTo>
                    <a:lnTo>
                      <a:pt x="0" y="24750"/>
                    </a:lnTo>
                    <a:cubicBezTo>
                      <a:pt x="34173" y="24750"/>
                      <a:pt x="61875" y="52452"/>
                      <a:pt x="61875" y="86625"/>
                    </a:cubicBezTo>
                    <a:cubicBezTo>
                      <a:pt x="61875" y="120798"/>
                      <a:pt x="34173" y="148500"/>
                      <a:pt x="0" y="148500"/>
                    </a:cubicBezTo>
                    <a:lnTo>
                      <a:pt x="0" y="173250"/>
                    </a:lnTo>
                    <a:cubicBezTo>
                      <a:pt x="47842" y="173250"/>
                      <a:pt x="86625" y="134467"/>
                      <a:pt x="86625" y="86625"/>
                    </a:cubicBezTo>
                    <a:cubicBezTo>
                      <a:pt x="86625" y="38783"/>
                      <a:pt x="47842" y="0"/>
                      <a:pt x="0" y="0"/>
                    </a:cubicBezTo>
                    <a:close/>
                  </a:path>
                </a:pathLst>
              </a:custGeom>
              <a:grpFill/>
              <a:ln w="12204" cap="flat">
                <a:noFill/>
                <a:prstDash val="solid"/>
                <a:miter/>
              </a:ln>
            </p:spPr>
            <p:txBody>
              <a:bodyPr rtlCol="0" anchor="ctr"/>
              <a:lstStyle/>
              <a:p>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1" name="任意多边形: 形状 20"/>
              <p:cNvSpPr/>
              <p:nvPr>
                <p:custDataLst>
                  <p:tags r:id="rId17"/>
                </p:custDataLst>
              </p:nvPr>
            </p:nvSpPr>
            <p:spPr>
              <a:xfrm>
                <a:off x="5393794" y="5729967"/>
                <a:ext cx="173250" cy="173250"/>
              </a:xfrm>
              <a:custGeom>
                <a:avLst/>
                <a:gdLst>
                  <a:gd name="connsiteX0" fmla="*/ 86625 w 173250"/>
                  <a:gd name="connsiteY0" fmla="*/ 24750 h 173250"/>
                  <a:gd name="connsiteX1" fmla="*/ 148500 w 173250"/>
                  <a:gd name="connsiteY1" fmla="*/ 86625 h 173250"/>
                  <a:gd name="connsiteX2" fmla="*/ 86625 w 173250"/>
                  <a:gd name="connsiteY2" fmla="*/ 148500 h 173250"/>
                  <a:gd name="connsiteX3" fmla="*/ 24750 w 173250"/>
                  <a:gd name="connsiteY3" fmla="*/ 86625 h 173250"/>
                  <a:gd name="connsiteX4" fmla="*/ 86625 w 173250"/>
                  <a:gd name="connsiteY4" fmla="*/ 24750 h 173250"/>
                  <a:gd name="connsiteX5" fmla="*/ 86625 w 173250"/>
                  <a:gd name="connsiteY5" fmla="*/ 0 h 173250"/>
                  <a:gd name="connsiteX6" fmla="*/ 0 w 173250"/>
                  <a:gd name="connsiteY6" fmla="*/ 86625 h 173250"/>
                  <a:gd name="connsiteX7" fmla="*/ 86625 w 173250"/>
                  <a:gd name="connsiteY7" fmla="*/ 173250 h 173250"/>
                  <a:gd name="connsiteX8" fmla="*/ 173250 w 173250"/>
                  <a:gd name="connsiteY8" fmla="*/ 86625 h 173250"/>
                  <a:gd name="connsiteX9" fmla="*/ 86625 w 173250"/>
                  <a:gd name="connsiteY9" fmla="*/ 0 h 17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3250" h="173250">
                    <a:moveTo>
                      <a:pt x="86625" y="24750"/>
                    </a:moveTo>
                    <a:cubicBezTo>
                      <a:pt x="120798" y="24750"/>
                      <a:pt x="148500" y="52452"/>
                      <a:pt x="148500" y="86625"/>
                    </a:cubicBezTo>
                    <a:cubicBezTo>
                      <a:pt x="148500" y="120798"/>
                      <a:pt x="120798" y="148500"/>
                      <a:pt x="86625" y="148500"/>
                    </a:cubicBezTo>
                    <a:cubicBezTo>
                      <a:pt x="52452" y="148500"/>
                      <a:pt x="24750" y="120798"/>
                      <a:pt x="24750" y="86625"/>
                    </a:cubicBezTo>
                    <a:cubicBezTo>
                      <a:pt x="24750" y="52452"/>
                      <a:pt x="52452" y="24750"/>
                      <a:pt x="86625" y="24750"/>
                    </a:cubicBezTo>
                    <a:moveTo>
                      <a:pt x="86625" y="0"/>
                    </a:moveTo>
                    <a:cubicBezTo>
                      <a:pt x="38783" y="0"/>
                      <a:pt x="0" y="38783"/>
                      <a:pt x="0" y="86625"/>
                    </a:cubicBezTo>
                    <a:cubicBezTo>
                      <a:pt x="0" y="134467"/>
                      <a:pt x="38783" y="173250"/>
                      <a:pt x="86625" y="173250"/>
                    </a:cubicBezTo>
                    <a:cubicBezTo>
                      <a:pt x="134467" y="173250"/>
                      <a:pt x="173250" y="134467"/>
                      <a:pt x="173250" y="86625"/>
                    </a:cubicBezTo>
                    <a:cubicBezTo>
                      <a:pt x="173250" y="38783"/>
                      <a:pt x="134467" y="0"/>
                      <a:pt x="86625" y="0"/>
                    </a:cubicBezTo>
                    <a:close/>
                  </a:path>
                </a:pathLst>
              </a:custGeom>
              <a:grpFill/>
              <a:ln w="12204" cap="flat">
                <a:noFill/>
                <a:prstDash val="solid"/>
                <a:miter/>
              </a:ln>
            </p:spPr>
            <p:txBody>
              <a:bodyPr rtlCol="0" anchor="ctr"/>
              <a:lstStyle/>
              <a:p>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grpSp>
      <p:grpSp>
        <p:nvGrpSpPr>
          <p:cNvPr id="4" name="组合 3"/>
          <p:cNvGrpSpPr/>
          <p:nvPr/>
        </p:nvGrpSpPr>
        <p:grpSpPr>
          <a:xfrm>
            <a:off x="5968207" y="2831030"/>
            <a:ext cx="5166755" cy="1583963"/>
            <a:chOff x="9189" y="7683"/>
            <a:chExt cx="8137" cy="2510"/>
          </a:xfrm>
        </p:grpSpPr>
        <p:sp>
          <p:nvSpPr>
            <p:cNvPr id="12" name="搜索：www.1314ppt.com  公众号：陈西设计之家。微信搜索即可。更多免费PPT模版教程等都可以在公众号内获取。PPT高端定制/发布会PPT设计微信：2090298045【陈西】"/>
            <p:cNvSpPr/>
            <p:nvPr>
              <p:custDataLst>
                <p:tags r:id="rId18"/>
              </p:custDataLst>
            </p:nvPr>
          </p:nvSpPr>
          <p:spPr>
            <a:xfrm>
              <a:off x="9189" y="7683"/>
              <a:ext cx="8137" cy="2206"/>
            </a:xfrm>
            <a:prstGeom prst="rect">
              <a:avLst/>
            </a:prstGeom>
            <a:gradFill flip="none" rotWithShape="1">
              <a:gsLst>
                <a:gs pos="55000">
                  <a:schemeClr val="bg1"/>
                </a:gs>
                <a:gs pos="100000">
                  <a:schemeClr val="bg1"/>
                </a:gs>
              </a:gsLst>
              <a:lin ang="2700000" scaled="1"/>
              <a:tileRect/>
            </a:gradFill>
            <a:ln>
              <a:noFill/>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5" name="椭圆 34"/>
            <p:cNvSpPr/>
            <p:nvPr>
              <p:custDataLst>
                <p:tags r:id="rId19"/>
              </p:custDataLst>
            </p:nvPr>
          </p:nvSpPr>
          <p:spPr>
            <a:xfrm>
              <a:off x="9722" y="8080"/>
              <a:ext cx="1453" cy="1463"/>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0" name="搜索：www.1314ppt.com  公众号：陈西设计之家。微信搜索即可。更多免费PPT模版教程等都可以在公众号内获取。PPT高端定制/发布会PPT设计微信：2090298045【陈西】"/>
            <p:cNvSpPr txBox="1"/>
            <p:nvPr>
              <p:custDataLst>
                <p:tags r:id="rId20"/>
              </p:custDataLst>
            </p:nvPr>
          </p:nvSpPr>
          <p:spPr>
            <a:xfrm>
              <a:off x="11479" y="7954"/>
              <a:ext cx="2358" cy="584"/>
            </a:xfrm>
            <a:prstGeom prst="rect">
              <a:avLst/>
            </a:prstGeom>
            <a:noFill/>
          </p:spPr>
          <p:txBody>
            <a:bodyPr wrap="square" rtlCol="0">
              <a:spAutoFit/>
            </a:bodyPr>
            <a:lstStyle/>
            <a:p>
              <a:pPr defTabSz="914400">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再就业意愿</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1" name="小标题"/>
            <p:cNvSpPr txBox="1"/>
            <p:nvPr>
              <p:custDataLst>
                <p:tags r:id="rId21"/>
              </p:custDataLst>
            </p:nvPr>
          </p:nvSpPr>
          <p:spPr>
            <a:xfrm>
              <a:off x="11479" y="8411"/>
              <a:ext cx="5576" cy="1782"/>
            </a:xfrm>
            <a:prstGeom prst="rect">
              <a:avLst/>
            </a:prstGeom>
            <a:noFill/>
          </p:spPr>
          <p:txBody>
            <a:bodyPr wrap="square" rtlCol="0">
              <a:spAutoFit/>
            </a:bodyPr>
            <a:lstStyle/>
            <a:p>
              <a:pPr>
                <a:lnSpc>
                  <a:spcPct val="140000"/>
                </a:lnSpc>
              </a:pPr>
              <a:r>
                <a:rPr lang="zh-CN" altLang="en-US" sz="1200" dirty="0">
                  <a:sym typeface="+mn-ea"/>
                </a:rPr>
                <a:t>受收入效应与替代效应共同影响</a:t>
              </a:r>
              <a:endParaRPr lang="zh-CN" altLang="en-US" sz="1200" dirty="0">
                <a:sym typeface="+mn-ea"/>
              </a:endParaRPr>
            </a:p>
            <a:p>
              <a:pPr>
                <a:lnSpc>
                  <a:spcPct val="140000"/>
                </a:lnSpc>
              </a:pPr>
              <a:r>
                <a:rPr lang="zh-CN" altLang="en-US" sz="1200" dirty="0">
                  <a:sym typeface="+mn-ea"/>
                </a:rPr>
                <a:t>当养老金无法满足生活需求时，收入效应促使老年人被动就业</a:t>
              </a:r>
              <a:endParaRPr lang="zh-CN" altLang="en-US" sz="1200" dirty="0">
                <a:sym typeface="+mn-ea"/>
              </a:endParaRPr>
            </a:p>
            <a:p>
              <a:pPr>
                <a:lnSpc>
                  <a:spcPct val="140000"/>
                </a:lnSpc>
              </a:pP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nvGrpSpPr>
            <p:cNvPr id="14" name="组合 13"/>
            <p:cNvGrpSpPr/>
            <p:nvPr>
              <p:custDataLst>
                <p:tags r:id="rId22"/>
              </p:custDataLst>
            </p:nvPr>
          </p:nvGrpSpPr>
          <p:grpSpPr>
            <a:xfrm>
              <a:off x="10115" y="8497"/>
              <a:ext cx="674" cy="630"/>
              <a:chOff x="5354249" y="2749352"/>
              <a:chExt cx="344525" cy="321971"/>
            </a:xfrm>
            <a:solidFill>
              <a:schemeClr val="bg1"/>
            </a:solidFill>
          </p:grpSpPr>
          <p:sp>
            <p:nvSpPr>
              <p:cNvPr id="15" name="搜索：www.1314ppt.com  公众号：陈西设计之家。微信搜索即可。更多免费PPT模版教程等都可以在公众号内获取。PPT高端定制/发布会PPT设计微信：2090298045【陈西】"/>
              <p:cNvSpPr/>
              <p:nvPr>
                <p:custDataLst>
                  <p:tags r:id="rId23"/>
                </p:custDataLst>
              </p:nvPr>
            </p:nvSpPr>
            <p:spPr>
              <a:xfrm>
                <a:off x="5465683" y="2868677"/>
                <a:ext cx="190664" cy="202646"/>
              </a:xfrm>
              <a:custGeom>
                <a:avLst/>
                <a:gdLst>
                  <a:gd name="connsiteX0" fmla="*/ 148678 w 191870"/>
                  <a:gd name="connsiteY0" fmla="*/ 128292 h 202541"/>
                  <a:gd name="connsiteX1" fmla="*/ 123462 w 191870"/>
                  <a:gd name="connsiteY1" fmla="*/ 138334 h 202541"/>
                  <a:gd name="connsiteX2" fmla="*/ 73917 w 191870"/>
                  <a:gd name="connsiteY2" fmla="*/ 108606 h 202541"/>
                  <a:gd name="connsiteX3" fmla="*/ 73917 w 191870"/>
                  <a:gd name="connsiteY3" fmla="*/ 98478 h 202541"/>
                  <a:gd name="connsiteX4" fmla="*/ 123462 w 191870"/>
                  <a:gd name="connsiteY4" fmla="*/ 68750 h 202541"/>
                  <a:gd name="connsiteX5" fmla="*/ 180274 w 191870"/>
                  <a:gd name="connsiteY5" fmla="*/ 68408 h 202541"/>
                  <a:gd name="connsiteX6" fmla="*/ 179933 w 191870"/>
                  <a:gd name="connsiteY6" fmla="*/ 11596 h 202541"/>
                  <a:gd name="connsiteX7" fmla="*/ 123121 w 191870"/>
                  <a:gd name="connsiteY7" fmla="*/ 11937 h 202541"/>
                  <a:gd name="connsiteX8" fmla="*/ 112064 w 191870"/>
                  <a:gd name="connsiteY8" fmla="*/ 46731 h 202541"/>
                  <a:gd name="connsiteX9" fmla="*/ 62518 w 191870"/>
                  <a:gd name="connsiteY9" fmla="*/ 76459 h 202541"/>
                  <a:gd name="connsiteX10" fmla="*/ 10042 w 191870"/>
                  <a:gd name="connsiteY10" fmla="*/ 78149 h 202541"/>
                  <a:gd name="connsiteX11" fmla="*/ 11732 w 191870"/>
                  <a:gd name="connsiteY11" fmla="*/ 130625 h 202541"/>
                  <a:gd name="connsiteX12" fmla="*/ 62518 w 191870"/>
                  <a:gd name="connsiteY12" fmla="*/ 130625 h 202541"/>
                  <a:gd name="connsiteX13" fmla="*/ 112064 w 191870"/>
                  <a:gd name="connsiteY13" fmla="*/ 160353 h 202541"/>
                  <a:gd name="connsiteX14" fmla="*/ 111553 w 191870"/>
                  <a:gd name="connsiteY14" fmla="*/ 165417 h 202541"/>
                  <a:gd name="connsiteX15" fmla="*/ 148678 w 191870"/>
                  <a:gd name="connsiteY15" fmla="*/ 202542 h 202541"/>
                  <a:gd name="connsiteX16" fmla="*/ 185803 w 191870"/>
                  <a:gd name="connsiteY16" fmla="*/ 165417 h 202541"/>
                  <a:gd name="connsiteX17" fmla="*/ 148678 w 191870"/>
                  <a:gd name="connsiteY17" fmla="*/ 128292 h 202541"/>
                  <a:gd name="connsiteX18" fmla="*/ 148678 w 191870"/>
                  <a:gd name="connsiteY18" fmla="*/ 29292 h 202541"/>
                  <a:gd name="connsiteX19" fmla="*/ 161053 w 191870"/>
                  <a:gd name="connsiteY19" fmla="*/ 41667 h 202541"/>
                  <a:gd name="connsiteX20" fmla="*/ 148678 w 191870"/>
                  <a:gd name="connsiteY20" fmla="*/ 54042 h 202541"/>
                  <a:gd name="connsiteX21" fmla="*/ 136303 w 191870"/>
                  <a:gd name="connsiteY21" fmla="*/ 41667 h 202541"/>
                  <a:gd name="connsiteX22" fmla="*/ 148678 w 191870"/>
                  <a:gd name="connsiteY22" fmla="*/ 29292 h 202541"/>
                  <a:gd name="connsiteX23" fmla="*/ 37303 w 191870"/>
                  <a:gd name="connsiteY23" fmla="*/ 115917 h 202541"/>
                  <a:gd name="connsiteX24" fmla="*/ 24928 w 191870"/>
                  <a:gd name="connsiteY24" fmla="*/ 103542 h 202541"/>
                  <a:gd name="connsiteX25" fmla="*/ 37303 w 191870"/>
                  <a:gd name="connsiteY25" fmla="*/ 91167 h 202541"/>
                  <a:gd name="connsiteX26" fmla="*/ 49678 w 191870"/>
                  <a:gd name="connsiteY26" fmla="*/ 103542 h 202541"/>
                  <a:gd name="connsiteX27" fmla="*/ 37303 w 191870"/>
                  <a:gd name="connsiteY27" fmla="*/ 115917 h 202541"/>
                  <a:gd name="connsiteX28" fmla="*/ 148678 w 191870"/>
                  <a:gd name="connsiteY28" fmla="*/ 177792 h 202541"/>
                  <a:gd name="connsiteX29" fmla="*/ 136303 w 191870"/>
                  <a:gd name="connsiteY29" fmla="*/ 165417 h 202541"/>
                  <a:gd name="connsiteX30" fmla="*/ 148678 w 191870"/>
                  <a:gd name="connsiteY30" fmla="*/ 153042 h 202541"/>
                  <a:gd name="connsiteX31" fmla="*/ 161053 w 191870"/>
                  <a:gd name="connsiteY31" fmla="*/ 165417 h 202541"/>
                  <a:gd name="connsiteX32" fmla="*/ 148678 w 191870"/>
                  <a:gd name="connsiteY32" fmla="*/ 177792 h 202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1870" h="202541">
                    <a:moveTo>
                      <a:pt x="148678" y="128292"/>
                    </a:moveTo>
                    <a:cubicBezTo>
                      <a:pt x="139302" y="128312"/>
                      <a:pt x="130285" y="131903"/>
                      <a:pt x="123462" y="138334"/>
                    </a:cubicBezTo>
                    <a:lnTo>
                      <a:pt x="73917" y="108606"/>
                    </a:lnTo>
                    <a:cubicBezTo>
                      <a:pt x="74598" y="105264"/>
                      <a:pt x="74598" y="101820"/>
                      <a:pt x="73917" y="98478"/>
                    </a:cubicBezTo>
                    <a:lnTo>
                      <a:pt x="123462" y="68750"/>
                    </a:lnTo>
                    <a:cubicBezTo>
                      <a:pt x="139245" y="84344"/>
                      <a:pt x="164680" y="84191"/>
                      <a:pt x="180274" y="68408"/>
                    </a:cubicBezTo>
                    <a:cubicBezTo>
                      <a:pt x="195868" y="52626"/>
                      <a:pt x="195716" y="27190"/>
                      <a:pt x="179933" y="11596"/>
                    </a:cubicBezTo>
                    <a:cubicBezTo>
                      <a:pt x="164151" y="-3998"/>
                      <a:pt x="138715" y="-3845"/>
                      <a:pt x="123121" y="11937"/>
                    </a:cubicBezTo>
                    <a:cubicBezTo>
                      <a:pt x="114074" y="21094"/>
                      <a:pt x="109962" y="34031"/>
                      <a:pt x="112064" y="46731"/>
                    </a:cubicBezTo>
                    <a:lnTo>
                      <a:pt x="62518" y="76459"/>
                    </a:lnTo>
                    <a:cubicBezTo>
                      <a:pt x="47561" y="62435"/>
                      <a:pt x="24066" y="63192"/>
                      <a:pt x="10042" y="78149"/>
                    </a:cubicBezTo>
                    <a:cubicBezTo>
                      <a:pt x="-3982" y="93106"/>
                      <a:pt x="-3225" y="116601"/>
                      <a:pt x="11732" y="130625"/>
                    </a:cubicBezTo>
                    <a:cubicBezTo>
                      <a:pt x="26013" y="144014"/>
                      <a:pt x="48237" y="144014"/>
                      <a:pt x="62518" y="130625"/>
                    </a:cubicBezTo>
                    <a:lnTo>
                      <a:pt x="112064" y="160353"/>
                    </a:lnTo>
                    <a:cubicBezTo>
                      <a:pt x="111777" y="162027"/>
                      <a:pt x="111606" y="163719"/>
                      <a:pt x="111553" y="165417"/>
                    </a:cubicBezTo>
                    <a:cubicBezTo>
                      <a:pt x="111553" y="185921"/>
                      <a:pt x="128174" y="202542"/>
                      <a:pt x="148678" y="202542"/>
                    </a:cubicBezTo>
                    <a:cubicBezTo>
                      <a:pt x="169181" y="202542"/>
                      <a:pt x="185803" y="185921"/>
                      <a:pt x="185803" y="165417"/>
                    </a:cubicBezTo>
                    <a:cubicBezTo>
                      <a:pt x="185803" y="144913"/>
                      <a:pt x="169181" y="128292"/>
                      <a:pt x="148678" y="128292"/>
                    </a:cubicBezTo>
                    <a:close/>
                    <a:moveTo>
                      <a:pt x="148678" y="29292"/>
                    </a:moveTo>
                    <a:cubicBezTo>
                      <a:pt x="155512" y="29292"/>
                      <a:pt x="161053" y="34832"/>
                      <a:pt x="161053" y="41667"/>
                    </a:cubicBezTo>
                    <a:cubicBezTo>
                      <a:pt x="161053" y="48501"/>
                      <a:pt x="155512" y="54042"/>
                      <a:pt x="148678" y="54042"/>
                    </a:cubicBezTo>
                    <a:cubicBezTo>
                      <a:pt x="141843" y="54042"/>
                      <a:pt x="136303" y="48501"/>
                      <a:pt x="136303" y="41667"/>
                    </a:cubicBezTo>
                    <a:cubicBezTo>
                      <a:pt x="136308" y="34835"/>
                      <a:pt x="141845" y="29297"/>
                      <a:pt x="148678" y="29292"/>
                    </a:cubicBezTo>
                    <a:close/>
                    <a:moveTo>
                      <a:pt x="37303" y="115917"/>
                    </a:moveTo>
                    <a:cubicBezTo>
                      <a:pt x="30468" y="115917"/>
                      <a:pt x="24928" y="110376"/>
                      <a:pt x="24928" y="103542"/>
                    </a:cubicBezTo>
                    <a:cubicBezTo>
                      <a:pt x="24928" y="96707"/>
                      <a:pt x="30468" y="91167"/>
                      <a:pt x="37303" y="91167"/>
                    </a:cubicBezTo>
                    <a:cubicBezTo>
                      <a:pt x="44137" y="91167"/>
                      <a:pt x="49678" y="96707"/>
                      <a:pt x="49678" y="103542"/>
                    </a:cubicBezTo>
                    <a:cubicBezTo>
                      <a:pt x="49672" y="110374"/>
                      <a:pt x="44135" y="115911"/>
                      <a:pt x="37303" y="115917"/>
                    </a:cubicBezTo>
                    <a:close/>
                    <a:moveTo>
                      <a:pt x="148678" y="177792"/>
                    </a:moveTo>
                    <a:cubicBezTo>
                      <a:pt x="141843" y="177792"/>
                      <a:pt x="136303" y="172251"/>
                      <a:pt x="136303" y="165417"/>
                    </a:cubicBezTo>
                    <a:cubicBezTo>
                      <a:pt x="136303" y="158582"/>
                      <a:pt x="141843" y="153042"/>
                      <a:pt x="148678" y="153042"/>
                    </a:cubicBezTo>
                    <a:cubicBezTo>
                      <a:pt x="155512" y="153042"/>
                      <a:pt x="161053" y="158582"/>
                      <a:pt x="161053" y="165417"/>
                    </a:cubicBezTo>
                    <a:cubicBezTo>
                      <a:pt x="161047" y="172249"/>
                      <a:pt x="155510" y="177786"/>
                      <a:pt x="148678" y="177792"/>
                    </a:cubicBezTo>
                    <a:close/>
                  </a:path>
                </a:pathLst>
              </a:custGeom>
              <a:grpFill/>
              <a:ln w="12204" cap="flat">
                <a:noFill/>
                <a:prstDash val="solid"/>
                <a:miter/>
              </a:ln>
            </p:spPr>
            <p:txBody>
              <a:bodyPr rtlCol="0" anchor="ctr"/>
              <a:lstStyle/>
              <a:p>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6" name="任意多边形: 形状 15"/>
              <p:cNvSpPr/>
              <p:nvPr>
                <p:custDataLst>
                  <p:tags r:id="rId24"/>
                </p:custDataLst>
              </p:nvPr>
            </p:nvSpPr>
            <p:spPr>
              <a:xfrm>
                <a:off x="5354249" y="2749352"/>
                <a:ext cx="344525" cy="296972"/>
              </a:xfrm>
              <a:custGeom>
                <a:avLst/>
                <a:gdLst>
                  <a:gd name="connsiteX0" fmla="*/ 74250 w 346500"/>
                  <a:gd name="connsiteY0" fmla="*/ 297000 h 297000"/>
                  <a:gd name="connsiteX1" fmla="*/ 24750 w 346500"/>
                  <a:gd name="connsiteY1" fmla="*/ 297000 h 297000"/>
                  <a:gd name="connsiteX2" fmla="*/ 0 w 346500"/>
                  <a:gd name="connsiteY2" fmla="*/ 272250 h 297000"/>
                  <a:gd name="connsiteX3" fmla="*/ 0 w 346500"/>
                  <a:gd name="connsiteY3" fmla="*/ 24750 h 297000"/>
                  <a:gd name="connsiteX4" fmla="*/ 24750 w 346500"/>
                  <a:gd name="connsiteY4" fmla="*/ 0 h 297000"/>
                  <a:gd name="connsiteX5" fmla="*/ 118623 w 346500"/>
                  <a:gd name="connsiteY5" fmla="*/ 0 h 297000"/>
                  <a:gd name="connsiteX6" fmla="*/ 136125 w 346500"/>
                  <a:gd name="connsiteY6" fmla="*/ 7251 h 297000"/>
                  <a:gd name="connsiteX7" fmla="*/ 178377 w 346500"/>
                  <a:gd name="connsiteY7" fmla="*/ 49500 h 297000"/>
                  <a:gd name="connsiteX8" fmla="*/ 321750 w 346500"/>
                  <a:gd name="connsiteY8" fmla="*/ 49500 h 297000"/>
                  <a:gd name="connsiteX9" fmla="*/ 346500 w 346500"/>
                  <a:gd name="connsiteY9" fmla="*/ 74250 h 297000"/>
                  <a:gd name="connsiteX10" fmla="*/ 346500 w 346500"/>
                  <a:gd name="connsiteY10" fmla="*/ 173250 h 297000"/>
                  <a:gd name="connsiteX11" fmla="*/ 321750 w 346500"/>
                  <a:gd name="connsiteY11" fmla="*/ 173250 h 297000"/>
                  <a:gd name="connsiteX12" fmla="*/ 321750 w 346500"/>
                  <a:gd name="connsiteY12" fmla="*/ 74250 h 297000"/>
                  <a:gd name="connsiteX13" fmla="*/ 168123 w 346500"/>
                  <a:gd name="connsiteY13" fmla="*/ 74250 h 297000"/>
                  <a:gd name="connsiteX14" fmla="*/ 118623 w 346500"/>
                  <a:gd name="connsiteY14" fmla="*/ 24750 h 297000"/>
                  <a:gd name="connsiteX15" fmla="*/ 24750 w 346500"/>
                  <a:gd name="connsiteY15" fmla="*/ 24750 h 297000"/>
                  <a:gd name="connsiteX16" fmla="*/ 24750 w 346500"/>
                  <a:gd name="connsiteY16" fmla="*/ 272250 h 297000"/>
                  <a:gd name="connsiteX17" fmla="*/ 74250 w 346500"/>
                  <a:gd name="connsiteY17" fmla="*/ 272250 h 29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6500" h="297000">
                    <a:moveTo>
                      <a:pt x="74250" y="297000"/>
                    </a:moveTo>
                    <a:lnTo>
                      <a:pt x="24750" y="297000"/>
                    </a:lnTo>
                    <a:cubicBezTo>
                      <a:pt x="11087" y="296984"/>
                      <a:pt x="16" y="285913"/>
                      <a:pt x="0" y="272250"/>
                    </a:cubicBezTo>
                    <a:lnTo>
                      <a:pt x="0" y="24750"/>
                    </a:lnTo>
                    <a:cubicBezTo>
                      <a:pt x="16" y="11088"/>
                      <a:pt x="11087" y="16"/>
                      <a:pt x="24750" y="0"/>
                    </a:cubicBezTo>
                    <a:lnTo>
                      <a:pt x="118623" y="0"/>
                    </a:lnTo>
                    <a:cubicBezTo>
                      <a:pt x="125191" y="-18"/>
                      <a:pt x="131494" y="2593"/>
                      <a:pt x="136125" y="7251"/>
                    </a:cubicBezTo>
                    <a:lnTo>
                      <a:pt x="178377" y="49500"/>
                    </a:lnTo>
                    <a:lnTo>
                      <a:pt x="321750" y="49500"/>
                    </a:lnTo>
                    <a:cubicBezTo>
                      <a:pt x="335413" y="49516"/>
                      <a:pt x="346484" y="60588"/>
                      <a:pt x="346500" y="74250"/>
                    </a:cubicBezTo>
                    <a:lnTo>
                      <a:pt x="346500" y="173250"/>
                    </a:lnTo>
                    <a:lnTo>
                      <a:pt x="321750" y="173250"/>
                    </a:lnTo>
                    <a:lnTo>
                      <a:pt x="321750" y="74250"/>
                    </a:lnTo>
                    <a:lnTo>
                      <a:pt x="168123" y="74250"/>
                    </a:lnTo>
                    <a:lnTo>
                      <a:pt x="118623" y="24750"/>
                    </a:lnTo>
                    <a:lnTo>
                      <a:pt x="24750" y="24750"/>
                    </a:lnTo>
                    <a:lnTo>
                      <a:pt x="24750" y="272250"/>
                    </a:lnTo>
                    <a:lnTo>
                      <a:pt x="74250" y="272250"/>
                    </a:lnTo>
                    <a:close/>
                  </a:path>
                </a:pathLst>
              </a:custGeom>
              <a:grpFill/>
              <a:ln w="12204" cap="flat">
                <a:noFill/>
                <a:prstDash val="solid"/>
                <a:miter/>
              </a:ln>
            </p:spPr>
            <p:txBody>
              <a:bodyPr rtlCol="0" anchor="ctr"/>
              <a:lstStyle/>
              <a:p>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grpSp>
      <p:sp>
        <p:nvSpPr>
          <p:cNvPr id="45" name="小标题"/>
          <p:cNvSpPr txBox="1"/>
          <p:nvPr/>
        </p:nvSpPr>
        <p:spPr>
          <a:xfrm>
            <a:off x="939951" y="3522955"/>
            <a:ext cx="3840232" cy="1598295"/>
          </a:xfrm>
          <a:prstGeom prst="rect">
            <a:avLst/>
          </a:prstGeom>
          <a:noFill/>
        </p:spPr>
        <p:txBody>
          <a:bodyPr wrap="square" rtlCol="0">
            <a:spAutoFit/>
          </a:bodyPr>
          <a:lstStyle/>
          <a:p>
            <a:pPr>
              <a:lnSpc>
                <a:spcPct val="140000"/>
              </a:lnSpc>
            </a:pPr>
            <a:r>
              <a:rPr lang="zh-CN" altLang="en-US" sz="1400" dirty="0">
                <a:sym typeface="+mn-ea"/>
              </a:rPr>
              <a:t>从个体决策的微观视角出发，健康体能条件、再就业意愿和数字获取能力构成了老年劳动力再就业行为的浅层影响因素，是老年劳动力踏入再就业市场的前置条件与直接驱动力，深刻影响着个体的就业决策与参与程度</a:t>
            </a:r>
            <a:endPar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mn-ea"/>
            </a:endParaRPr>
          </a:p>
        </p:txBody>
      </p:sp>
      <p:grpSp>
        <p:nvGrpSpPr>
          <p:cNvPr id="50" name="组合 49"/>
          <p:cNvGrpSpPr/>
          <p:nvPr/>
        </p:nvGrpSpPr>
        <p:grpSpPr>
          <a:xfrm>
            <a:off x="1058919" y="3255815"/>
            <a:ext cx="2998660" cy="68211"/>
            <a:chOff x="925285" y="3584875"/>
            <a:chExt cx="2998824" cy="68214"/>
          </a:xfrm>
          <a:solidFill>
            <a:srgbClr val="4F5260"/>
          </a:solidFill>
        </p:grpSpPr>
        <p:cxnSp>
          <p:nvCxnSpPr>
            <p:cNvPr id="48" name="搜索：www.1314ppt.com  公众号：陈西设计之家。微信搜索即可。更多免费PPT模版教程等都可以在公众号内获取。PPT高端定制/发布会PPT设计微信：2090298045【陈西】"/>
            <p:cNvCxnSpPr/>
            <p:nvPr/>
          </p:nvCxnSpPr>
          <p:spPr>
            <a:xfrm>
              <a:off x="1341732" y="3618982"/>
              <a:ext cx="2582377" cy="0"/>
            </a:xfrm>
            <a:prstGeom prst="line">
              <a:avLst/>
            </a:prstGeom>
            <a:grpFill/>
            <a:ln w="12700">
              <a:solidFill>
                <a:srgbClr val="4A82DE"/>
              </a:solidFil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925285" y="3584875"/>
              <a:ext cx="518756" cy="68214"/>
            </a:xfrm>
            <a:prstGeom prst="rect">
              <a:avLst/>
            </a:prstGeom>
            <a:solidFill>
              <a:srgbClr val="2E61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sp>
        <p:nvSpPr>
          <p:cNvPr id="52" name="搜索：www.1314ppt.com  公众号：陈西设计之家。微信搜索即可。更多免费PPT模版教程等都可以在公众号内获取。PPT高端定制/发布会PPT设计微信：2090298045【陈西】"/>
          <p:cNvSpPr txBox="1"/>
          <p:nvPr/>
        </p:nvSpPr>
        <p:spPr>
          <a:xfrm>
            <a:off x="277495" y="6214110"/>
            <a:ext cx="11623675" cy="392430"/>
          </a:xfrm>
          <a:prstGeom prst="rect">
            <a:avLst/>
          </a:prstGeom>
          <a:solidFill>
            <a:srgbClr val="2E61FA"/>
          </a:solidFill>
          <a:effectLst>
            <a:outerShdw blurRad="254000" dist="101600" dir="2700000" algn="tl" rotWithShape="0">
              <a:schemeClr val="dk1">
                <a:lumMod val="100000"/>
                <a:alpha val="15000"/>
              </a:schemeClr>
            </a:outerShdw>
          </a:effectLst>
        </p:spPr>
        <p:txBody>
          <a:bodyPr wrap="square" rtlCol="0">
            <a:spAutoFit/>
          </a:bodyPr>
          <a:lstStyle/>
          <a:p>
            <a:pPr algn="ctr">
              <a:lnSpc>
                <a:spcPct val="140000"/>
              </a:lnSpc>
            </a:pPr>
            <a:r>
              <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作为前置条件驱动与决策调节中枢层，从可行性、主动性和适配性三方面，深刻决定了老年劳动力再就业的</a:t>
            </a:r>
            <a:r>
              <a:rPr lang="en-US" altLang="zh-CN"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 </a:t>
            </a:r>
            <a:r>
              <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可能性边界、参与动力和就业质量</a:t>
            </a:r>
            <a:endParaRPr lang="zh-CN" altLang="en-US" sz="14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6" name="PA-文本框 8"/>
          <p:cNvSpPr txBox="1"/>
          <p:nvPr>
            <p:custDataLst>
              <p:tags r:id="rId25"/>
            </p:custDataLst>
          </p:nvPr>
        </p:nvSpPr>
        <p:spPr>
          <a:xfrm>
            <a:off x="1271905" y="485140"/>
            <a:ext cx="9225915"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三、老年劳动力</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再就业影响因素结果解析</a:t>
            </a:r>
            <a:r>
              <a:rPr lang="en-US" altLang="zh-CN"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浅层因素</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 name="矩形 5"/>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2" name="图片 2"/>
          <p:cNvPicPr>
            <a:picLocks noChangeAspect="1"/>
          </p:cNvPicPr>
          <p:nvPr/>
        </p:nvPicPr>
        <p:blipFill>
          <a:blip r:embed="rId26"/>
          <a:srcRect l="20762" t="26851" r="36830" b="49599"/>
          <a:stretch>
            <a:fillRect/>
          </a:stretch>
        </p:blipFill>
        <p:spPr>
          <a:xfrm>
            <a:off x="939800" y="1812290"/>
            <a:ext cx="4572000" cy="1155065"/>
          </a:xfrm>
          <a:prstGeom prst="rect">
            <a:avLst/>
          </a:prstGeom>
          <a:ln w="9525">
            <a:solidFill>
              <a:schemeClr val="tx1">
                <a:alpha val="0"/>
              </a:schemeClr>
            </a:solidFill>
          </a:ln>
          <a:effectLst>
            <a:outerShdw blurRad="50800" dist="38100" dir="2700000" algn="tl" rotWithShape="0">
              <a:prstClr val="black">
                <a:alpha val="40000"/>
              </a:prstClr>
            </a:outerShdw>
          </a:effectLst>
        </p:spPr>
      </p:pic>
    </p:spTree>
    <p:custDataLst>
      <p:tags r:id="rId27"/>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500"/>
                                        <p:tgtEl>
                                          <p:spTgt spid="5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fade">
                                      <p:cBhvr>
                                        <p:cTn id="3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5" grpId="1"/>
      <p:bldP spid="52" grpId="0" bldLvl="0" animBg="1"/>
      <p:bldP spid="52"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5430869" y="2142192"/>
            <a:ext cx="1234952" cy="3166131"/>
            <a:chOff x="5380630" y="1671155"/>
            <a:chExt cx="1430740" cy="3668090"/>
          </a:xfrm>
        </p:grpSpPr>
        <p:grpSp>
          <p:nvGrpSpPr>
            <p:cNvPr id="14" name="组合 13"/>
            <p:cNvGrpSpPr/>
            <p:nvPr/>
          </p:nvGrpSpPr>
          <p:grpSpPr>
            <a:xfrm>
              <a:off x="5380630" y="1671155"/>
              <a:ext cx="1430740" cy="1321130"/>
              <a:chOff x="2088852" y="2257934"/>
              <a:chExt cx="1430740" cy="1321130"/>
            </a:xfrm>
          </p:grpSpPr>
          <p:sp>
            <p:nvSpPr>
              <p:cNvPr id="15" name="弧形 14"/>
              <p:cNvSpPr/>
              <p:nvPr/>
            </p:nvSpPr>
            <p:spPr>
              <a:xfrm>
                <a:off x="2144310" y="2257934"/>
                <a:ext cx="1321130" cy="1321130"/>
              </a:xfrm>
              <a:prstGeom prst="arc">
                <a:avLst>
                  <a:gd name="adj1" fmla="val 10872636"/>
                  <a:gd name="adj2" fmla="val 0"/>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705"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6" name="椭圆 15"/>
              <p:cNvSpPr/>
              <p:nvPr/>
            </p:nvSpPr>
            <p:spPr>
              <a:xfrm>
                <a:off x="2088852"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7" name="椭圆 16"/>
              <p:cNvSpPr/>
              <p:nvPr/>
            </p:nvSpPr>
            <p:spPr>
              <a:xfrm>
                <a:off x="3408677"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grpSp>
          <p:nvGrpSpPr>
            <p:cNvPr id="18" name="组合 17"/>
            <p:cNvGrpSpPr/>
            <p:nvPr/>
          </p:nvGrpSpPr>
          <p:grpSpPr>
            <a:xfrm flipV="1">
              <a:off x="5380630" y="4018115"/>
              <a:ext cx="1430740" cy="1321130"/>
              <a:chOff x="2088852" y="2257934"/>
              <a:chExt cx="1430740" cy="1321130"/>
            </a:xfrm>
          </p:grpSpPr>
          <p:sp>
            <p:nvSpPr>
              <p:cNvPr id="19" name="弧形 18"/>
              <p:cNvSpPr/>
              <p:nvPr/>
            </p:nvSpPr>
            <p:spPr>
              <a:xfrm>
                <a:off x="2144310" y="2257934"/>
                <a:ext cx="1321130" cy="1321130"/>
              </a:xfrm>
              <a:prstGeom prst="arc">
                <a:avLst>
                  <a:gd name="adj1" fmla="val 10872636"/>
                  <a:gd name="adj2" fmla="val 0"/>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705"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0" name="椭圆 19"/>
              <p:cNvSpPr/>
              <p:nvPr/>
            </p:nvSpPr>
            <p:spPr>
              <a:xfrm>
                <a:off x="2088852"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1" name="椭圆 20"/>
              <p:cNvSpPr/>
              <p:nvPr/>
            </p:nvSpPr>
            <p:spPr>
              <a:xfrm>
                <a:off x="3408677"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grpSp>
      <p:grpSp>
        <p:nvGrpSpPr>
          <p:cNvPr id="23" name="组合 22"/>
          <p:cNvGrpSpPr/>
          <p:nvPr/>
        </p:nvGrpSpPr>
        <p:grpSpPr>
          <a:xfrm rot="16200000">
            <a:off x="5430869" y="2142193"/>
            <a:ext cx="1234952" cy="3166131"/>
            <a:chOff x="5380630" y="1671155"/>
            <a:chExt cx="1430740" cy="3668090"/>
          </a:xfrm>
        </p:grpSpPr>
        <p:grpSp>
          <p:nvGrpSpPr>
            <p:cNvPr id="24" name="组合 23"/>
            <p:cNvGrpSpPr/>
            <p:nvPr/>
          </p:nvGrpSpPr>
          <p:grpSpPr>
            <a:xfrm>
              <a:off x="5380630" y="1671155"/>
              <a:ext cx="1430740" cy="1321130"/>
              <a:chOff x="2088852" y="2257934"/>
              <a:chExt cx="1430740" cy="1321130"/>
            </a:xfrm>
          </p:grpSpPr>
          <p:sp>
            <p:nvSpPr>
              <p:cNvPr id="31" name="弧形 30"/>
              <p:cNvSpPr/>
              <p:nvPr/>
            </p:nvSpPr>
            <p:spPr>
              <a:xfrm>
                <a:off x="2144310" y="2257934"/>
                <a:ext cx="1321130" cy="1321130"/>
              </a:xfrm>
              <a:prstGeom prst="arc">
                <a:avLst>
                  <a:gd name="adj1" fmla="val 10872636"/>
                  <a:gd name="adj2" fmla="val 0"/>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705"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2" name="椭圆 31"/>
              <p:cNvSpPr/>
              <p:nvPr/>
            </p:nvSpPr>
            <p:spPr>
              <a:xfrm>
                <a:off x="2088852"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3" name="椭圆 32"/>
              <p:cNvSpPr/>
              <p:nvPr/>
            </p:nvSpPr>
            <p:spPr>
              <a:xfrm>
                <a:off x="3408677"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grpSp>
          <p:nvGrpSpPr>
            <p:cNvPr id="26" name="组合 25"/>
            <p:cNvGrpSpPr/>
            <p:nvPr/>
          </p:nvGrpSpPr>
          <p:grpSpPr>
            <a:xfrm flipV="1">
              <a:off x="5380630" y="4018115"/>
              <a:ext cx="1430740" cy="1321130"/>
              <a:chOff x="2088852" y="2257934"/>
              <a:chExt cx="1430740" cy="1321130"/>
            </a:xfrm>
          </p:grpSpPr>
          <p:sp>
            <p:nvSpPr>
              <p:cNvPr id="27" name="弧形 26"/>
              <p:cNvSpPr/>
              <p:nvPr/>
            </p:nvSpPr>
            <p:spPr>
              <a:xfrm>
                <a:off x="2144310" y="2257934"/>
                <a:ext cx="1321130" cy="1321130"/>
              </a:xfrm>
              <a:prstGeom prst="arc">
                <a:avLst>
                  <a:gd name="adj1" fmla="val 10872636"/>
                  <a:gd name="adj2" fmla="val 0"/>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705"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8" name="椭圆 27"/>
              <p:cNvSpPr/>
              <p:nvPr/>
            </p:nvSpPr>
            <p:spPr>
              <a:xfrm>
                <a:off x="2088852"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9" name="椭圆 28"/>
              <p:cNvSpPr/>
              <p:nvPr/>
            </p:nvSpPr>
            <p:spPr>
              <a:xfrm>
                <a:off x="3408677"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grpSp>
      <p:sp>
        <p:nvSpPr>
          <p:cNvPr id="34" name="椭圆 33"/>
          <p:cNvSpPr/>
          <p:nvPr/>
        </p:nvSpPr>
        <p:spPr>
          <a:xfrm flipH="1">
            <a:off x="5311694" y="2988608"/>
            <a:ext cx="1473301" cy="1473302"/>
          </a:xfrm>
          <a:prstGeom prst="ellipse">
            <a:avLst/>
          </a:prstGeom>
          <a:solidFill>
            <a:srgbClr val="2E61FA"/>
          </a:solidFill>
          <a:ln w="12700" cap="flat" cmpd="sng" algn="ctr">
            <a:noFill/>
            <a:prstDash val="solid"/>
            <a:miter lim="800000"/>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个体</a:t>
            </a:r>
            <a:r>
              <a:rPr lang="en-US" altLang="zh-CN" sz="2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&amp;</a:t>
            </a:r>
            <a:endParaRPr lang="en-US" altLang="zh-CN" sz="2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lgn="ctr"/>
            <a:r>
              <a:rPr lang="zh-CN" altLang="en-US" sz="2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宏观</a:t>
            </a:r>
            <a:endParaRPr lang="zh-CN" altLang="en-US" sz="28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3" name="矩形: 圆角 12"/>
          <p:cNvSpPr/>
          <p:nvPr/>
        </p:nvSpPr>
        <p:spPr>
          <a:xfrm>
            <a:off x="943610" y="1513840"/>
            <a:ext cx="3443605" cy="1860550"/>
          </a:xfrm>
          <a:prstGeom prst="roundRect">
            <a:avLst>
              <a:gd name="adj" fmla="val 10353"/>
            </a:avLst>
          </a:prstGeom>
          <a:solidFill>
            <a:srgbClr val="4A82DE"/>
          </a:solidFill>
          <a:ln w="12700" cap="flat" cmpd="sng" algn="ctr">
            <a:noFill/>
            <a:prstDash val="solid"/>
            <a:miter lim="800000"/>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2" name="椭圆 21"/>
          <p:cNvSpPr/>
          <p:nvPr/>
        </p:nvSpPr>
        <p:spPr>
          <a:xfrm>
            <a:off x="1127780" y="2029477"/>
            <a:ext cx="841888" cy="841888"/>
          </a:xfrm>
          <a:prstGeom prst="ellipse">
            <a:avLst/>
          </a:prstGeom>
          <a:blipFill dpi="0" rotWithShape="1">
            <a:blip r:embed="rId1" cstate="screen"/>
            <a:srcRect/>
            <a:stretch>
              <a:fillRect/>
            </a:stretch>
          </a:blipFill>
          <a:ln>
            <a:noFill/>
          </a:ln>
          <a:effectLst>
            <a:outerShdw blurRad="508000" dist="190500" dir="5400000" sx="95000" sy="95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tx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nvGrpSpPr>
          <p:cNvPr id="47" name="组合 46"/>
          <p:cNvGrpSpPr/>
          <p:nvPr/>
        </p:nvGrpSpPr>
        <p:grpSpPr>
          <a:xfrm>
            <a:off x="2047457" y="1732175"/>
            <a:ext cx="2495968" cy="1461135"/>
            <a:chOff x="1748827" y="1675364"/>
            <a:chExt cx="2891677" cy="1692783"/>
          </a:xfrm>
          <a:noFill/>
        </p:grpSpPr>
        <p:sp>
          <p:nvSpPr>
            <p:cNvPr id="36" name="文本框 35"/>
            <p:cNvSpPr txBox="1"/>
            <p:nvPr/>
          </p:nvSpPr>
          <p:spPr>
            <a:xfrm>
              <a:off x="1782668" y="2273466"/>
              <a:ext cx="2577061" cy="1094681"/>
            </a:xfrm>
            <a:prstGeom prst="rect">
              <a:avLst/>
            </a:prstGeom>
            <a:grp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600" b="1">
                  <a:solidFill>
                    <a:prstClr val="white"/>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indent="-171450" algn="l">
                <a:buFont typeface="Arial" panose="020B0604020202020204" pitchFamily="34" charset="0"/>
                <a:buChar char="•"/>
              </a:pPr>
              <a:r>
                <a:rPr lang="en-US" altLang="zh-CN" sz="1200" b="0">
                  <a:sym typeface="+mn-ea"/>
                </a:rPr>
                <a:t>“</a:t>
              </a:r>
              <a:r>
                <a:rPr lang="zh-CN" altLang="en-US" sz="1200" b="0">
                  <a:sym typeface="+mn-ea"/>
                </a:rPr>
                <a:t>技能偏向型技术进步</a:t>
              </a:r>
              <a:r>
                <a:rPr lang="en-US" altLang="zh-CN" sz="1200" b="0">
                  <a:sym typeface="+mn-ea"/>
                </a:rPr>
                <a:t>” </a:t>
              </a:r>
              <a:r>
                <a:rPr lang="zh-CN" altLang="en-US" sz="1200" b="0">
                  <a:sym typeface="+mn-ea"/>
                </a:rPr>
                <a:t>理论</a:t>
              </a:r>
              <a:endParaRPr lang="zh-CN" altLang="en-US" sz="1200" b="0">
                <a:sym typeface="+mn-ea"/>
              </a:endParaRPr>
            </a:p>
            <a:p>
              <a:pPr marL="171450" indent="-171450" algn="l">
                <a:buFont typeface="Arial" panose="020B0604020202020204" pitchFamily="34" charset="0"/>
                <a:buChar char="•"/>
              </a:pPr>
              <a:r>
                <a:rPr lang="zh-CN" altLang="en-US" sz="1200" b="0">
                  <a:sym typeface="+mn-ea"/>
                </a:rPr>
                <a:t>老年劳动力市场呈现明显的技能两极分化现象，低技能老年群体的就业空间被不断压缩</a:t>
              </a:r>
              <a:endParaRPr lang="zh-CN" altLang="en-US" sz="1200" b="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8" name="文本框 47"/>
            <p:cNvSpPr txBox="1"/>
            <p:nvPr/>
          </p:nvSpPr>
          <p:spPr>
            <a:xfrm>
              <a:off x="1748827" y="1675364"/>
              <a:ext cx="2891677" cy="506128"/>
            </a:xfrm>
            <a:prstGeom prst="rect">
              <a:avLst/>
            </a:prstGeom>
            <a:grp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600" b="1">
                  <a:solidFill>
                    <a:prstClr val="white"/>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技术替代风险</a:t>
              </a:r>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sp>
        <p:nvSpPr>
          <p:cNvPr id="51" name="矩形: 圆角 50"/>
          <p:cNvSpPr/>
          <p:nvPr/>
        </p:nvSpPr>
        <p:spPr>
          <a:xfrm>
            <a:off x="943610" y="4142105"/>
            <a:ext cx="3443605" cy="2170430"/>
          </a:xfrm>
          <a:prstGeom prst="roundRect">
            <a:avLst>
              <a:gd name="adj" fmla="val 10353"/>
            </a:avLst>
          </a:prstGeom>
          <a:solidFill>
            <a:srgbClr val="2E61FA"/>
          </a:solidFill>
          <a:ln w="12700" cap="flat" cmpd="sng" algn="ctr">
            <a:noFill/>
            <a:prstDash val="solid"/>
            <a:miter lim="800000"/>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2" name="椭圆 51"/>
          <p:cNvSpPr/>
          <p:nvPr/>
        </p:nvSpPr>
        <p:spPr>
          <a:xfrm>
            <a:off x="1127780" y="4484816"/>
            <a:ext cx="841888" cy="841888"/>
          </a:xfrm>
          <a:prstGeom prst="ellipse">
            <a:avLst/>
          </a:prstGeom>
          <a:blipFill dpi="0" rotWithShape="1">
            <a:blip r:embed="rId2" cstate="screen"/>
            <a:srcRect/>
            <a:stretch>
              <a:fillRect/>
            </a:stretch>
          </a:blipFill>
          <a:ln>
            <a:noFill/>
          </a:ln>
          <a:effectLst>
            <a:outerShdw blurRad="508000" dist="190500" dir="5400000" sx="95000" sy="95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tx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nvGrpSpPr>
          <p:cNvPr id="53" name="组合 52"/>
          <p:cNvGrpSpPr/>
          <p:nvPr/>
        </p:nvGrpSpPr>
        <p:grpSpPr>
          <a:xfrm>
            <a:off x="2103120" y="4197985"/>
            <a:ext cx="2334895" cy="2019935"/>
            <a:chOff x="1779985" y="1628627"/>
            <a:chExt cx="2705135" cy="1698357"/>
          </a:xfrm>
        </p:grpSpPr>
        <p:sp>
          <p:nvSpPr>
            <p:cNvPr id="54" name="文本框 53"/>
            <p:cNvSpPr txBox="1"/>
            <p:nvPr/>
          </p:nvSpPr>
          <p:spPr>
            <a:xfrm>
              <a:off x="1779985" y="2085651"/>
              <a:ext cx="2705135" cy="1241333"/>
            </a:xfrm>
            <a:prstGeom prst="rect">
              <a:avLst/>
            </a:prstGeom>
            <a:noFill/>
          </p:spPr>
          <p:txBody>
            <a:bodyPr wrap="square" rtlCol="0">
              <a:spAutoFit/>
            </a:bodyPr>
            <a:lstStyle/>
            <a:p>
              <a:pPr marL="171450" indent="-171450" hangingPunct="0">
                <a:lnSpc>
                  <a:spcPct val="150000"/>
                </a:lnSpc>
                <a:buFont typeface="Arial" panose="020B0604020202020204" pitchFamily="34" charset="0"/>
                <a:buChar char="•"/>
              </a:pPr>
              <a:r>
                <a:rPr lang="zh-CN" altLang="en-US" sz="1200">
                  <a:solidFill>
                    <a:schemeClr val="bg1"/>
                  </a:solidFill>
                  <a:sym typeface="+mn-ea"/>
                </a:rPr>
                <a:t>隔代抚养、配偶照料等</a:t>
              </a:r>
              <a:endParaRPr lang="zh-CN" altLang="en-US" sz="1200">
                <a:solidFill>
                  <a:schemeClr val="bg1"/>
                </a:solidFill>
                <a:sym typeface="+mn-ea"/>
              </a:endParaRPr>
            </a:p>
            <a:p>
              <a:pPr marL="171450" indent="-171450" hangingPunct="0">
                <a:lnSpc>
                  <a:spcPct val="150000"/>
                </a:lnSpc>
                <a:buFont typeface="Arial" panose="020B0604020202020204" pitchFamily="34" charset="0"/>
                <a:buChar char="•"/>
              </a:pPr>
              <a:r>
                <a:rPr lang="zh-CN" altLang="en-US" sz="1200">
                  <a:solidFill>
                    <a:schemeClr val="bg1"/>
                  </a:solidFill>
                  <a:sym typeface="+mn-ea"/>
                </a:rPr>
                <a:t>为平衡家庭与工作，他们更倾向于选择工作时间灵活、强度较低的岗位，从而塑造了独特的劳动时间供给结构</a:t>
              </a:r>
              <a:endPar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mn-ea"/>
              </a:endParaRPr>
            </a:p>
          </p:txBody>
        </p:sp>
        <p:sp>
          <p:nvSpPr>
            <p:cNvPr id="55" name="文本框 54"/>
            <p:cNvSpPr txBox="1"/>
            <p:nvPr/>
          </p:nvSpPr>
          <p:spPr>
            <a:xfrm>
              <a:off x="1779985" y="1628627"/>
              <a:ext cx="2474128" cy="426058"/>
            </a:xfrm>
            <a:prstGeom prst="rect">
              <a:avLst/>
            </a:prstGeom>
            <a:noFill/>
          </p:spPr>
          <p:txBody>
            <a:bodyPr wrap="square" rtlCol="0">
              <a:spAutoFit/>
            </a:bodyPr>
            <a:lstStyle/>
            <a:p>
              <a:pPr hangingPunct="0">
                <a:lnSpc>
                  <a:spcPct val="150000"/>
                </a:lnSpc>
              </a:pPr>
              <a:r>
                <a:rPr lang="zh-CN" altLang="en-US" b="1"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家庭职责冲突</a:t>
              </a:r>
              <a:endParaRPr lang="zh-CN" altLang="en-US" b="1"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sp>
        <p:nvSpPr>
          <p:cNvPr id="57" name="矩形: 圆角 56"/>
          <p:cNvSpPr/>
          <p:nvPr/>
        </p:nvSpPr>
        <p:spPr>
          <a:xfrm>
            <a:off x="7820660" y="1513840"/>
            <a:ext cx="3546475" cy="1919605"/>
          </a:xfrm>
          <a:prstGeom prst="roundRect">
            <a:avLst>
              <a:gd name="adj" fmla="val 10353"/>
            </a:avLst>
          </a:prstGeom>
          <a:solidFill>
            <a:srgbClr val="2E61FA"/>
          </a:solidFill>
          <a:ln w="12700" cap="flat" cmpd="sng" algn="ctr">
            <a:noFill/>
            <a:prstDash val="solid"/>
            <a:miter lim="800000"/>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8" name="椭圆 57"/>
          <p:cNvSpPr/>
          <p:nvPr/>
        </p:nvSpPr>
        <p:spPr>
          <a:xfrm>
            <a:off x="8004764" y="2029477"/>
            <a:ext cx="841888" cy="841888"/>
          </a:xfrm>
          <a:prstGeom prst="ellipse">
            <a:avLst/>
          </a:prstGeom>
          <a:blipFill dpi="0" rotWithShape="1">
            <a:blip r:embed="rId3" cstate="screen"/>
            <a:srcRect/>
            <a:stretch>
              <a:fillRect/>
            </a:stretch>
          </a:blipFill>
          <a:ln>
            <a:noFill/>
          </a:ln>
          <a:effectLst>
            <a:outerShdw blurRad="508000" dist="190500" dir="5400000" sx="95000" sy="95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tx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nvGrpSpPr>
          <p:cNvPr id="59" name="组合 58"/>
          <p:cNvGrpSpPr/>
          <p:nvPr/>
        </p:nvGrpSpPr>
        <p:grpSpPr>
          <a:xfrm>
            <a:off x="8935085" y="1637664"/>
            <a:ext cx="2278380" cy="1918572"/>
            <a:chOff x="1779985" y="1573442"/>
            <a:chExt cx="2474128" cy="2223096"/>
          </a:xfrm>
        </p:grpSpPr>
        <p:sp>
          <p:nvSpPr>
            <p:cNvPr id="60" name="文本框 59"/>
            <p:cNvSpPr txBox="1"/>
            <p:nvPr/>
          </p:nvSpPr>
          <p:spPr>
            <a:xfrm>
              <a:off x="1779985" y="2085827"/>
              <a:ext cx="2474128" cy="1710711"/>
            </a:xfrm>
            <a:prstGeom prst="rect">
              <a:avLst/>
            </a:prstGeom>
            <a:noFill/>
          </p:spPr>
          <p:txBody>
            <a:bodyPr wrap="square" rtlCol="0">
              <a:spAutoFit/>
            </a:bodyPr>
            <a:lstStyle/>
            <a:p>
              <a:pPr algn="just" hangingPunct="0">
                <a:lnSpc>
                  <a:spcPct val="150000"/>
                </a:lnSpc>
              </a:pPr>
              <a:r>
                <a:rPr lang="zh-CN" altLang="en-US" sz="1200">
                  <a:solidFill>
                    <a:schemeClr val="bg1"/>
                  </a:solidFill>
                  <a:sym typeface="+mn-ea"/>
                </a:rPr>
                <a:t>政府通过发放岗位补贴、提供免费技能培训等政策措施，降低企业雇佣老年劳动力的成本，有效刺激市场需求</a:t>
              </a:r>
              <a:endPar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mn-ea"/>
              </a:endParaRPr>
            </a:p>
          </p:txBody>
        </p:sp>
        <p:sp>
          <p:nvSpPr>
            <p:cNvPr id="61" name="文本框 60"/>
            <p:cNvSpPr txBox="1"/>
            <p:nvPr/>
          </p:nvSpPr>
          <p:spPr>
            <a:xfrm>
              <a:off x="1779985" y="1573442"/>
              <a:ext cx="2474128" cy="587160"/>
            </a:xfrm>
            <a:prstGeom prst="rect">
              <a:avLst/>
            </a:prstGeom>
            <a:noFill/>
          </p:spPr>
          <p:txBody>
            <a:bodyPr wrap="square" rtlCol="0">
              <a:spAutoFit/>
            </a:bodyPr>
            <a:lstStyle/>
            <a:p>
              <a:pPr algn="just" hangingPunct="0">
                <a:lnSpc>
                  <a:spcPct val="150000"/>
                </a:lnSpc>
              </a:pPr>
              <a:r>
                <a:rPr lang="zh-CN" altLang="en-US" b="1"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政策扶持力度</a:t>
              </a:r>
              <a:endParaRPr lang="zh-CN" altLang="en-US" b="1"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sp>
        <p:nvSpPr>
          <p:cNvPr id="63" name="矩形: 圆角 62"/>
          <p:cNvSpPr/>
          <p:nvPr/>
        </p:nvSpPr>
        <p:spPr>
          <a:xfrm>
            <a:off x="7820660" y="4142105"/>
            <a:ext cx="3550920" cy="1858645"/>
          </a:xfrm>
          <a:prstGeom prst="roundRect">
            <a:avLst>
              <a:gd name="adj" fmla="val 10353"/>
            </a:avLst>
          </a:prstGeom>
          <a:solidFill>
            <a:srgbClr val="4A82DE"/>
          </a:solidFill>
          <a:ln w="12700" cap="flat" cmpd="sng" algn="ctr">
            <a:noFill/>
            <a:prstDash val="solid"/>
            <a:miter lim="800000"/>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4" name="椭圆 63"/>
          <p:cNvSpPr/>
          <p:nvPr/>
        </p:nvSpPr>
        <p:spPr>
          <a:xfrm>
            <a:off x="8004764" y="4484816"/>
            <a:ext cx="841888" cy="841888"/>
          </a:xfrm>
          <a:prstGeom prst="ellipse">
            <a:avLst/>
          </a:prstGeom>
          <a:blipFill dpi="0" rotWithShape="1">
            <a:blip r:embed="rId4" cstate="screen"/>
            <a:srcRect/>
            <a:stretch>
              <a:fillRect/>
            </a:stretch>
          </a:blipFill>
          <a:ln>
            <a:noFill/>
          </a:ln>
          <a:effectLst>
            <a:outerShdw blurRad="508000" dist="190500" dir="5400000" sx="95000" sy="95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tx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6" name="文本框 65"/>
          <p:cNvSpPr txBox="1"/>
          <p:nvPr/>
        </p:nvSpPr>
        <p:spPr>
          <a:xfrm>
            <a:off x="8980170" y="4725670"/>
            <a:ext cx="2228850" cy="1198880"/>
          </a:xfrm>
          <a:prstGeom prst="rect">
            <a:avLst/>
          </a:prstGeom>
          <a:noFill/>
        </p:spPr>
        <p:txBody>
          <a:bodyPr wrap="square" rtlCol="0">
            <a:spAutoFit/>
          </a:bodyPr>
          <a:lstStyle/>
          <a:p>
            <a:pPr algn="just" hangingPunct="0">
              <a:lnSpc>
                <a:spcPct val="150000"/>
              </a:lnSpc>
            </a:pPr>
            <a:r>
              <a:rPr lang="zh-CN" altLang="en-US" sz="1200">
                <a:solidFill>
                  <a:schemeClr val="bg1"/>
                </a:solidFill>
                <a:sym typeface="+mn-ea"/>
              </a:rPr>
              <a:t>完善老年就业权益保护法规、规范返聘协议等制度配套，减少市场摩擦，增强老年人的就业安全感</a:t>
            </a:r>
            <a:endParaRPr lang="zh-CN" altLang="en-US" sz="12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mn-ea"/>
            </a:endParaRPr>
          </a:p>
        </p:txBody>
      </p:sp>
      <p:sp>
        <p:nvSpPr>
          <p:cNvPr id="67" name="文本框 66"/>
          <p:cNvSpPr txBox="1"/>
          <p:nvPr/>
        </p:nvSpPr>
        <p:spPr>
          <a:xfrm>
            <a:off x="8979910" y="4217019"/>
            <a:ext cx="2135558" cy="506730"/>
          </a:xfrm>
          <a:prstGeom prst="rect">
            <a:avLst/>
          </a:prstGeom>
          <a:noFill/>
        </p:spPr>
        <p:txBody>
          <a:bodyPr wrap="square" rtlCol="0">
            <a:spAutoFit/>
          </a:bodyPr>
          <a:lstStyle/>
          <a:p>
            <a:pPr algn="just" hangingPunct="0">
              <a:lnSpc>
                <a:spcPct val="150000"/>
              </a:lnSpc>
            </a:pPr>
            <a:r>
              <a:rPr lang="zh-CN" altLang="en-US" b="1"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制度配套</a:t>
            </a:r>
            <a:r>
              <a:rPr lang="zh-CN" altLang="en-US" b="1"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完善度</a:t>
            </a:r>
            <a:endParaRPr lang="zh-CN" altLang="en-US" b="1"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0" name="PA-文本框 8"/>
          <p:cNvSpPr txBox="1"/>
          <p:nvPr>
            <p:custDataLst>
              <p:tags r:id="rId5"/>
            </p:custDataLst>
          </p:nvPr>
        </p:nvSpPr>
        <p:spPr>
          <a:xfrm>
            <a:off x="1271905" y="485140"/>
            <a:ext cx="8625840"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三、老年劳动力</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再就业影响因素结果解析</a:t>
            </a:r>
            <a:r>
              <a:rPr lang="en-US" altLang="zh-CN"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中层因素</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 name="矩形 5"/>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6096000" y="6101715"/>
            <a:ext cx="6096000" cy="645160"/>
          </a:xfrm>
          <a:prstGeom prst="rect">
            <a:avLst/>
          </a:prstGeom>
          <a:noFill/>
        </p:spPr>
        <p:txBody>
          <a:bodyPr wrap="square" rtlCol="0" anchor="t">
            <a:spAutoFit/>
          </a:bodyPr>
          <a:p>
            <a:pPr algn="ctr"/>
            <a:r>
              <a:rPr lang="zh-CN" altLang="en-US">
                <a:gradFill>
                  <a:gsLst>
                    <a:gs pos="50000">
                      <a:schemeClr val="accent1"/>
                    </a:gs>
                    <a:gs pos="0">
                      <a:schemeClr val="accent1">
                        <a:lumMod val="25000"/>
                        <a:lumOff val="75000"/>
                      </a:schemeClr>
                    </a:gs>
                    <a:gs pos="100000">
                      <a:schemeClr val="accent1">
                        <a:lumMod val="85000"/>
                      </a:schemeClr>
                    </a:gs>
                  </a:gsLst>
                  <a:lin ang="5400000" scaled="1"/>
                </a:gradFill>
                <a:sym typeface="+mn-ea"/>
              </a:rPr>
              <a:t>两者共同构建起有利于老年劳动力再就业的政策支持体系，显著提升了市场的活跃度与规范性</a:t>
            </a:r>
            <a:endParaRPr lang="zh-CN" altLang="en-US">
              <a:gradFill>
                <a:gsLst>
                  <a:gs pos="50000">
                    <a:schemeClr val="accent1"/>
                  </a:gs>
                  <a:gs pos="0">
                    <a:schemeClr val="accent1">
                      <a:lumMod val="25000"/>
                      <a:lumOff val="75000"/>
                    </a:schemeClr>
                  </a:gs>
                  <a:gs pos="100000">
                    <a:schemeClr val="accent1">
                      <a:lumMod val="85000"/>
                    </a:schemeClr>
                  </a:gs>
                </a:gsLst>
                <a:lin ang="5400000" scaled="1"/>
              </a:gradFill>
              <a:sym typeface="+mn-ea"/>
            </a:endParaRPr>
          </a:p>
        </p:txBody>
      </p:sp>
      <p:sp>
        <p:nvSpPr>
          <p:cNvPr id="3" name="矩形 2"/>
          <p:cNvSpPr/>
          <p:nvPr/>
        </p:nvSpPr>
        <p:spPr>
          <a:xfrm>
            <a:off x="833755" y="3495040"/>
            <a:ext cx="10534015" cy="56959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gradFill>
                  <a:gsLst>
                    <a:gs pos="50000">
                      <a:srgbClr val="3474CB"/>
                    </a:gs>
                    <a:gs pos="0">
                      <a:srgbClr val="03BEC1"/>
                    </a:gs>
                    <a:gs pos="100000">
                      <a:srgbClr val="8E52DF"/>
                    </a:gs>
                  </a:gsLst>
                  <a:lin ang="5400000" scaled="1"/>
                </a:gradFill>
                <a:sym typeface="+mn-ea"/>
              </a:rPr>
              <a:t>连接个体与宏观环境的纽带，在个体就业决策与外部环境之间发挥着关键的传导与调节作用</a:t>
            </a:r>
            <a:endParaRPr lang="zh-CN" altLang="en-US" sz="2000">
              <a:gradFill>
                <a:gsLst>
                  <a:gs pos="50000">
                    <a:srgbClr val="3474CB"/>
                  </a:gs>
                  <a:gs pos="0">
                    <a:srgbClr val="03BEC1"/>
                  </a:gs>
                  <a:gs pos="100000">
                    <a:srgbClr val="8E52DF"/>
                  </a:gs>
                </a:gsLst>
                <a:lin ang="5400000" scaled="1"/>
              </a:gradFill>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ldLvl="0" animBg="1"/>
      <p:bldP spid="3"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54"/>
          <p:cNvGrpSpPr/>
          <p:nvPr>
            <p:custDataLst>
              <p:tags r:id="rId1"/>
            </p:custDataLst>
          </p:nvPr>
        </p:nvGrpSpPr>
        <p:grpSpPr>
          <a:xfrm>
            <a:off x="5558028" y="1123614"/>
            <a:ext cx="5452745" cy="2287905"/>
            <a:chOff x="824130" y="1676193"/>
            <a:chExt cx="5452745" cy="2287905"/>
          </a:xfrm>
          <a:effectLst>
            <a:outerShdw blurRad="190500" dist="38100" dir="2700000" algn="tl" rotWithShape="0">
              <a:prstClr val="black">
                <a:alpha val="20000"/>
              </a:prstClr>
            </a:outerShdw>
          </a:effectLst>
        </p:grpSpPr>
        <p:sp>
          <p:nvSpPr>
            <p:cNvPr id="56" name="矩形 55"/>
            <p:cNvSpPr/>
            <p:nvPr>
              <p:custDataLst>
                <p:tags r:id="rId2"/>
              </p:custDataLst>
            </p:nvPr>
          </p:nvSpPr>
          <p:spPr>
            <a:xfrm>
              <a:off x="1198145" y="1676193"/>
              <a:ext cx="5078730" cy="2287905"/>
            </a:xfrm>
            <a:prstGeom prst="rect">
              <a:avLst/>
            </a:prstGeom>
            <a:solidFill>
              <a:schemeClr val="bg1"/>
            </a:solidFill>
            <a:ln w="19050">
              <a:noFill/>
              <a:round/>
              <a:headEnd type="none" w="med" len="med"/>
              <a:tailEnd type="oval"/>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400" i="0" u="none" strike="noStrike" kern="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7" name="菱形 56"/>
            <p:cNvSpPr/>
            <p:nvPr>
              <p:custDataLst>
                <p:tags r:id="rId3"/>
              </p:custDataLst>
            </p:nvPr>
          </p:nvSpPr>
          <p:spPr>
            <a:xfrm>
              <a:off x="824130" y="2371637"/>
              <a:ext cx="747798" cy="747798"/>
            </a:xfrm>
            <a:prstGeom prst="diamond">
              <a:avLst/>
            </a:prstGeom>
            <a:solidFill>
              <a:srgbClr val="2E61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A</a:t>
              </a:r>
              <a:endParaRPr kumimoji="0" lang="zh-CN" altLang="en-US" sz="280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 name="文本框 57"/>
            <p:cNvSpPr txBox="1"/>
            <p:nvPr>
              <p:custDataLst>
                <p:tags r:id="rId4"/>
              </p:custDataLst>
            </p:nvPr>
          </p:nvSpPr>
          <p:spPr>
            <a:xfrm>
              <a:off x="1752500" y="1708578"/>
              <a:ext cx="4295775" cy="2122805"/>
            </a:xfrm>
            <a:prstGeom prst="rect">
              <a:avLst/>
            </a:prstGeom>
            <a:noFill/>
            <a:effectLst/>
          </p:spPr>
          <p:txBody>
            <a:bodyPr wrap="square" rtlCol="0">
              <a:spAutoFit/>
            </a:bodyPr>
            <a:lstStyle/>
            <a:p>
              <a:pPr>
                <a:lnSpc>
                  <a:spcPct val="150000"/>
                </a:lnSpc>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职场年龄歧视：</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a:sym typeface="+mn-ea"/>
                </a:rPr>
                <a:t> “</a:t>
              </a:r>
              <a:r>
                <a:rPr lang="zh-CN" altLang="en-US">
                  <a:sym typeface="+mn-ea"/>
                </a:rPr>
                <a:t>统计性歧视</a:t>
              </a:r>
              <a:r>
                <a:rPr lang="en-US" altLang="zh-CN">
                  <a:sym typeface="+mn-ea"/>
                </a:rPr>
                <a:t>” </a:t>
              </a:r>
              <a:r>
                <a:rPr lang="zh-CN" altLang="en-US">
                  <a:sym typeface="+mn-ea"/>
                </a:rPr>
                <a:t>理论）</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pPr>
              <a:r>
                <a:rPr lang="zh-CN" altLang="en-US" sz="1400">
                  <a:sym typeface="+mn-ea"/>
                </a:rPr>
                <a:t>雇主往往将年龄作为评判生产力的替代指标，忽视老年个体间的能力差异，在招聘、晋升、薪资评定等环节设置隐形门槛，使老年劳动力面临严重的</a:t>
              </a:r>
              <a:r>
                <a:rPr lang="zh-CN" altLang="en-US" sz="1400" b="1">
                  <a:sym typeface="+mn-ea"/>
                </a:rPr>
                <a:t>就业排斥</a:t>
              </a:r>
              <a:r>
                <a:rPr lang="zh-CN" altLang="en-US" sz="1400">
                  <a:sym typeface="+mn-ea"/>
                </a:rPr>
                <a:t>，形成劳动力市场中的</a:t>
              </a:r>
              <a:r>
                <a:rPr lang="zh-CN" altLang="en-US" sz="1400" b="1">
                  <a:sym typeface="+mn-ea"/>
                </a:rPr>
                <a:t>横向与纵向隔离结构</a:t>
              </a:r>
              <a:r>
                <a:rPr lang="zh-CN" altLang="en-US" sz="1400">
                  <a:sym typeface="+mn-ea"/>
                </a:rPr>
                <a:t>，将他们挤压至边缘岗位，限制其职业发展与收入增长</a:t>
              </a:r>
              <a:endPar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sym typeface="+mn-ea"/>
              </a:endParaRPr>
            </a:p>
          </p:txBody>
        </p:sp>
      </p:grpSp>
      <p:grpSp>
        <p:nvGrpSpPr>
          <p:cNvPr id="67" name="组合 66"/>
          <p:cNvGrpSpPr/>
          <p:nvPr/>
        </p:nvGrpSpPr>
        <p:grpSpPr>
          <a:xfrm>
            <a:off x="421150" y="1559537"/>
            <a:ext cx="4492625" cy="4340225"/>
            <a:chOff x="493720" y="1683362"/>
            <a:chExt cx="4492625" cy="4340225"/>
          </a:xfrm>
        </p:grpSpPr>
        <p:sp>
          <p:nvSpPr>
            <p:cNvPr id="68" name="椭圆 67"/>
            <p:cNvSpPr/>
            <p:nvPr/>
          </p:nvSpPr>
          <p:spPr>
            <a:xfrm>
              <a:off x="493720" y="1683362"/>
              <a:ext cx="4492625" cy="4340225"/>
            </a:xfrm>
            <a:prstGeom prst="ellipse">
              <a:avLst/>
            </a:prstGeom>
            <a:blipFill dpi="0" rotWithShape="1">
              <a:blip r:embed="rId5" cstate="screen"/>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9" name="椭圆 68"/>
            <p:cNvSpPr/>
            <p:nvPr/>
          </p:nvSpPr>
          <p:spPr>
            <a:xfrm>
              <a:off x="1044265" y="2216762"/>
              <a:ext cx="3354070" cy="3223260"/>
            </a:xfrm>
            <a:prstGeom prst="ellipse">
              <a:avLst/>
            </a:prstGeom>
            <a:solidFill>
              <a:srgbClr val="2E61FA">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0" name="矩形 69"/>
            <p:cNvSpPr>
              <a:spLocks noChangeArrowheads="1"/>
            </p:cNvSpPr>
            <p:nvPr/>
          </p:nvSpPr>
          <p:spPr bwMode="auto">
            <a:xfrm>
              <a:off x="672155" y="3073377"/>
              <a:ext cx="4101465" cy="1850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91414" tIns="45709" rIns="91414" bIns="45709">
              <a:no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defTabSz="1218565" fontAlgn="auto">
                <a:spcBef>
                  <a:spcPts val="0"/>
                </a:spcBef>
                <a:spcAft>
                  <a:spcPts val="0"/>
                </a:spcAft>
                <a:defRPr/>
              </a:pPr>
              <a:r>
                <a:rPr lang="zh-CN" altLang="en-US" sz="2000">
                  <a:solidFill>
                    <a:schemeClr val="bg1"/>
                  </a:solidFill>
                  <a:sym typeface="+mn-ea"/>
                </a:rPr>
                <a:t>作为深层的制度与文化约束</a:t>
              </a:r>
              <a:endParaRPr lang="zh-CN" altLang="en-US" sz="2000">
                <a:solidFill>
                  <a:schemeClr val="bg1"/>
                </a:solidFill>
                <a:sym typeface="+mn-ea"/>
              </a:endParaRPr>
            </a:p>
            <a:p>
              <a:pPr algn="ctr" defTabSz="1218565" fontAlgn="auto">
                <a:spcBef>
                  <a:spcPts val="0"/>
                </a:spcBef>
                <a:spcAft>
                  <a:spcPts val="0"/>
                </a:spcAft>
                <a:defRPr/>
              </a:pPr>
              <a:r>
                <a:rPr lang="zh-CN" altLang="en-US" sz="2000">
                  <a:solidFill>
                    <a:schemeClr val="bg1"/>
                  </a:solidFill>
                  <a:sym typeface="+mn-ea"/>
                </a:rPr>
                <a:t>虽不直接作用于就业行为</a:t>
              </a:r>
              <a:endParaRPr lang="zh-CN" altLang="en-US" sz="2000">
                <a:solidFill>
                  <a:schemeClr val="bg1"/>
                </a:solidFill>
                <a:sym typeface="+mn-ea"/>
              </a:endParaRPr>
            </a:p>
            <a:p>
              <a:pPr algn="ctr" defTabSz="1218565" fontAlgn="auto">
                <a:spcBef>
                  <a:spcPts val="0"/>
                </a:spcBef>
                <a:spcAft>
                  <a:spcPts val="0"/>
                </a:spcAft>
                <a:defRPr/>
              </a:pPr>
              <a:r>
                <a:rPr lang="zh-CN" altLang="en-US" sz="2000">
                  <a:solidFill>
                    <a:schemeClr val="bg1"/>
                  </a:solidFill>
                  <a:sym typeface="+mn-ea"/>
                </a:rPr>
                <a:t>但却潜移默化地塑造着</a:t>
              </a:r>
              <a:endParaRPr lang="zh-CN" altLang="en-US" sz="2000">
                <a:solidFill>
                  <a:schemeClr val="bg1"/>
                </a:solidFill>
                <a:sym typeface="+mn-ea"/>
              </a:endParaRPr>
            </a:p>
            <a:p>
              <a:pPr algn="ctr" defTabSz="1218565" fontAlgn="auto">
                <a:spcBef>
                  <a:spcPts val="0"/>
                </a:spcBef>
                <a:spcAft>
                  <a:spcPts val="0"/>
                </a:spcAft>
                <a:defRPr/>
              </a:pPr>
              <a:r>
                <a:rPr lang="zh-CN" altLang="en-US" sz="2000">
                  <a:solidFill>
                    <a:schemeClr val="bg1"/>
                  </a:solidFill>
                  <a:sym typeface="+mn-ea"/>
                </a:rPr>
                <a:t>老年劳动力再就业的</a:t>
              </a:r>
              <a:endParaRPr lang="zh-CN" altLang="en-US" sz="2000">
                <a:solidFill>
                  <a:schemeClr val="bg1"/>
                </a:solidFill>
                <a:sym typeface="+mn-ea"/>
              </a:endParaRPr>
            </a:p>
            <a:p>
              <a:pPr algn="ctr" defTabSz="1218565" fontAlgn="auto">
                <a:spcBef>
                  <a:spcPts val="0"/>
                </a:spcBef>
                <a:spcAft>
                  <a:spcPts val="0"/>
                </a:spcAft>
                <a:defRPr/>
              </a:pPr>
              <a:r>
                <a:rPr lang="zh-CN" altLang="en-US" sz="2000">
                  <a:solidFill>
                    <a:schemeClr val="bg1"/>
                  </a:solidFill>
                  <a:sym typeface="+mn-ea"/>
                </a:rPr>
                <a:t>社会环境与群体认知</a:t>
              </a:r>
              <a:endParaRPr lang="zh-CN" altLang="en-US" sz="2000" b="1" kern="0" spc="600" dirty="0">
                <a:solidFill>
                  <a:schemeClr val="bg1"/>
                </a:solidFill>
                <a:latin typeface="微软雅黑" panose="020B0503020204020204" pitchFamily="34" charset="-122"/>
                <a:ea typeface="微软雅黑" panose="020B0503020204020204" pitchFamily="34" charset="-122"/>
                <a:sym typeface="+mn-ea"/>
              </a:endParaRPr>
            </a:p>
          </p:txBody>
        </p:sp>
      </p:grpSp>
      <p:sp>
        <p:nvSpPr>
          <p:cNvPr id="18" name="PA-文本框 8"/>
          <p:cNvSpPr txBox="1"/>
          <p:nvPr>
            <p:custDataLst>
              <p:tags r:id="rId6"/>
            </p:custDataLst>
          </p:nvPr>
        </p:nvSpPr>
        <p:spPr>
          <a:xfrm>
            <a:off x="1272176" y="485429"/>
            <a:ext cx="7835965"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三、老年劳动力</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再就业影响因素结果解析</a:t>
            </a:r>
            <a:r>
              <a:rPr lang="en-US" altLang="zh-CN"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底层因素</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nvGrpSpPr>
          <p:cNvPr id="19" name="组合 18"/>
          <p:cNvGrpSpPr/>
          <p:nvPr>
            <p:custDataLst>
              <p:tags r:id="rId7"/>
            </p:custDataLst>
          </p:nvPr>
        </p:nvGrpSpPr>
        <p:grpSpPr>
          <a:xfrm>
            <a:off x="5558028" y="3869055"/>
            <a:ext cx="5452745" cy="2563495"/>
            <a:chOff x="824130" y="2019093"/>
            <a:chExt cx="5452745" cy="2563495"/>
          </a:xfrm>
          <a:effectLst>
            <a:outerShdw blurRad="190500" dist="38100" dir="2700000" algn="tl" rotWithShape="0">
              <a:prstClr val="black">
                <a:alpha val="20000"/>
              </a:prstClr>
            </a:outerShdw>
          </a:effectLst>
        </p:grpSpPr>
        <p:sp>
          <p:nvSpPr>
            <p:cNvPr id="20" name="矩形 19"/>
            <p:cNvSpPr/>
            <p:nvPr>
              <p:custDataLst>
                <p:tags r:id="rId8"/>
              </p:custDataLst>
            </p:nvPr>
          </p:nvSpPr>
          <p:spPr>
            <a:xfrm>
              <a:off x="1198145" y="2019093"/>
              <a:ext cx="5078730" cy="2299335"/>
            </a:xfrm>
            <a:prstGeom prst="rect">
              <a:avLst/>
            </a:prstGeom>
            <a:solidFill>
              <a:schemeClr val="bg1"/>
            </a:solidFill>
            <a:ln w="19050">
              <a:noFill/>
              <a:round/>
              <a:headEnd type="none" w="med" len="med"/>
              <a:tailEnd type="oval"/>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400" i="0" u="none" strike="noStrike" kern="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菱形 20"/>
            <p:cNvSpPr/>
            <p:nvPr>
              <p:custDataLst>
                <p:tags r:id="rId9"/>
              </p:custDataLst>
            </p:nvPr>
          </p:nvSpPr>
          <p:spPr>
            <a:xfrm>
              <a:off x="824130" y="2790737"/>
              <a:ext cx="747798" cy="747798"/>
            </a:xfrm>
            <a:prstGeom prst="diamond">
              <a:avLst/>
            </a:prstGeom>
            <a:solidFill>
              <a:srgbClr val="2E61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B</a:t>
              </a:r>
              <a:endParaRPr kumimoji="0" lang="zh-CN" altLang="en-US" sz="280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文本框 21"/>
            <p:cNvSpPr txBox="1"/>
            <p:nvPr>
              <p:custDataLst>
                <p:tags r:id="rId10"/>
              </p:custDataLst>
            </p:nvPr>
          </p:nvSpPr>
          <p:spPr>
            <a:xfrm>
              <a:off x="1752500" y="2137203"/>
              <a:ext cx="4358640" cy="2445385"/>
            </a:xfrm>
            <a:prstGeom prst="rect">
              <a:avLst/>
            </a:prstGeom>
            <a:noFill/>
            <a:effectLst/>
          </p:spPr>
          <p:txBody>
            <a:bodyPr wrap="square" rtlCol="0">
              <a:spAutoFit/>
            </a:bodyPr>
            <a:lstStyle/>
            <a:p>
              <a:pPr>
                <a:lnSpc>
                  <a:spcPct val="150000"/>
                </a:lnSpc>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群体规范效应：</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社会规范理论</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285750" indent="-285750">
                <a:lnSpc>
                  <a:spcPct val="150000"/>
                </a:lnSpc>
                <a:buFont typeface="Arial" panose="020B0604020202020204" pitchFamily="34" charset="0"/>
                <a:buChar char="•"/>
              </a:pPr>
              <a:r>
                <a:rPr lang="zh-CN" altLang="en-US" sz="1400">
                  <a:sym typeface="+mn-ea"/>
                </a:rPr>
                <a:t>传统观念将老年阶段定义为</a:t>
              </a:r>
              <a:r>
                <a:rPr lang="en-US" altLang="zh-CN" sz="1400">
                  <a:sym typeface="+mn-ea"/>
                </a:rPr>
                <a:t> “</a:t>
              </a:r>
              <a:r>
                <a:rPr lang="zh-CN" altLang="en-US" sz="1400">
                  <a:sym typeface="+mn-ea"/>
                </a:rPr>
                <a:t>退休安享晚年</a:t>
              </a:r>
              <a:r>
                <a:rPr lang="en-US" altLang="zh-CN" sz="1400">
                  <a:sym typeface="+mn-ea"/>
                </a:rPr>
                <a:t>” </a:t>
              </a:r>
              <a:endParaRPr lang="en-US" altLang="zh-CN" sz="1400">
                <a:sym typeface="+mn-ea"/>
              </a:endParaRPr>
            </a:p>
            <a:p>
              <a:pPr marL="285750" indent="-285750">
                <a:lnSpc>
                  <a:spcPct val="150000"/>
                </a:lnSpc>
                <a:buFont typeface="Arial" panose="020B0604020202020204" pitchFamily="34" charset="0"/>
                <a:buChar char="•"/>
              </a:pPr>
              <a:r>
                <a:rPr lang="zh-CN" altLang="en-US" sz="1400">
                  <a:sym typeface="+mn-ea"/>
                </a:rPr>
                <a:t>同辈群体的退休选择与社会舆论压力</a:t>
              </a:r>
              <a:endParaRPr lang="zh-CN" altLang="en-US" sz="1400">
                <a:sym typeface="+mn-ea"/>
              </a:endParaRPr>
            </a:p>
            <a:p>
              <a:pPr>
                <a:lnSpc>
                  <a:spcPct val="150000"/>
                </a:lnSpc>
              </a:pPr>
              <a:endParaRPr lang="zh-CN" altLang="en-US" sz="1400">
                <a:sym typeface="+mn-ea"/>
              </a:endParaRPr>
            </a:p>
            <a:p>
              <a:pPr>
                <a:lnSpc>
                  <a:spcPct val="150000"/>
                </a:lnSpc>
              </a:pPr>
              <a:r>
                <a:rPr lang="zh-CN" altLang="en-US" sz="1400">
                  <a:sym typeface="+mn-ea"/>
                </a:rPr>
                <a:t>即便自身具备就业意愿与能力，也可能因社会认同的压力而放弃或推迟再就业计划。</a:t>
              </a:r>
              <a:endParaRPr lang="en-US" altLang="zh-CN" sz="1400">
                <a:sym typeface="+mn-ea"/>
              </a:endParaRPr>
            </a:p>
            <a:p>
              <a:pPr>
                <a:lnSpc>
                  <a:spcPct val="150000"/>
                </a:lnSpc>
              </a:pP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sym typeface="+mn-ea"/>
              </a:endParaRPr>
            </a:p>
          </p:txBody>
        </p:sp>
      </p:grpSp>
      <p:sp>
        <p:nvSpPr>
          <p:cNvPr id="6" name="矩形 5"/>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搜索：www.1314ppt.com  公众号：陈西设计之家。微信搜索即可。更多免费PPT模版教程等都可以在公众号内获取。PPT高端定制/发布会PPT设计微信：2090298045【陈西】"/>
          <p:cNvSpPr txBox="1"/>
          <p:nvPr/>
        </p:nvSpPr>
        <p:spPr>
          <a:xfrm>
            <a:off x="1343660" y="6299835"/>
            <a:ext cx="9223375" cy="435610"/>
          </a:xfrm>
          <a:prstGeom prst="rect">
            <a:avLst/>
          </a:prstGeom>
          <a:solidFill>
            <a:srgbClr val="2E61FA"/>
          </a:solidFill>
          <a:effectLst>
            <a:outerShdw blurRad="254000" dist="101600" dir="2700000" algn="tl" rotWithShape="0">
              <a:schemeClr val="dk1">
                <a:lumMod val="100000"/>
                <a:alpha val="15000"/>
              </a:schemeClr>
            </a:outerShdw>
          </a:effectLst>
        </p:spPr>
        <p:txBody>
          <a:bodyPr wrap="square" rtlCol="0">
            <a:spAutoFit/>
          </a:bodyPr>
          <a:p>
            <a:pPr algn="ctr">
              <a:lnSpc>
                <a:spcPct val="140000"/>
              </a:lnSpc>
            </a:pPr>
            <a:r>
              <a:rPr lang="zh-CN" altLang="en-US" sz="1600">
                <a:solidFill>
                  <a:schemeClr val="bg1"/>
                </a:solidFill>
                <a:sym typeface="+mn-ea"/>
              </a:rPr>
              <a:t>从社会文化与制度层面束缚着老年劳动力的再就业行为，成为阻碍老年人力资源有效开发的顽固障碍</a:t>
            </a:r>
            <a:endParaRPr lang="zh-CN" altLang="en-US" sz="1600" dirty="0">
              <a:solidFill>
                <a:schemeClr val="bg1"/>
              </a:solidFill>
              <a:latin typeface="微软雅黑" panose="020B0503020204020204" pitchFamily="34" charset="-122"/>
              <a:ea typeface="微软雅黑" panose="020B0503020204020204" pitchFamily="34" charset="-122"/>
              <a:cs typeface="Aa楷体" panose="02000500000000000000"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box(in)">
                                      <p:cBhvr>
                                        <p:cTn id="7" dur="2000"/>
                                        <p:tgtEl>
                                          <p:spTgt spid="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blinds(horizontal)">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linds(horizontal)">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blinds(horizontal)">
                                      <p:cBhvr>
                                        <p:cTn id="2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ldLvl="0" animBg="1"/>
      <p:bldP spid="5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sp>
        <p:nvSpPr>
          <p:cNvPr id="39" name="PA-文本框 8"/>
          <p:cNvSpPr txBox="1"/>
          <p:nvPr>
            <p:custDataLst>
              <p:tags r:id="rId1"/>
            </p:custDataLst>
          </p:nvPr>
        </p:nvSpPr>
        <p:spPr>
          <a:xfrm>
            <a:off x="1271905" y="485140"/>
            <a:ext cx="7349490"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三、老年劳动力</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再就业影响因素解析</a:t>
            </a:r>
            <a:r>
              <a:rPr lang="en-US" altLang="zh-CN"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结论</a:t>
            </a:r>
            <a:endPar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1"/>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40" name="图示 39"/>
          <p:cNvGraphicFramePr/>
          <p:nvPr/>
        </p:nvGraphicFramePr>
        <p:xfrm>
          <a:off x="955675" y="1322070"/>
          <a:ext cx="4823460" cy="37141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1" name="图示 40"/>
          <p:cNvGraphicFramePr/>
          <p:nvPr/>
        </p:nvGraphicFramePr>
        <p:xfrm>
          <a:off x="3669665" y="3956050"/>
          <a:ext cx="3319145" cy="248285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4" name="文本框 43"/>
          <p:cNvSpPr txBox="1"/>
          <p:nvPr/>
        </p:nvSpPr>
        <p:spPr>
          <a:xfrm>
            <a:off x="3165475" y="1407478"/>
            <a:ext cx="5080000" cy="829945"/>
          </a:xfrm>
          <a:prstGeom prst="rect">
            <a:avLst/>
          </a:prstGeom>
        </p:spPr>
        <p:txBody>
          <a:bodyPr>
            <a:spAutoFit/>
          </a:bodyPr>
          <a:p>
            <a:pPr indent="0" algn="just" defTabSz="266700">
              <a:spcBef>
                <a:spcPct val="0"/>
              </a:spcBef>
              <a:spcAft>
                <a:spcPct val="0"/>
              </a:spcAft>
              <a:buNone/>
            </a:pPr>
            <a:r>
              <a:rPr lang="zh-CN" sz="1600" b="1">
                <a:latin typeface="Times New Roman" panose="02020603050405020304"/>
                <a:ea typeface="等线" panose="02010600030101010101" charset="-122"/>
              </a:rPr>
              <a:t>技能适应能力</a:t>
            </a:r>
            <a:r>
              <a:rPr lang="zh-CN" sz="1600">
                <a:latin typeface="Times New Roman" panose="02020603050405020304"/>
                <a:ea typeface="等线" panose="02010600030101010101" charset="-122"/>
              </a:rPr>
              <a:t>是再就业的</a:t>
            </a:r>
            <a:r>
              <a:rPr lang="zh-CN" sz="1600" b="1">
                <a:latin typeface="Times New Roman" panose="02020603050405020304"/>
                <a:ea typeface="等线" panose="02010600030101010101" charset="-122"/>
              </a:rPr>
              <a:t>直接决定因素</a:t>
            </a:r>
            <a:r>
              <a:rPr lang="zh-CN" sz="1600">
                <a:latin typeface="Times New Roman" panose="02020603050405020304"/>
                <a:ea typeface="等线" panose="02010600030101010101" charset="-122"/>
              </a:rPr>
              <a:t>，体现人力资本理论的核心作用，高技能老年劳动力更易匹配高附加值岗位，低技能群体则面临就业质量困境。</a:t>
            </a:r>
            <a:r>
              <a:rPr lang="en-US" sz="1600">
                <a:latin typeface="Times New Roman" panose="02020603050405020304"/>
                <a:ea typeface="Times New Roman" panose="02020603050405020304"/>
              </a:rPr>
              <a:t>  </a:t>
            </a:r>
            <a:endParaRPr lang="en-US" altLang="zh-CN" sz="1600">
              <a:latin typeface="Times New Roman" panose="02020603050405020304"/>
              <a:ea typeface="Times New Roman" panose="02020603050405020304"/>
            </a:endParaRPr>
          </a:p>
        </p:txBody>
      </p:sp>
      <p:sp>
        <p:nvSpPr>
          <p:cNvPr id="45" name="文本框 44"/>
          <p:cNvSpPr txBox="1"/>
          <p:nvPr/>
        </p:nvSpPr>
        <p:spPr>
          <a:xfrm>
            <a:off x="4479925" y="2640648"/>
            <a:ext cx="5080000" cy="1076325"/>
          </a:xfrm>
          <a:prstGeom prst="rect">
            <a:avLst/>
          </a:prstGeom>
        </p:spPr>
        <p:txBody>
          <a:bodyPr>
            <a:spAutoFit/>
          </a:bodyPr>
          <a:p>
            <a:pPr defTabSz="266700"/>
            <a:r>
              <a:rPr lang="zh-CN" sz="1600">
                <a:latin typeface="Times New Roman" panose="02020603050405020304"/>
                <a:ea typeface="等线" panose="02010600030101010101" charset="-122"/>
              </a:rPr>
              <a:t>健康体能条件、再就业意愿和数字获取能力构成再就业的</a:t>
            </a:r>
            <a:r>
              <a:rPr lang="zh-CN" sz="1600" b="1">
                <a:latin typeface="Times New Roman" panose="02020603050405020304"/>
                <a:ea typeface="等线" panose="02010600030101010101" charset="-122"/>
              </a:rPr>
              <a:t>前置条件</a:t>
            </a:r>
            <a:r>
              <a:rPr lang="zh-CN" sz="1600">
                <a:latin typeface="Times New Roman" panose="02020603050405020304"/>
                <a:ea typeface="等线" panose="02010600030101010101" charset="-122"/>
              </a:rPr>
              <a:t>。健康状况划定</a:t>
            </a:r>
            <a:r>
              <a:rPr lang="zh-CN" sz="1600" b="1">
                <a:latin typeface="Times New Roman" panose="02020603050405020304"/>
                <a:ea typeface="等线" panose="02010600030101010101" charset="-122"/>
              </a:rPr>
              <a:t>岗位类型边界</a:t>
            </a:r>
            <a:r>
              <a:rPr lang="zh-CN" sz="1600">
                <a:latin typeface="Times New Roman" panose="02020603050405020304"/>
                <a:ea typeface="等线" panose="02010600030101010101" charset="-122"/>
              </a:rPr>
              <a:t>，就业意愿受</a:t>
            </a:r>
            <a:r>
              <a:rPr lang="zh-CN" sz="1600" b="1">
                <a:latin typeface="Times New Roman" panose="02020603050405020304"/>
                <a:ea typeface="等线" panose="02010600030101010101" charset="-122"/>
              </a:rPr>
              <a:t>经济需求与社会认同双重驱动</a:t>
            </a:r>
            <a:r>
              <a:rPr lang="zh-CN" sz="1600">
                <a:latin typeface="Times New Roman" panose="02020603050405020304"/>
                <a:ea typeface="等线" panose="02010600030101010101" charset="-122"/>
              </a:rPr>
              <a:t>，数字技能则是连接</a:t>
            </a:r>
            <a:r>
              <a:rPr lang="zh-CN" sz="1600" b="1">
                <a:latin typeface="Times New Roman" panose="02020603050405020304"/>
                <a:ea typeface="等线" panose="02010600030101010101" charset="-122"/>
              </a:rPr>
              <a:t>新兴就业形态</a:t>
            </a:r>
            <a:r>
              <a:rPr lang="zh-CN" sz="1600">
                <a:latin typeface="Times New Roman" panose="02020603050405020304"/>
                <a:ea typeface="等线" panose="02010600030101010101" charset="-122"/>
              </a:rPr>
              <a:t>的关键纽带</a:t>
            </a:r>
            <a:endParaRPr lang="zh-CN" altLang="en-US" sz="1600">
              <a:latin typeface="Times New Roman" panose="02020603050405020304"/>
              <a:ea typeface="等线" panose="02010600030101010101" charset="-122"/>
            </a:endParaRPr>
          </a:p>
        </p:txBody>
      </p:sp>
      <p:sp>
        <p:nvSpPr>
          <p:cNvPr id="46" name="文本框 45"/>
          <p:cNvSpPr txBox="1"/>
          <p:nvPr/>
        </p:nvSpPr>
        <p:spPr>
          <a:xfrm>
            <a:off x="5779135" y="4060825"/>
            <a:ext cx="5304790" cy="829945"/>
          </a:xfrm>
          <a:prstGeom prst="rect">
            <a:avLst/>
          </a:prstGeom>
        </p:spPr>
        <p:txBody>
          <a:bodyPr wrap="square">
            <a:spAutoFit/>
          </a:bodyPr>
          <a:p>
            <a:pPr indent="0" algn="just" defTabSz="266700">
              <a:spcBef>
                <a:spcPct val="0"/>
              </a:spcBef>
              <a:spcAft>
                <a:spcPct val="0"/>
              </a:spcAft>
              <a:buNone/>
            </a:pPr>
            <a:r>
              <a:rPr lang="zh-CN" sz="1600">
                <a:latin typeface="Times New Roman" panose="02020603050405020304"/>
                <a:ea typeface="等线" panose="02010600030101010101" charset="-122"/>
              </a:rPr>
              <a:t>技术替代风险加剧了劳动力市场的</a:t>
            </a:r>
            <a:r>
              <a:rPr lang="zh-CN" sz="1600" b="1">
                <a:latin typeface="Times New Roman" panose="02020603050405020304"/>
                <a:ea typeface="等线" panose="02010600030101010101" charset="-122"/>
              </a:rPr>
              <a:t>技能分化</a:t>
            </a:r>
            <a:r>
              <a:rPr lang="zh-CN" sz="1600">
                <a:latin typeface="Times New Roman" panose="02020603050405020304"/>
                <a:ea typeface="等线" panose="02010600030101010101" charset="-122"/>
              </a:rPr>
              <a:t>，家庭职责冲突塑造了</a:t>
            </a:r>
            <a:r>
              <a:rPr lang="zh-CN" sz="1600" b="1">
                <a:latin typeface="Times New Roman" panose="02020603050405020304"/>
                <a:ea typeface="等线" panose="02010600030101010101" charset="-122"/>
              </a:rPr>
              <a:t>弹性就业偏好</a:t>
            </a:r>
            <a:r>
              <a:rPr lang="zh-CN" sz="1600">
                <a:latin typeface="Times New Roman" panose="02020603050405020304"/>
                <a:ea typeface="等线" panose="02010600030101010101" charset="-122"/>
              </a:rPr>
              <a:t>，而政策扶持与制度配套通过</a:t>
            </a:r>
            <a:r>
              <a:rPr lang="zh-CN" sz="1600" b="1">
                <a:latin typeface="Times New Roman" panose="02020603050405020304"/>
                <a:ea typeface="等线" panose="02010600030101010101" charset="-122"/>
              </a:rPr>
              <a:t>优化市场环境</a:t>
            </a:r>
            <a:r>
              <a:rPr lang="zh-CN" sz="1600">
                <a:latin typeface="Times New Roman" panose="02020603050405020304"/>
                <a:ea typeface="等线" panose="02010600030101010101" charset="-122"/>
              </a:rPr>
              <a:t>，显著提升老年劳动力的</a:t>
            </a:r>
            <a:r>
              <a:rPr lang="zh-CN" sz="1600" b="1">
                <a:latin typeface="Times New Roman" panose="02020603050405020304"/>
                <a:ea typeface="等线" panose="02010600030101010101" charset="-122"/>
              </a:rPr>
              <a:t>就业机会与安全感</a:t>
            </a:r>
            <a:r>
              <a:rPr lang="zh-CN" sz="1600">
                <a:latin typeface="Times New Roman" panose="02020603050405020304"/>
                <a:ea typeface="等线" panose="02010600030101010101" charset="-122"/>
              </a:rPr>
              <a:t>。</a:t>
            </a:r>
            <a:r>
              <a:rPr lang="en-US" sz="1600">
                <a:latin typeface="Times New Roman" panose="02020603050405020304"/>
                <a:ea typeface="Times New Roman" panose="02020603050405020304"/>
              </a:rPr>
              <a:t>  </a:t>
            </a:r>
            <a:endParaRPr lang="en-US" altLang="zh-CN" sz="1600">
              <a:latin typeface="Times New Roman" panose="02020603050405020304"/>
              <a:ea typeface="Times New Roman" panose="02020603050405020304"/>
            </a:endParaRPr>
          </a:p>
        </p:txBody>
      </p:sp>
      <p:sp>
        <p:nvSpPr>
          <p:cNvPr id="47" name="文本框 46"/>
          <p:cNvSpPr txBox="1"/>
          <p:nvPr/>
        </p:nvSpPr>
        <p:spPr>
          <a:xfrm>
            <a:off x="6861175" y="5481638"/>
            <a:ext cx="5080000" cy="829945"/>
          </a:xfrm>
          <a:prstGeom prst="rect">
            <a:avLst/>
          </a:prstGeom>
        </p:spPr>
        <p:txBody>
          <a:bodyPr>
            <a:spAutoFit/>
          </a:bodyPr>
          <a:p>
            <a:pPr indent="0" algn="just" defTabSz="266700">
              <a:spcBef>
                <a:spcPct val="0"/>
              </a:spcBef>
              <a:spcAft>
                <a:spcPct val="0"/>
              </a:spcAft>
              <a:buNone/>
            </a:pPr>
            <a:r>
              <a:rPr lang="zh-CN" sz="1600">
                <a:latin typeface="Times New Roman" panose="02020603050405020304"/>
                <a:ea typeface="等线" panose="02010600030101010101" charset="-122"/>
              </a:rPr>
              <a:t>职场年龄歧视与群体规范效应形成深层社会壁垒，前者通过制度性</a:t>
            </a:r>
            <a:r>
              <a:rPr lang="zh-CN" sz="1600" b="1">
                <a:latin typeface="Times New Roman" panose="02020603050405020304"/>
                <a:ea typeface="等线" panose="02010600030101010101" charset="-122"/>
              </a:rPr>
              <a:t>排斥压缩就业空间</a:t>
            </a:r>
            <a:r>
              <a:rPr lang="zh-CN" sz="1600">
                <a:latin typeface="Times New Roman" panose="02020603050405020304"/>
                <a:ea typeface="等线" panose="02010600030101010101" charset="-122"/>
              </a:rPr>
              <a:t>，后者通过文化认知</a:t>
            </a:r>
            <a:r>
              <a:rPr lang="zh-CN" sz="1600" b="1">
                <a:latin typeface="Times New Roman" panose="02020603050405020304"/>
                <a:ea typeface="等线" panose="02010600030101010101" charset="-122"/>
              </a:rPr>
              <a:t>抑制就业意愿</a:t>
            </a:r>
            <a:r>
              <a:rPr lang="zh-CN" sz="1600">
                <a:latin typeface="Times New Roman" panose="02020603050405020304"/>
                <a:ea typeface="等线" panose="02010600030101010101" charset="-122"/>
              </a:rPr>
              <a:t>，二者共同构成老年</a:t>
            </a:r>
            <a:r>
              <a:rPr lang="zh-CN" sz="1600" b="1">
                <a:latin typeface="Times New Roman" panose="02020603050405020304"/>
                <a:ea typeface="等线" panose="02010600030101010101" charset="-122"/>
              </a:rPr>
              <a:t>就业的</a:t>
            </a:r>
            <a:r>
              <a:rPr lang="en-US" sz="1600" b="1">
                <a:latin typeface="Times New Roman" panose="02020603050405020304"/>
                <a:ea typeface="Times New Roman" panose="02020603050405020304"/>
              </a:rPr>
              <a:t>“</a:t>
            </a:r>
            <a:r>
              <a:rPr lang="zh-CN" sz="1600" b="1">
                <a:latin typeface="Times New Roman" panose="02020603050405020304"/>
                <a:ea typeface="等线" panose="02010600030101010101" charset="-122"/>
              </a:rPr>
              <a:t>隐性天花板</a:t>
            </a:r>
            <a:r>
              <a:rPr lang="en-US" sz="1600" b="1">
                <a:latin typeface="Times New Roman" panose="02020603050405020304"/>
                <a:ea typeface="Times New Roman" panose="02020603050405020304"/>
              </a:rPr>
              <a:t>”</a:t>
            </a:r>
            <a:r>
              <a:rPr lang="zh-CN" sz="1600">
                <a:latin typeface="Times New Roman" panose="02020603050405020304"/>
                <a:ea typeface="等线" panose="02010600030101010101" charset="-122"/>
              </a:rPr>
              <a:t>。</a:t>
            </a:r>
            <a:r>
              <a:rPr lang="en-US" sz="1600">
                <a:latin typeface="Times New Roman" panose="02020603050405020304"/>
                <a:ea typeface="Times New Roman" panose="02020603050405020304"/>
              </a:rPr>
              <a:t>  </a:t>
            </a:r>
            <a:endParaRPr lang="en-US" altLang="zh-CN" sz="1600">
              <a:latin typeface="Times New Roman" panose="02020603050405020304"/>
              <a:ea typeface="Times New Roman" panose="02020603050405020304"/>
            </a:endParaRPr>
          </a:p>
        </p:txBody>
      </p:sp>
      <p:sp>
        <p:nvSpPr>
          <p:cNvPr id="48" name="圆角矩形 47"/>
          <p:cNvSpPr/>
          <p:nvPr/>
        </p:nvSpPr>
        <p:spPr>
          <a:xfrm>
            <a:off x="1227455" y="1019175"/>
            <a:ext cx="10964545" cy="5419725"/>
          </a:xfrm>
          <a:prstGeom prst="roundRect">
            <a:avLst/>
          </a:prstGeom>
          <a:solidFill>
            <a:schemeClr val="bg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49" name="图示 48"/>
          <p:cNvGraphicFramePr/>
          <p:nvPr/>
        </p:nvGraphicFramePr>
        <p:xfrm>
          <a:off x="2032000" y="1407795"/>
          <a:ext cx="7320280" cy="473011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50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fade">
                                      <p:cBhvr>
                                        <p:cTn id="20" dur="500"/>
                                        <p:tgtEl>
                                          <p:spTgt spid="4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500"/>
                                        <p:tgtEl>
                                          <p:spTgt spid="4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7"/>
                                        </p:tgtEl>
                                        <p:attrNameLst>
                                          <p:attrName>style.visibility</p:attrName>
                                        </p:attrNameLst>
                                      </p:cBhvr>
                                      <p:to>
                                        <p:strVal val="visible"/>
                                      </p:to>
                                    </p:set>
                                    <p:animEffect transition="in" filter="fade">
                                      <p:cBhvr>
                                        <p:cTn id="30" dur="500"/>
                                        <p:tgtEl>
                                          <p:spTgt spid="47"/>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9"/>
                                        </p:tgtEl>
                                        <p:attrNameLst>
                                          <p:attrName>style.visibility</p:attrName>
                                        </p:attrNameLst>
                                      </p:cBhvr>
                                      <p:to>
                                        <p:strVal val="visible"/>
                                      </p:to>
                                    </p:set>
                                    <p:anim calcmode="lin" valueType="num">
                                      <p:cBhvr additive="base">
                                        <p:cTn id="35" dur="500" fill="hold"/>
                                        <p:tgtEl>
                                          <p:spTgt spid="49"/>
                                        </p:tgtEl>
                                        <p:attrNameLst>
                                          <p:attrName>ppt_x</p:attrName>
                                        </p:attrNameLst>
                                      </p:cBhvr>
                                      <p:tavLst>
                                        <p:tav tm="0">
                                          <p:val>
                                            <p:strVal val="#ppt_x"/>
                                          </p:val>
                                        </p:tav>
                                        <p:tav tm="100000">
                                          <p:val>
                                            <p:strVal val="#ppt_x"/>
                                          </p:val>
                                        </p:tav>
                                      </p:tavLst>
                                    </p:anim>
                                    <p:anim calcmode="lin" valueType="num">
                                      <p:cBhvr additive="base">
                                        <p:cTn id="36" dur="500" fill="hold"/>
                                        <p:tgtEl>
                                          <p:spTgt spid="4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4" grpId="1"/>
      <p:bldP spid="45" grpId="0"/>
      <p:bldP spid="45" grpId="1"/>
      <p:bldP spid="46" grpId="0"/>
      <p:bldP spid="46" grpId="1"/>
      <p:bldP spid="47" grpId="0"/>
      <p:bldP spid="47" grpId="1"/>
      <p:bldP spid="48" grpId="0" animBg="1"/>
      <p:bldP spid="48"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840355" y="1981288"/>
            <a:ext cx="1927225" cy="307340"/>
          </a:xfrm>
          <a:prstGeom prst="rect">
            <a:avLst/>
          </a:prstGeom>
          <a:noFill/>
        </p:spPr>
        <p:txBody>
          <a:bodyPr wrap="none" lIns="0" tIns="0" rIns="0" bIns="0" rtlCol="0">
            <a:spAutoFit/>
          </a:bodyPr>
          <a:lstStyle/>
          <a:p>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1</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）精准</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技能培训</a:t>
            </a:r>
            <a:endPar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 name="TextBox 11"/>
          <p:cNvSpPr txBox="1"/>
          <p:nvPr>
            <p:custDataLst>
              <p:tags r:id="rId2"/>
            </p:custDataLst>
          </p:nvPr>
        </p:nvSpPr>
        <p:spPr>
          <a:xfrm>
            <a:off x="5840095" y="2489200"/>
            <a:ext cx="5523230" cy="692150"/>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spcAft>
                <a:spcPts val="1000"/>
              </a:spcAft>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针对不同行业需求，开发</a:t>
            </a:r>
            <a:r>
              <a:rPr lang="en-US" altLang="zh-CN" sz="14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银发人才</a:t>
            </a:r>
            <a:r>
              <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专项培训项目（如智能设备应用、健康照护技术），依托社区教育中心或线上平台提供灵活课程，重点提升数字获取能力与跨行业技能迁移能力，缓解技术替代风险。</a:t>
            </a:r>
            <a:endPar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7" name="文本框 6"/>
          <p:cNvSpPr txBox="1"/>
          <p:nvPr>
            <p:custDataLst>
              <p:tags r:id="rId3"/>
            </p:custDataLst>
          </p:nvPr>
        </p:nvSpPr>
        <p:spPr>
          <a:xfrm>
            <a:off x="5840355" y="4284837"/>
            <a:ext cx="1927225" cy="307340"/>
          </a:xfrm>
          <a:prstGeom prst="rect">
            <a:avLst/>
          </a:prstGeom>
          <a:noFill/>
        </p:spPr>
        <p:txBody>
          <a:bodyPr wrap="none" lIns="0" tIns="0" rIns="0" bIns="0" rtlCol="0">
            <a:spAutoFit/>
          </a:bodyPr>
          <a:lstStyle/>
          <a:p>
            <a:pPr algn="l"/>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2</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）健康管理干预</a:t>
            </a:r>
            <a:endPar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8" name="TextBox 11"/>
          <p:cNvSpPr txBox="1"/>
          <p:nvPr>
            <p:custDataLst>
              <p:tags r:id="rId4"/>
            </p:custDataLst>
          </p:nvPr>
        </p:nvSpPr>
        <p:spPr>
          <a:xfrm>
            <a:off x="5840095" y="4792980"/>
            <a:ext cx="5523230" cy="692150"/>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spcAft>
                <a:spcPts val="1000"/>
              </a:spcAft>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建立</a:t>
            </a:r>
            <a:r>
              <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健康</a:t>
            </a:r>
            <a:r>
              <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 - </a:t>
            </a: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就业</a:t>
            </a:r>
            <a:r>
              <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联动机制，通过企业与医疗机构合作提供职业健康评估，推广适合老年人的轻量型工作模式（如分时制、远程办公），以健康资本增值延长职业生命周期。</a:t>
            </a:r>
            <a:r>
              <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 </a:t>
            </a:r>
            <a:endParaRPr lang="en-US" altLang="zh-CN" sz="14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9" name="文本框 8"/>
          <p:cNvSpPr txBox="1"/>
          <p:nvPr>
            <p:custDataLst>
              <p:tags r:id="rId5"/>
            </p:custDataLst>
          </p:nvPr>
        </p:nvSpPr>
        <p:spPr>
          <a:xfrm>
            <a:off x="7240680" y="3441106"/>
            <a:ext cx="2036445" cy="215265"/>
          </a:xfrm>
          <a:prstGeom prst="rect">
            <a:avLst/>
          </a:prstGeom>
          <a:noFill/>
        </p:spPr>
        <p:txBody>
          <a:bodyPr wrap="none" lIns="0" tIns="0" rIns="0" bIns="0" rtlCol="0" anchor="ctr">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数字化工具  </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智能化</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设备</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圆角矩形 9"/>
          <p:cNvSpPr/>
          <p:nvPr>
            <p:custDataLst>
              <p:tags r:id="rId6"/>
            </p:custDataLst>
          </p:nvPr>
        </p:nvSpPr>
        <p:spPr>
          <a:xfrm>
            <a:off x="5840355" y="3393871"/>
            <a:ext cx="1206500" cy="261610"/>
          </a:xfrm>
          <a:prstGeom prst="roundRect">
            <a:avLst/>
          </a:prstGeom>
          <a:solidFill>
            <a:srgbClr val="2E61FA"/>
          </a:solidFill>
          <a:ln>
            <a:noFill/>
          </a:ln>
          <a:effectLst>
            <a:outerShdw blurRad="2540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sym typeface="微软雅黑" panose="020B0503020204020204" pitchFamily="34" charset="-122"/>
              </a:rPr>
              <a:t>就业准备</a:t>
            </a:r>
            <a:endParaRPr lang="zh-CN" altLang="en-US" sz="14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文本框 10"/>
          <p:cNvSpPr txBox="1"/>
          <p:nvPr>
            <p:custDataLst>
              <p:tags r:id="rId7"/>
            </p:custDataLst>
          </p:nvPr>
        </p:nvSpPr>
        <p:spPr>
          <a:xfrm>
            <a:off x="7240680" y="5754438"/>
            <a:ext cx="2392045" cy="215265"/>
          </a:xfrm>
          <a:prstGeom prst="rect">
            <a:avLst/>
          </a:prstGeom>
          <a:noFill/>
        </p:spPr>
        <p:txBody>
          <a:bodyPr wrap="none" lIns="0" tIns="0" rIns="0" bIns="0" rtlCol="0" anchor="ctr">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健康资本评估  </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有效体力</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匹配</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8"/>
            </p:custDataLst>
          </p:nvPr>
        </p:nvSpPr>
        <p:spPr>
          <a:xfrm>
            <a:off x="5840355" y="5707202"/>
            <a:ext cx="1206500" cy="261610"/>
          </a:xfrm>
          <a:prstGeom prst="roundRect">
            <a:avLst/>
          </a:prstGeom>
          <a:solidFill>
            <a:srgbClr val="4A82DE"/>
          </a:solidFill>
          <a:ln>
            <a:noFill/>
          </a:ln>
          <a:effectLst>
            <a:outerShdw blurRad="2540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sym typeface="微软雅黑" panose="020B0503020204020204" pitchFamily="34" charset="-122"/>
              </a:rPr>
              <a:t>就业</a:t>
            </a:r>
            <a:r>
              <a:rPr lang="zh-CN" altLang="en-US" sz="1400" dirty="0">
                <a:latin typeface="微软雅黑" panose="020B0503020204020204" pitchFamily="34" charset="-122"/>
                <a:ea typeface="微软雅黑" panose="020B0503020204020204" pitchFamily="34" charset="-122"/>
                <a:sym typeface="微软雅黑" panose="020B0503020204020204" pitchFamily="34" charset="-122"/>
              </a:rPr>
              <a:t>准备</a:t>
            </a:r>
            <a:endParaRPr lang="zh-CN" altLang="en-US" sz="1400" dirty="0">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3" name="图片 12"/>
          <p:cNvPicPr>
            <a:picLocks noChangeAspect="1"/>
          </p:cNvPicPr>
          <p:nvPr/>
        </p:nvPicPr>
        <p:blipFill>
          <a:blip r:embed="rId9" cstate="screen"/>
          <a:stretch>
            <a:fillRect/>
          </a:stretch>
        </p:blipFill>
        <p:spPr>
          <a:xfrm>
            <a:off x="1818882" y="4261202"/>
            <a:ext cx="3291854" cy="1845642"/>
          </a:xfrm>
          <a:prstGeom prst="rect">
            <a:avLst/>
          </a:prstGeom>
          <a:solidFill>
            <a:srgbClr val="364BFF"/>
          </a:solidFill>
          <a:effectLst>
            <a:outerShdw blurRad="254000" dist="63500" dir="2700000" algn="tl" rotWithShape="0">
              <a:prstClr val="black">
                <a:alpha val="25000"/>
              </a:prstClr>
            </a:outerShdw>
          </a:effectLst>
        </p:spPr>
      </p:pic>
      <p:pic>
        <p:nvPicPr>
          <p:cNvPr id="14" name="图片 13"/>
          <p:cNvPicPr>
            <a:picLocks noChangeAspect="1"/>
          </p:cNvPicPr>
          <p:nvPr/>
        </p:nvPicPr>
        <p:blipFill>
          <a:blip r:embed="rId10" cstate="screen"/>
          <a:stretch>
            <a:fillRect/>
          </a:stretch>
        </p:blipFill>
        <p:spPr>
          <a:xfrm>
            <a:off x="1818882" y="1981235"/>
            <a:ext cx="3291854" cy="1849708"/>
          </a:xfrm>
          <a:prstGeom prst="rect">
            <a:avLst/>
          </a:prstGeom>
          <a:effectLst>
            <a:outerShdw blurRad="254000" dist="63500" dir="2700000" algn="tl" rotWithShape="0">
              <a:prstClr val="black">
                <a:alpha val="25000"/>
              </a:prstClr>
            </a:outerShdw>
          </a:effectLst>
        </p:spPr>
      </p:pic>
      <p:sp>
        <p:nvSpPr>
          <p:cNvPr id="15" name="PA-文本框 8"/>
          <p:cNvSpPr txBox="1"/>
          <p:nvPr>
            <p:custDataLst>
              <p:tags r:id="rId11"/>
            </p:custDataLst>
          </p:nvPr>
        </p:nvSpPr>
        <p:spPr>
          <a:xfrm>
            <a:off x="1271905" y="485140"/>
            <a:ext cx="6731000"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三、老年劳动力</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再就业影响因素解析</a:t>
            </a:r>
            <a:r>
              <a:rPr lang="en-US" altLang="zh-CN"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建议</a:t>
            </a:r>
            <a:endPar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1"/>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894715" y="1254125"/>
            <a:ext cx="7493635" cy="460375"/>
          </a:xfrm>
          <a:prstGeom prst="rect">
            <a:avLst/>
          </a:prstGeom>
        </p:spPr>
        <p:txBody>
          <a:bodyPr wrap="square">
            <a:spAutoFit/>
          </a:bodyPr>
          <a:p>
            <a:pPr defTabSz="266700"/>
            <a:r>
              <a:rPr lang="en-US" altLang="zh-CN" sz="2400" b="1">
                <a:ea typeface="宋体" panose="02010600030101010101" pitchFamily="2" charset="-122"/>
              </a:rPr>
              <a:t>1. </a:t>
            </a:r>
            <a:r>
              <a:rPr lang="zh-CN" sz="2400" b="1">
                <a:ea typeface="宋体" panose="02010600030101010101" pitchFamily="2" charset="-122"/>
              </a:rPr>
              <a:t>个体层面：</a:t>
            </a:r>
            <a:r>
              <a:rPr lang="zh-CN" sz="2400" b="1">
                <a:gradFill>
                  <a:gsLst>
                    <a:gs pos="50000">
                      <a:srgbClr val="3474CB"/>
                    </a:gs>
                    <a:gs pos="0">
                      <a:srgbClr val="03BEC1"/>
                    </a:gs>
                    <a:gs pos="100000">
                      <a:srgbClr val="8E52DF"/>
                    </a:gs>
                  </a:gsLst>
                  <a:lin ang="5400000" scaled="1"/>
                </a:gradFill>
                <a:ea typeface="宋体" panose="02010600030101010101" pitchFamily="2" charset="-122"/>
              </a:rPr>
              <a:t>强化人力资本投资，提升就业韧性</a:t>
            </a:r>
            <a:endParaRPr lang="zh-CN" altLang="en-US" sz="2400" b="1">
              <a:gradFill>
                <a:gsLst>
                  <a:gs pos="50000">
                    <a:srgbClr val="3474CB"/>
                  </a:gs>
                  <a:gs pos="0">
                    <a:srgbClr val="03BEC1"/>
                  </a:gs>
                  <a:gs pos="100000">
                    <a:srgbClr val="8E52DF"/>
                  </a:gs>
                </a:gsLst>
                <a:lin ang="5400000" scaled="1"/>
              </a:gra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animBg="1"/>
      <p:bldP spid="11" grpId="0"/>
      <p:bldP spid="12" grpId="0" animBg="1"/>
      <p:bldP spid="3" grpId="0"/>
      <p:bldP spid="5" grpId="1"/>
      <p:bldP spid="6" grpId="1"/>
      <p:bldP spid="7" grpId="1"/>
      <p:bldP spid="8" grpId="1"/>
      <p:bldP spid="9" grpId="1"/>
      <p:bldP spid="10" grpId="1" animBg="1"/>
      <p:bldP spid="11" grpId="1"/>
      <p:bldP spid="12" grpId="1" animBg="1"/>
      <p:bldP spid="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任意多边形: 形状 13"/>
          <p:cNvSpPr/>
          <p:nvPr>
            <p:custDataLst>
              <p:tags r:id="rId1"/>
            </p:custDataLst>
          </p:nvPr>
        </p:nvSpPr>
        <p:spPr>
          <a:xfrm rot="3208502">
            <a:off x="1807760" y="3452508"/>
            <a:ext cx="1708059" cy="2360641"/>
          </a:xfrm>
          <a:custGeom>
            <a:avLst/>
            <a:gdLst>
              <a:gd name="connsiteX0" fmla="*/ 854076 w 1708152"/>
              <a:gd name="connsiteY0" fmla="*/ 0 h 2360771"/>
              <a:gd name="connsiteX1" fmla="*/ 1238886 w 1708152"/>
              <a:gd name="connsiteY1" fmla="*/ 384810 h 2360771"/>
              <a:gd name="connsiteX2" fmla="*/ 1046481 w 1708152"/>
              <a:gd name="connsiteY2" fmla="*/ 384810 h 2360771"/>
              <a:gd name="connsiteX3" fmla="*/ 1046481 w 1708152"/>
              <a:gd name="connsiteY3" fmla="*/ 676266 h 2360771"/>
              <a:gd name="connsiteX4" fmla="*/ 1186521 w 1708152"/>
              <a:gd name="connsiteY4" fmla="*/ 719737 h 2360771"/>
              <a:gd name="connsiteX5" fmla="*/ 1708152 w 1708152"/>
              <a:gd name="connsiteY5" fmla="*/ 1506695 h 2360771"/>
              <a:gd name="connsiteX6" fmla="*/ 854076 w 1708152"/>
              <a:gd name="connsiteY6" fmla="*/ 2360771 h 2360771"/>
              <a:gd name="connsiteX7" fmla="*/ 0 w 1708152"/>
              <a:gd name="connsiteY7" fmla="*/ 1506695 h 2360771"/>
              <a:gd name="connsiteX8" fmla="*/ 521631 w 1708152"/>
              <a:gd name="connsiteY8" fmla="*/ 719737 h 2360771"/>
              <a:gd name="connsiteX9" fmla="*/ 661671 w 1708152"/>
              <a:gd name="connsiteY9" fmla="*/ 676266 h 2360771"/>
              <a:gd name="connsiteX10" fmla="*/ 661671 w 1708152"/>
              <a:gd name="connsiteY10" fmla="*/ 384810 h 2360771"/>
              <a:gd name="connsiteX11" fmla="*/ 469266 w 1708152"/>
              <a:gd name="connsiteY11" fmla="*/ 384810 h 2360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8152" h="2360771">
                <a:moveTo>
                  <a:pt x="854076" y="0"/>
                </a:moveTo>
                <a:lnTo>
                  <a:pt x="1238886" y="384810"/>
                </a:lnTo>
                <a:lnTo>
                  <a:pt x="1046481" y="384810"/>
                </a:lnTo>
                <a:lnTo>
                  <a:pt x="1046481" y="676266"/>
                </a:lnTo>
                <a:lnTo>
                  <a:pt x="1186521" y="719737"/>
                </a:lnTo>
                <a:cubicBezTo>
                  <a:pt x="1493062" y="849393"/>
                  <a:pt x="1708152" y="1152925"/>
                  <a:pt x="1708152" y="1506695"/>
                </a:cubicBezTo>
                <a:cubicBezTo>
                  <a:pt x="1708152" y="1978388"/>
                  <a:pt x="1325769" y="2360771"/>
                  <a:pt x="854076" y="2360771"/>
                </a:cubicBezTo>
                <a:cubicBezTo>
                  <a:pt x="382383" y="2360771"/>
                  <a:pt x="0" y="1978388"/>
                  <a:pt x="0" y="1506695"/>
                </a:cubicBezTo>
                <a:cubicBezTo>
                  <a:pt x="0" y="1152925"/>
                  <a:pt x="215090" y="849393"/>
                  <a:pt x="521631" y="719737"/>
                </a:cubicBezTo>
                <a:lnTo>
                  <a:pt x="661671" y="676266"/>
                </a:lnTo>
                <a:lnTo>
                  <a:pt x="661671" y="384810"/>
                </a:lnTo>
                <a:lnTo>
                  <a:pt x="469266" y="384810"/>
                </a:lnTo>
                <a:close/>
              </a:path>
            </a:pathLst>
          </a:custGeom>
          <a:gradFill>
            <a:gsLst>
              <a:gs pos="0">
                <a:srgbClr val="2E61FA">
                  <a:alpha val="36000"/>
                </a:srgbClr>
              </a:gs>
              <a:gs pos="100000">
                <a:srgbClr val="2E61FA">
                  <a:alpha val="0"/>
                </a:srgbClr>
              </a:gs>
            </a:gsLst>
            <a:lin ang="5400000" scaled="1"/>
          </a:gradFill>
          <a:ln w="12700" cap="flat" cmpd="sng" algn="ctr">
            <a:noFill/>
            <a:prstDash val="solid"/>
            <a:miter lim="800000"/>
          </a:ln>
          <a:effectLst/>
        </p:spPr>
        <p:txBody>
          <a:bodyPr rot="0" spcFirstLastPara="0" vertOverflow="overflow" horzOverflow="overflow" vert="horz" wrap="square" lIns="91435" tIns="45718" rIns="91435" bIns="45718" numCol="1" spcCol="0" rtlCol="0" fromWordArt="0" anchor="ctr" anchorCtr="0" forceAA="0" compatLnSpc="1">
            <a:noAutofit/>
          </a:bodyPr>
          <a:lstStyle/>
          <a:p>
            <a:pPr algn="ctr"/>
            <a:endParaRPr lang="zh-CN" altLang="en-US" sz="1800" kern="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5" name="任意多边形: 形状 14"/>
          <p:cNvSpPr/>
          <p:nvPr>
            <p:custDataLst>
              <p:tags r:id="rId2"/>
            </p:custDataLst>
          </p:nvPr>
        </p:nvSpPr>
        <p:spPr>
          <a:xfrm rot="3208502">
            <a:off x="8863977" y="3452508"/>
            <a:ext cx="1708059" cy="2360641"/>
          </a:xfrm>
          <a:custGeom>
            <a:avLst/>
            <a:gdLst>
              <a:gd name="connsiteX0" fmla="*/ 854076 w 1708152"/>
              <a:gd name="connsiteY0" fmla="*/ 0 h 2360771"/>
              <a:gd name="connsiteX1" fmla="*/ 1238886 w 1708152"/>
              <a:gd name="connsiteY1" fmla="*/ 384810 h 2360771"/>
              <a:gd name="connsiteX2" fmla="*/ 1046481 w 1708152"/>
              <a:gd name="connsiteY2" fmla="*/ 384810 h 2360771"/>
              <a:gd name="connsiteX3" fmla="*/ 1046481 w 1708152"/>
              <a:gd name="connsiteY3" fmla="*/ 676266 h 2360771"/>
              <a:gd name="connsiteX4" fmla="*/ 1186521 w 1708152"/>
              <a:gd name="connsiteY4" fmla="*/ 719737 h 2360771"/>
              <a:gd name="connsiteX5" fmla="*/ 1708152 w 1708152"/>
              <a:gd name="connsiteY5" fmla="*/ 1506695 h 2360771"/>
              <a:gd name="connsiteX6" fmla="*/ 854076 w 1708152"/>
              <a:gd name="connsiteY6" fmla="*/ 2360771 h 2360771"/>
              <a:gd name="connsiteX7" fmla="*/ 0 w 1708152"/>
              <a:gd name="connsiteY7" fmla="*/ 1506695 h 2360771"/>
              <a:gd name="connsiteX8" fmla="*/ 521631 w 1708152"/>
              <a:gd name="connsiteY8" fmla="*/ 719737 h 2360771"/>
              <a:gd name="connsiteX9" fmla="*/ 661671 w 1708152"/>
              <a:gd name="connsiteY9" fmla="*/ 676266 h 2360771"/>
              <a:gd name="connsiteX10" fmla="*/ 661671 w 1708152"/>
              <a:gd name="connsiteY10" fmla="*/ 384810 h 2360771"/>
              <a:gd name="connsiteX11" fmla="*/ 469266 w 1708152"/>
              <a:gd name="connsiteY11" fmla="*/ 384810 h 2360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8152" h="2360771">
                <a:moveTo>
                  <a:pt x="854076" y="0"/>
                </a:moveTo>
                <a:lnTo>
                  <a:pt x="1238886" y="384810"/>
                </a:lnTo>
                <a:lnTo>
                  <a:pt x="1046481" y="384810"/>
                </a:lnTo>
                <a:lnTo>
                  <a:pt x="1046481" y="676266"/>
                </a:lnTo>
                <a:lnTo>
                  <a:pt x="1186521" y="719737"/>
                </a:lnTo>
                <a:cubicBezTo>
                  <a:pt x="1493062" y="849393"/>
                  <a:pt x="1708152" y="1152925"/>
                  <a:pt x="1708152" y="1506695"/>
                </a:cubicBezTo>
                <a:cubicBezTo>
                  <a:pt x="1708152" y="1978388"/>
                  <a:pt x="1325769" y="2360771"/>
                  <a:pt x="854076" y="2360771"/>
                </a:cubicBezTo>
                <a:cubicBezTo>
                  <a:pt x="382383" y="2360771"/>
                  <a:pt x="0" y="1978388"/>
                  <a:pt x="0" y="1506695"/>
                </a:cubicBezTo>
                <a:cubicBezTo>
                  <a:pt x="0" y="1152925"/>
                  <a:pt x="215090" y="849393"/>
                  <a:pt x="521631" y="719737"/>
                </a:cubicBezTo>
                <a:lnTo>
                  <a:pt x="661671" y="676266"/>
                </a:lnTo>
                <a:lnTo>
                  <a:pt x="661671" y="384810"/>
                </a:lnTo>
                <a:lnTo>
                  <a:pt x="469266" y="384810"/>
                </a:lnTo>
                <a:close/>
              </a:path>
            </a:pathLst>
          </a:custGeom>
          <a:gradFill>
            <a:gsLst>
              <a:gs pos="0">
                <a:srgbClr val="2E61FA">
                  <a:alpha val="36000"/>
                </a:srgbClr>
              </a:gs>
              <a:gs pos="100000">
                <a:srgbClr val="2E61FA">
                  <a:alpha val="0"/>
                </a:srgbClr>
              </a:gs>
            </a:gsLst>
            <a:lin ang="5400000" scaled="1"/>
          </a:gradFill>
          <a:ln w="12700" cap="flat" cmpd="sng" algn="ctr">
            <a:noFill/>
            <a:prstDash val="solid"/>
            <a:miter lim="800000"/>
          </a:ln>
          <a:effectLst/>
        </p:spPr>
        <p:txBody>
          <a:bodyPr rot="0" spcFirstLastPara="0" vertOverflow="overflow" horzOverflow="overflow" vert="horz" wrap="square" lIns="91435" tIns="45718" rIns="91435" bIns="45718" numCol="1" spcCol="0" rtlCol="0" fromWordArt="0" anchor="ctr" anchorCtr="0" forceAA="0" compatLnSpc="1">
            <a:noAutofit/>
          </a:bodyPr>
          <a:lstStyle/>
          <a:p>
            <a:pPr algn="ctr"/>
            <a:endParaRPr lang="zh-CN" altLang="en-US" sz="1800" kern="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6" name="任意多边形: 形状 15"/>
          <p:cNvSpPr/>
          <p:nvPr>
            <p:custDataLst>
              <p:tags r:id="rId3"/>
            </p:custDataLst>
          </p:nvPr>
        </p:nvSpPr>
        <p:spPr>
          <a:xfrm rot="18391498" flipV="1">
            <a:off x="5289783" y="2411986"/>
            <a:ext cx="1708059" cy="2360641"/>
          </a:xfrm>
          <a:custGeom>
            <a:avLst/>
            <a:gdLst>
              <a:gd name="connsiteX0" fmla="*/ 854076 w 1708152"/>
              <a:gd name="connsiteY0" fmla="*/ 0 h 2360771"/>
              <a:gd name="connsiteX1" fmla="*/ 1238886 w 1708152"/>
              <a:gd name="connsiteY1" fmla="*/ 384810 h 2360771"/>
              <a:gd name="connsiteX2" fmla="*/ 1046481 w 1708152"/>
              <a:gd name="connsiteY2" fmla="*/ 384810 h 2360771"/>
              <a:gd name="connsiteX3" fmla="*/ 1046481 w 1708152"/>
              <a:gd name="connsiteY3" fmla="*/ 676266 h 2360771"/>
              <a:gd name="connsiteX4" fmla="*/ 1186521 w 1708152"/>
              <a:gd name="connsiteY4" fmla="*/ 719737 h 2360771"/>
              <a:gd name="connsiteX5" fmla="*/ 1708152 w 1708152"/>
              <a:gd name="connsiteY5" fmla="*/ 1506695 h 2360771"/>
              <a:gd name="connsiteX6" fmla="*/ 854076 w 1708152"/>
              <a:gd name="connsiteY6" fmla="*/ 2360771 h 2360771"/>
              <a:gd name="connsiteX7" fmla="*/ 0 w 1708152"/>
              <a:gd name="connsiteY7" fmla="*/ 1506695 h 2360771"/>
              <a:gd name="connsiteX8" fmla="*/ 521631 w 1708152"/>
              <a:gd name="connsiteY8" fmla="*/ 719737 h 2360771"/>
              <a:gd name="connsiteX9" fmla="*/ 661671 w 1708152"/>
              <a:gd name="connsiteY9" fmla="*/ 676266 h 2360771"/>
              <a:gd name="connsiteX10" fmla="*/ 661671 w 1708152"/>
              <a:gd name="connsiteY10" fmla="*/ 384810 h 2360771"/>
              <a:gd name="connsiteX11" fmla="*/ 469266 w 1708152"/>
              <a:gd name="connsiteY11" fmla="*/ 384810 h 2360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8152" h="2360771">
                <a:moveTo>
                  <a:pt x="854076" y="0"/>
                </a:moveTo>
                <a:lnTo>
                  <a:pt x="1238886" y="384810"/>
                </a:lnTo>
                <a:lnTo>
                  <a:pt x="1046481" y="384810"/>
                </a:lnTo>
                <a:lnTo>
                  <a:pt x="1046481" y="676266"/>
                </a:lnTo>
                <a:lnTo>
                  <a:pt x="1186521" y="719737"/>
                </a:lnTo>
                <a:cubicBezTo>
                  <a:pt x="1493062" y="849393"/>
                  <a:pt x="1708152" y="1152925"/>
                  <a:pt x="1708152" y="1506695"/>
                </a:cubicBezTo>
                <a:cubicBezTo>
                  <a:pt x="1708152" y="1978388"/>
                  <a:pt x="1325769" y="2360771"/>
                  <a:pt x="854076" y="2360771"/>
                </a:cubicBezTo>
                <a:cubicBezTo>
                  <a:pt x="382383" y="2360771"/>
                  <a:pt x="0" y="1978388"/>
                  <a:pt x="0" y="1506695"/>
                </a:cubicBezTo>
                <a:cubicBezTo>
                  <a:pt x="0" y="1152925"/>
                  <a:pt x="215090" y="849393"/>
                  <a:pt x="521631" y="719737"/>
                </a:cubicBezTo>
                <a:lnTo>
                  <a:pt x="661671" y="676266"/>
                </a:lnTo>
                <a:lnTo>
                  <a:pt x="661671" y="384810"/>
                </a:lnTo>
                <a:lnTo>
                  <a:pt x="469266" y="384810"/>
                </a:lnTo>
                <a:close/>
              </a:path>
            </a:pathLst>
          </a:custGeom>
          <a:gradFill>
            <a:gsLst>
              <a:gs pos="0">
                <a:srgbClr val="2E61FA">
                  <a:alpha val="36000"/>
                </a:srgbClr>
              </a:gs>
              <a:gs pos="100000">
                <a:srgbClr val="2E61FA">
                  <a:alpha val="0"/>
                </a:srgbClr>
              </a:gs>
            </a:gsLst>
            <a:lin ang="5400000" scaled="1"/>
          </a:gradFill>
          <a:ln w="12700" cap="flat" cmpd="sng" algn="ctr">
            <a:noFill/>
            <a:prstDash val="solid"/>
            <a:miter lim="800000"/>
          </a:ln>
          <a:effectLst/>
        </p:spPr>
        <p:txBody>
          <a:bodyPr rot="0" spcFirstLastPara="0" vertOverflow="overflow" horzOverflow="overflow" vert="horz" wrap="square" lIns="91435" tIns="45718" rIns="91435" bIns="45718" numCol="1" spcCol="0" rtlCol="0" fromWordArt="0" anchor="ctr" anchorCtr="0" forceAA="0" compatLnSpc="1">
            <a:noAutofit/>
          </a:bodyPr>
          <a:lstStyle/>
          <a:p>
            <a:pPr algn="ctr" defTabSz="914400">
              <a:defRPr/>
            </a:pPr>
            <a:endParaRPr lang="zh-CN" altLang="en-US" sz="1800" kern="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9" name="椭圆 18"/>
          <p:cNvSpPr/>
          <p:nvPr>
            <p:custDataLst>
              <p:tags r:id="rId4"/>
            </p:custDataLst>
          </p:nvPr>
        </p:nvSpPr>
        <p:spPr>
          <a:xfrm>
            <a:off x="1644091" y="4061909"/>
            <a:ext cx="1489326" cy="1489326"/>
          </a:xfrm>
          <a:prstGeom prst="ellipse">
            <a:avLst/>
          </a:prstGeom>
          <a:solidFill>
            <a:schemeClr val="bg1"/>
          </a:solidFill>
          <a:ln w="12700" cap="flat" cmpd="sng" algn="ctr">
            <a:noFill/>
            <a:prstDash val="solid"/>
            <a:miter lim="800000"/>
          </a:ln>
          <a:effectLst>
            <a:outerShdw blurRad="127000" dist="38100" dir="2700000" algn="tl" rotWithShape="0">
              <a:schemeClr val="dk1">
                <a:alpha val="30000"/>
              </a:schemeClr>
            </a:outerShdw>
          </a:effectLst>
        </p:spPr>
        <p:txBody>
          <a:bodyPr rtlCol="0" anchor="ctr"/>
          <a:lstStyle/>
          <a:p>
            <a:pPr algn="ctr"/>
            <a:endParaRPr lang="zh-CN" altLang="en-US" sz="1800" kern="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0" name="椭圆 19"/>
          <p:cNvSpPr/>
          <p:nvPr>
            <p:custDataLst>
              <p:tags r:id="rId5"/>
            </p:custDataLst>
          </p:nvPr>
        </p:nvSpPr>
        <p:spPr>
          <a:xfrm>
            <a:off x="1730172" y="4147990"/>
            <a:ext cx="1317163" cy="1317163"/>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01</a:t>
            </a:r>
            <a:endParaRPr lang="zh-CN" altLang="en-US" sz="2800" b="1"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1" name="椭圆 20"/>
          <p:cNvSpPr/>
          <p:nvPr>
            <p:custDataLst>
              <p:tags r:id="rId6"/>
            </p:custDataLst>
          </p:nvPr>
        </p:nvSpPr>
        <p:spPr>
          <a:xfrm>
            <a:off x="1788680" y="4206498"/>
            <a:ext cx="1200145" cy="1200145"/>
          </a:xfrm>
          <a:prstGeom prst="ellipse">
            <a:avLst/>
          </a:prstGeom>
          <a:noFill/>
          <a:ln w="12700" cap="flat" cmpd="sng" algn="ctr">
            <a:solidFill>
              <a:schemeClr val="bg1">
                <a:alpha val="50000"/>
              </a:schemeClr>
            </a:solidFill>
            <a:prstDash val="solid"/>
            <a:miter lim="800000"/>
          </a:ln>
          <a:effectLst/>
        </p:spPr>
        <p:txBody>
          <a:bodyPr rtlCol="0" anchor="ctr"/>
          <a:lstStyle/>
          <a:p>
            <a:pPr algn="ctr" defTabSz="914400">
              <a:defRPr/>
            </a:pPr>
            <a:endParaRPr lang="zh-CN" altLang="en-US" sz="1800" kern="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3" name="椭圆 22"/>
          <p:cNvSpPr/>
          <p:nvPr>
            <p:custDataLst>
              <p:tags r:id="rId7"/>
            </p:custDataLst>
          </p:nvPr>
        </p:nvSpPr>
        <p:spPr>
          <a:xfrm>
            <a:off x="5154105" y="2652286"/>
            <a:ext cx="1489326" cy="1489326"/>
          </a:xfrm>
          <a:prstGeom prst="ellipse">
            <a:avLst/>
          </a:prstGeom>
          <a:solidFill>
            <a:schemeClr val="bg1"/>
          </a:solidFill>
          <a:ln w="12700" cap="flat" cmpd="sng" algn="ctr">
            <a:noFill/>
            <a:prstDash val="solid"/>
            <a:miter lim="800000"/>
          </a:ln>
          <a:effectLst>
            <a:outerShdw blurRad="127000" dist="38100" dir="2700000" algn="tl" rotWithShape="0">
              <a:schemeClr val="dk1">
                <a:alpha val="30000"/>
              </a:schemeClr>
            </a:outerShdw>
          </a:effectLst>
        </p:spPr>
        <p:txBody>
          <a:bodyPr rtlCol="0" anchor="ctr"/>
          <a:lstStyle/>
          <a:p>
            <a:pPr algn="ctr"/>
            <a:endParaRPr lang="zh-CN" altLang="en-US" sz="1800" kern="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4" name="椭圆 23"/>
          <p:cNvSpPr/>
          <p:nvPr>
            <p:custDataLst>
              <p:tags r:id="rId8"/>
            </p:custDataLst>
          </p:nvPr>
        </p:nvSpPr>
        <p:spPr>
          <a:xfrm>
            <a:off x="5240186" y="2738367"/>
            <a:ext cx="1317163" cy="1317163"/>
          </a:xfrm>
          <a:prstGeom prst="ellipse">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02</a:t>
            </a:r>
            <a:endParaRPr lang="zh-CN" altLang="en-US" sz="2800" b="1"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5" name="椭圆 24"/>
          <p:cNvSpPr/>
          <p:nvPr>
            <p:custDataLst>
              <p:tags r:id="rId9"/>
            </p:custDataLst>
          </p:nvPr>
        </p:nvSpPr>
        <p:spPr>
          <a:xfrm>
            <a:off x="5298694" y="2796876"/>
            <a:ext cx="1200145" cy="1200145"/>
          </a:xfrm>
          <a:prstGeom prst="ellipse">
            <a:avLst/>
          </a:prstGeom>
          <a:noFill/>
          <a:ln w="12700" cap="flat" cmpd="sng" algn="ctr">
            <a:solidFill>
              <a:schemeClr val="bg1">
                <a:alpha val="50000"/>
              </a:schemeClr>
            </a:solidFill>
            <a:prstDash val="solid"/>
            <a:miter lim="800000"/>
          </a:ln>
          <a:effectLst/>
        </p:spPr>
        <p:txBody>
          <a:bodyPr rtlCol="0" anchor="ctr"/>
          <a:lstStyle/>
          <a:p>
            <a:pPr algn="ctr" defTabSz="914400">
              <a:defRPr/>
            </a:pPr>
            <a:endParaRPr lang="zh-CN" altLang="en-US" sz="1800" kern="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7" name="椭圆 26"/>
          <p:cNvSpPr/>
          <p:nvPr>
            <p:custDataLst>
              <p:tags r:id="rId10"/>
            </p:custDataLst>
          </p:nvPr>
        </p:nvSpPr>
        <p:spPr>
          <a:xfrm>
            <a:off x="8700309" y="4061909"/>
            <a:ext cx="1489326" cy="1489326"/>
          </a:xfrm>
          <a:prstGeom prst="ellipse">
            <a:avLst/>
          </a:prstGeom>
          <a:solidFill>
            <a:schemeClr val="bg1"/>
          </a:solidFill>
          <a:ln w="12700" cap="flat" cmpd="sng" algn="ctr">
            <a:noFill/>
            <a:prstDash val="solid"/>
            <a:miter lim="800000"/>
          </a:ln>
          <a:effectLst>
            <a:outerShdw blurRad="127000" dist="38100" dir="2700000" algn="tl" rotWithShape="0">
              <a:schemeClr val="dk1">
                <a:alpha val="30000"/>
              </a:schemeClr>
            </a:outerShdw>
          </a:effectLst>
        </p:spPr>
        <p:txBody>
          <a:bodyPr rtlCol="0" anchor="ctr"/>
          <a:lstStyle/>
          <a:p>
            <a:pPr algn="ctr"/>
            <a:endParaRPr lang="zh-CN" altLang="en-US" sz="1800" kern="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8" name="椭圆 27"/>
          <p:cNvSpPr/>
          <p:nvPr>
            <p:custDataLst>
              <p:tags r:id="rId11"/>
            </p:custDataLst>
          </p:nvPr>
        </p:nvSpPr>
        <p:spPr>
          <a:xfrm>
            <a:off x="8786390" y="4147990"/>
            <a:ext cx="1317163" cy="1317163"/>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03</a:t>
            </a:r>
            <a:endParaRPr lang="zh-CN" altLang="en-US" sz="2800" b="1"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9" name="椭圆 28"/>
          <p:cNvSpPr/>
          <p:nvPr>
            <p:custDataLst>
              <p:tags r:id="rId12"/>
            </p:custDataLst>
          </p:nvPr>
        </p:nvSpPr>
        <p:spPr>
          <a:xfrm>
            <a:off x="8844898" y="4206498"/>
            <a:ext cx="1200145" cy="1200145"/>
          </a:xfrm>
          <a:prstGeom prst="ellipse">
            <a:avLst/>
          </a:prstGeom>
          <a:noFill/>
          <a:ln w="12700" cap="flat" cmpd="sng" algn="ctr">
            <a:solidFill>
              <a:schemeClr val="bg1">
                <a:alpha val="50000"/>
              </a:schemeClr>
            </a:solidFill>
            <a:prstDash val="solid"/>
            <a:miter lim="800000"/>
          </a:ln>
          <a:effectLst/>
        </p:spPr>
        <p:txBody>
          <a:bodyPr rtlCol="0" anchor="ctr"/>
          <a:lstStyle/>
          <a:p>
            <a:pPr algn="ctr" defTabSz="914400">
              <a:defRPr/>
            </a:pPr>
            <a:endParaRPr lang="zh-CN" altLang="en-US" sz="1800" kern="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8" name="textcount"/>
          <p:cNvSpPr txBox="1"/>
          <p:nvPr>
            <p:custDataLst>
              <p:tags r:id="rId13"/>
            </p:custDataLst>
          </p:nvPr>
        </p:nvSpPr>
        <p:spPr>
          <a:xfrm>
            <a:off x="788670" y="2543175"/>
            <a:ext cx="3559175" cy="1198880"/>
          </a:xfrm>
          <a:prstGeom prst="rect">
            <a:avLst/>
          </a:prstGeom>
          <a:noFill/>
        </p:spPr>
        <p:txBody>
          <a:bodyPr vert="horz" wrap="square" rtlCol="0">
            <a:spAutoFit/>
          </a:bodyPr>
          <a:lstStyle/>
          <a:p>
            <a:pPr algn="ctr">
              <a:lnSpc>
                <a:spcPct val="150000"/>
              </a:lnSpc>
              <a:defRPr/>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通过行业协会倡导</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年龄多样性</a:t>
            </a:r>
            <a:r>
              <a:rPr lang="en-US" altLang="zh-CN" sz="12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理念，推广</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跨代际团队</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工作模式，利用老年员工的经验优势与青年员工的技术</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优势</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形成</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互补</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；建立老年人才能力认证体系，破除</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唯年龄论</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的用人惯性。</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 </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9" name="文本框 38"/>
          <p:cNvSpPr txBox="1"/>
          <p:nvPr>
            <p:custDataLst>
              <p:tags r:id="rId14"/>
            </p:custDataLst>
          </p:nvPr>
        </p:nvSpPr>
        <p:spPr>
          <a:xfrm>
            <a:off x="1569618" y="2181219"/>
            <a:ext cx="1679041" cy="368300"/>
          </a:xfrm>
          <a:prstGeom prst="rect">
            <a:avLst/>
          </a:prstGeom>
          <a:noFill/>
        </p:spPr>
        <p:txBody>
          <a:bodyPr wrap="square" rtlCol="0" anchor="ctr">
            <a:spAutoFit/>
          </a:bodyPr>
          <a:lstStyle/>
          <a:p>
            <a:pPr algn="ctr">
              <a:defRPr/>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雇主观念革新</a:t>
            </a:r>
            <a:endPar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2" name="textcount"/>
          <p:cNvSpPr txBox="1"/>
          <p:nvPr>
            <p:custDataLst>
              <p:tags r:id="rId15"/>
            </p:custDataLst>
          </p:nvPr>
        </p:nvSpPr>
        <p:spPr>
          <a:xfrm>
            <a:off x="7893150" y="2543417"/>
            <a:ext cx="3241014" cy="922020"/>
          </a:xfrm>
          <a:prstGeom prst="rect">
            <a:avLst/>
          </a:prstGeom>
          <a:noFill/>
        </p:spPr>
        <p:txBody>
          <a:bodyPr vert="horz" wrap="square" rtlCol="0">
            <a:spAutoFit/>
          </a:bodyPr>
          <a:lstStyle/>
          <a:p>
            <a:pPr algn="ctr">
              <a:lnSpc>
                <a:spcPct val="150000"/>
              </a:lnSpc>
              <a:defRPr/>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通过媒体宣传、典型案例推广，</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重塑</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积极老龄化</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社会认知</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，将老年就业纳入</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银发经济</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发展框架，提升公众对老年劳动价值的</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认同感</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  </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3" name="文本框 52"/>
          <p:cNvSpPr txBox="1"/>
          <p:nvPr>
            <p:custDataLst>
              <p:tags r:id="rId16"/>
            </p:custDataLst>
          </p:nvPr>
        </p:nvSpPr>
        <p:spPr>
          <a:xfrm>
            <a:off x="8674136" y="2181219"/>
            <a:ext cx="1679041" cy="368300"/>
          </a:xfrm>
          <a:prstGeom prst="rect">
            <a:avLst/>
          </a:prstGeom>
          <a:noFill/>
        </p:spPr>
        <p:txBody>
          <a:bodyPr wrap="square" rtlCol="0" anchor="ctr">
            <a:spAutoFit/>
          </a:bodyPr>
          <a:lstStyle/>
          <a:p>
            <a:pPr algn="ctr">
              <a:defRPr/>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文化氛围</a:t>
            </a: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营造</a:t>
            </a:r>
            <a:endPar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8" name="textcount"/>
          <p:cNvSpPr txBox="1"/>
          <p:nvPr>
            <p:custDataLst>
              <p:tags r:id="rId17"/>
            </p:custDataLst>
          </p:nvPr>
        </p:nvSpPr>
        <p:spPr>
          <a:xfrm>
            <a:off x="4346947" y="5217655"/>
            <a:ext cx="3241014" cy="1198880"/>
          </a:xfrm>
          <a:prstGeom prst="rect">
            <a:avLst/>
          </a:prstGeom>
          <a:noFill/>
        </p:spPr>
        <p:txBody>
          <a:bodyPr vert="horz" wrap="square" rtlCol="0">
            <a:spAutoFit/>
          </a:bodyPr>
          <a:lstStyle/>
          <a:p>
            <a:pPr algn="ctr">
              <a:lnSpc>
                <a:spcPct val="150000"/>
              </a:lnSpc>
              <a:defRPr/>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依托社区服务、文旅康养、知识付费等领域，开发</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与老年人力资本特征契合的岗位</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（如社区网格员、文化传承人、在线教育顾问），</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借助数字技术</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降低就业门槛。</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 </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9" name="文本框 58"/>
          <p:cNvSpPr txBox="1"/>
          <p:nvPr>
            <p:custDataLst>
              <p:tags r:id="rId18"/>
            </p:custDataLst>
          </p:nvPr>
        </p:nvSpPr>
        <p:spPr>
          <a:xfrm>
            <a:off x="5127933" y="4855457"/>
            <a:ext cx="1679041" cy="368300"/>
          </a:xfrm>
          <a:prstGeom prst="rect">
            <a:avLst/>
          </a:prstGeom>
          <a:noFill/>
        </p:spPr>
        <p:txBody>
          <a:bodyPr wrap="square" rtlCol="0" anchor="ctr">
            <a:spAutoFit/>
          </a:bodyPr>
          <a:lstStyle/>
          <a:p>
            <a:pPr algn="ctr">
              <a:defRPr/>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新兴业态</a:t>
            </a: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培育</a:t>
            </a:r>
            <a:endPar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4" name="PA-文本框 8"/>
          <p:cNvSpPr txBox="1"/>
          <p:nvPr>
            <p:custDataLst>
              <p:tags r:id="rId19"/>
            </p:custDataLst>
          </p:nvPr>
        </p:nvSpPr>
        <p:spPr>
          <a:xfrm>
            <a:off x="1272176" y="485429"/>
            <a:ext cx="7835965"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三、老年劳动力</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再就业影响因素解析</a:t>
            </a:r>
            <a:r>
              <a:rPr lang="en-US" altLang="zh-CN"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建议</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6" name="矩形 5"/>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894715" y="1254125"/>
            <a:ext cx="7493635" cy="460375"/>
          </a:xfrm>
          <a:prstGeom prst="rect">
            <a:avLst/>
          </a:prstGeom>
        </p:spPr>
        <p:txBody>
          <a:bodyPr wrap="square">
            <a:spAutoFit/>
          </a:bodyPr>
          <a:p>
            <a:pPr defTabSz="266700"/>
            <a:r>
              <a:rPr lang="en-US" altLang="zh-CN" sz="2400" b="1">
                <a:ea typeface="宋体" panose="02010600030101010101" pitchFamily="2" charset="-122"/>
              </a:rPr>
              <a:t>2. </a:t>
            </a:r>
            <a:r>
              <a:rPr lang="zh-CN" altLang="en-US" sz="2400" b="1">
                <a:ea typeface="宋体" panose="02010600030101010101" pitchFamily="2" charset="-122"/>
              </a:rPr>
              <a:t>社会</a:t>
            </a:r>
            <a:r>
              <a:rPr lang="zh-CN" sz="2400" b="1">
                <a:ea typeface="宋体" panose="02010600030101010101" pitchFamily="2" charset="-122"/>
              </a:rPr>
              <a:t>层面：</a:t>
            </a:r>
            <a:r>
              <a:rPr lang="zh-CN" sz="2400" b="1">
                <a:gradFill>
                  <a:gsLst>
                    <a:gs pos="50000">
                      <a:srgbClr val="3474CB"/>
                    </a:gs>
                    <a:gs pos="0">
                      <a:srgbClr val="03BEC1"/>
                    </a:gs>
                    <a:gs pos="100000">
                      <a:srgbClr val="8E52DF"/>
                    </a:gs>
                  </a:gsLst>
                  <a:lin ang="5400000" scaled="1"/>
                </a:gradFill>
                <a:ea typeface="宋体" panose="02010600030101010101" pitchFamily="2" charset="-122"/>
              </a:rPr>
              <a:t>优化就业生态，重塑</a:t>
            </a:r>
            <a:r>
              <a:rPr lang="zh-CN" sz="2400" b="1">
                <a:gradFill>
                  <a:gsLst>
                    <a:gs pos="50000">
                      <a:srgbClr val="3474CB"/>
                    </a:gs>
                    <a:gs pos="0">
                      <a:srgbClr val="03BEC1"/>
                    </a:gs>
                    <a:gs pos="100000">
                      <a:srgbClr val="8E52DF"/>
                    </a:gs>
                  </a:gsLst>
                  <a:lin ang="5400000" scaled="1"/>
                </a:gradFill>
                <a:ea typeface="宋体" panose="02010600030101010101" pitchFamily="2" charset="-122"/>
              </a:rPr>
              <a:t>社会认知</a:t>
            </a:r>
            <a:endParaRPr lang="zh-CN" sz="2400" b="1">
              <a:gradFill>
                <a:gsLst>
                  <a:gs pos="50000">
                    <a:srgbClr val="3474CB"/>
                  </a:gs>
                  <a:gs pos="0">
                    <a:srgbClr val="03BEC1"/>
                  </a:gs>
                  <a:gs pos="100000">
                    <a:srgbClr val="8E52DF"/>
                  </a:gs>
                </a:gsLst>
                <a:lin ang="5400000" scaled="1"/>
              </a:gra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fade">
                                      <p:cBhvr>
                                        <p:cTn id="22" dur="500"/>
                                        <p:tgtEl>
                                          <p:spTgt spid="5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500"/>
                                        <p:tgtEl>
                                          <p:spTgt spid="5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fade">
                                      <p:cBhvr>
                                        <p:cTn id="34" dur="500"/>
                                        <p:tgtEl>
                                          <p:spTgt spid="5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fade">
                                      <p:cBhvr>
                                        <p:cTn id="37" dur="500"/>
                                        <p:tgtEl>
                                          <p:spTgt spid="5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9" grpId="0" animBg="1"/>
      <p:bldP spid="3" grpId="0"/>
      <p:bldP spid="39" grpId="0"/>
      <p:bldP spid="38" grpId="0"/>
      <p:bldP spid="14" grpId="0" animBg="1"/>
      <p:bldP spid="20" grpId="0" animBg="1"/>
      <p:bldP spid="58" grpId="0"/>
      <p:bldP spid="59" grpId="0"/>
      <p:bldP spid="24" grpId="0" animBg="1"/>
      <p:bldP spid="16" grpId="0" animBg="1"/>
      <p:bldP spid="53" grpId="0"/>
      <p:bldP spid="52" grpId="0"/>
      <p:bldP spid="28" grpId="0" animBg="1"/>
      <p:bldP spid="15" grpId="0" animBg="1"/>
      <p:bldP spid="27" grpId="0" animBg="1"/>
      <p:bldP spid="23" grpId="0" animBg="1"/>
      <p:bldP spid="19" grpId="0" animBg="1"/>
      <p:bldP spid="3" grpId="1"/>
      <p:bldP spid="39" grpId="1"/>
      <p:bldP spid="38" grpId="1"/>
      <p:bldP spid="14" grpId="1" animBg="1"/>
      <p:bldP spid="20" grpId="1" animBg="1"/>
      <p:bldP spid="58" grpId="1"/>
      <p:bldP spid="59" grpId="1"/>
      <p:bldP spid="24" grpId="1" animBg="1"/>
      <p:bldP spid="16" grpId="1" animBg="1"/>
      <p:bldP spid="53" grpId="1"/>
      <p:bldP spid="52" grpId="1"/>
      <p:bldP spid="28" grpId="1" animBg="1"/>
      <p:bldP spid="15" grpId="1" animBg="1"/>
      <p:bldP spid="27" grpId="1" animBg="1"/>
      <p:bldP spid="23" grpId="1" animBg="1"/>
      <p:bldP spid="19"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827311" y="2492161"/>
            <a:ext cx="2419005" cy="3337124"/>
          </a:xfrm>
          <a:prstGeom prst="rect">
            <a:avLst/>
          </a:prstGeom>
          <a:solidFill>
            <a:schemeClr val="bg1"/>
          </a:solidFill>
          <a:ln w="9525">
            <a:solidFill>
              <a:schemeClr val="bg1">
                <a:lumMod val="95000"/>
              </a:schemeClr>
            </a:solid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custDataLst>
              <p:tags r:id="rId2"/>
            </p:custDataLst>
          </p:nvPr>
        </p:nvSpPr>
        <p:spPr>
          <a:xfrm>
            <a:off x="3514829" y="2492161"/>
            <a:ext cx="2419005" cy="3337124"/>
          </a:xfrm>
          <a:prstGeom prst="rect">
            <a:avLst/>
          </a:prstGeom>
          <a:solidFill>
            <a:schemeClr val="bg1"/>
          </a:solidFill>
          <a:ln w="9525">
            <a:solidFill>
              <a:schemeClr val="bg1">
                <a:lumMod val="95000"/>
              </a:schemeClr>
            </a:solid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custDataLst>
              <p:tags r:id="rId3"/>
            </p:custDataLst>
          </p:nvPr>
        </p:nvSpPr>
        <p:spPr>
          <a:xfrm>
            <a:off x="6202346" y="2492161"/>
            <a:ext cx="2419005" cy="3337124"/>
          </a:xfrm>
          <a:prstGeom prst="rect">
            <a:avLst/>
          </a:prstGeom>
          <a:solidFill>
            <a:schemeClr val="bg1"/>
          </a:solidFill>
          <a:ln w="9525">
            <a:solidFill>
              <a:schemeClr val="bg1">
                <a:lumMod val="95000"/>
              </a:schemeClr>
            </a:solid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矩形 14"/>
          <p:cNvSpPr/>
          <p:nvPr>
            <p:custDataLst>
              <p:tags r:id="rId4"/>
            </p:custDataLst>
          </p:nvPr>
        </p:nvSpPr>
        <p:spPr>
          <a:xfrm>
            <a:off x="8889863" y="2492161"/>
            <a:ext cx="2419005" cy="3337124"/>
          </a:xfrm>
          <a:prstGeom prst="rect">
            <a:avLst/>
          </a:prstGeom>
          <a:solidFill>
            <a:schemeClr val="bg1"/>
          </a:solidFill>
          <a:ln w="9525">
            <a:solidFill>
              <a:schemeClr val="bg1">
                <a:lumMod val="95000"/>
              </a:schemeClr>
            </a:solid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PA-文本框 8"/>
          <p:cNvSpPr txBox="1"/>
          <p:nvPr>
            <p:custDataLst>
              <p:tags r:id="rId5"/>
            </p:custDataLst>
          </p:nvPr>
        </p:nvSpPr>
        <p:spPr>
          <a:xfrm>
            <a:off x="1272176" y="485429"/>
            <a:ext cx="7835965"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三、老年劳动力</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再就业影响因素解析</a:t>
            </a:r>
            <a:r>
              <a:rPr lang="en-US" altLang="zh-CN"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建议</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 name="TextBox 9"/>
          <p:cNvSpPr txBox="1"/>
          <p:nvPr>
            <p:custDataLst>
              <p:tags r:id="rId6"/>
            </p:custDataLst>
          </p:nvPr>
        </p:nvSpPr>
        <p:spPr>
          <a:xfrm>
            <a:off x="1039766" y="3012448"/>
            <a:ext cx="2057173" cy="2656205"/>
          </a:xfrm>
          <a:prstGeom prst="rect">
            <a:avLst/>
          </a:prstGeom>
          <a:noFill/>
        </p:spPr>
        <p:txBody>
          <a:bodyPr wrap="square" rtlCol="0">
            <a:spAutoFit/>
          </a:bodyPr>
          <a:lstStyle/>
          <a:p>
            <a:pPr algn="l">
              <a:lnSpc>
                <a:spcPts val="2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落实</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小步调整、逐步到位</a:t>
            </a:r>
            <a:r>
              <a:rPr lang="en-US" altLang="zh-CN" sz="12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，避免政策剧烈变动冲击劳动力市场。</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gn="l">
              <a:lnSpc>
                <a:spcPts val="2000"/>
              </a:lnSpc>
              <a:buFont typeface="Arial" panose="020B0604020202020204" pitchFamily="34" charset="0"/>
              <a:buChar char="•"/>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在延迟退休政策推行中，每年延迟退休年龄以数月为单位微调，给予老年群体和企业充分适应期；</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gn="l">
              <a:lnSpc>
                <a:spcPts val="2000"/>
              </a:lnSpc>
              <a:buFont typeface="Arial" panose="020B0604020202020204" pitchFamily="34" charset="0"/>
              <a:buChar char="•"/>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分阶段扩大社保补贴覆盖范围，优先试点高需求行业，再逐步推广至全领域。</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extBox 11"/>
          <p:cNvSpPr txBox="1"/>
          <p:nvPr>
            <p:custDataLst>
              <p:tags r:id="rId7"/>
            </p:custDataLst>
          </p:nvPr>
        </p:nvSpPr>
        <p:spPr>
          <a:xfrm>
            <a:off x="1119698" y="2241178"/>
            <a:ext cx="1834240" cy="497405"/>
          </a:xfrm>
          <a:prstGeom prst="roundRect">
            <a:avLst>
              <a:gd name="adj" fmla="val 50000"/>
            </a:avLst>
          </a:prstGeom>
          <a:solidFill>
            <a:srgbClr val="4A82DE"/>
          </a:solidFill>
          <a:effectLst>
            <a:outerShdw blurRad="254000" dist="101600" dir="2700000" algn="tl" rotWithShape="0">
              <a:schemeClr val="dk1">
                <a:lumMod val="100000"/>
                <a:alpha val="15000"/>
              </a:schemeClr>
            </a:outerShdw>
          </a:effectLst>
        </p:spPr>
        <p:txBody>
          <a:bodyPr wrap="square" rtlCol="0" anchor="ctr">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渐进式政策调整</a:t>
            </a:r>
            <a:endPar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TextBox 39"/>
          <p:cNvSpPr txBox="1"/>
          <p:nvPr>
            <p:custDataLst>
              <p:tags r:id="rId8"/>
            </p:custDataLst>
          </p:nvPr>
        </p:nvSpPr>
        <p:spPr>
          <a:xfrm>
            <a:off x="3601720" y="3012440"/>
            <a:ext cx="2249805" cy="2656205"/>
          </a:xfrm>
          <a:prstGeom prst="rect">
            <a:avLst/>
          </a:prstGeom>
          <a:noFill/>
        </p:spPr>
        <p:txBody>
          <a:bodyPr wrap="square" rtlCol="0">
            <a:spAutoFit/>
          </a:bodyPr>
          <a:lstStyle/>
          <a:p>
            <a:pPr algn="l">
              <a:lnSpc>
                <a:spcPts val="2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遵循</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12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弹性实施、自愿选择</a:t>
            </a:r>
            <a:r>
              <a:rPr lang="en-US" altLang="zh-CN" sz="12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，尊重老年个体差异化需求。允许老年人自主选择退休年龄与工作强度：</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gn="l">
              <a:lnSpc>
                <a:spcPts val="2000"/>
              </a:lnSpc>
              <a:buFont typeface="Arial" panose="020B0604020202020204" pitchFamily="34" charset="0"/>
              <a:buChar char="•"/>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推出</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半退休</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制度，支持其以兼职、顾问等形式灵活就业；</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gn="l">
              <a:lnSpc>
                <a:spcPts val="2000"/>
              </a:lnSpc>
              <a:buFont typeface="Arial" panose="020B0604020202020204" pitchFamily="34" charset="0"/>
              <a:buChar char="•"/>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优化养老金领取规则，允许就业期间暂停领取，实现</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工作</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 - </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养老</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弹性切换。</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extBox 41"/>
          <p:cNvSpPr txBox="1"/>
          <p:nvPr>
            <p:custDataLst>
              <p:tags r:id="rId9"/>
            </p:custDataLst>
          </p:nvPr>
        </p:nvSpPr>
        <p:spPr>
          <a:xfrm>
            <a:off x="3807216" y="2241178"/>
            <a:ext cx="1834240" cy="497405"/>
          </a:xfrm>
          <a:prstGeom prst="roundRect">
            <a:avLst>
              <a:gd name="adj" fmla="val 50000"/>
            </a:avLst>
          </a:prstGeom>
          <a:solidFill>
            <a:srgbClr val="2E61FA"/>
          </a:solidFill>
          <a:effectLst>
            <a:outerShdw blurRad="254000" dist="101600" dir="2700000" algn="tl" rotWithShape="0">
              <a:schemeClr val="dk1">
                <a:lumMod val="100000"/>
                <a:alpha val="15000"/>
              </a:schemeClr>
            </a:outerShdw>
          </a:effectLst>
        </p:spPr>
        <p:txBody>
          <a:bodyPr wrap="square" rtlCol="0" anchor="ctr">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弹性化制度设计</a:t>
            </a:r>
            <a:endPar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TextBox 43"/>
          <p:cNvSpPr txBox="1"/>
          <p:nvPr>
            <p:custDataLst>
              <p:tags r:id="rId10"/>
            </p:custDataLst>
          </p:nvPr>
        </p:nvSpPr>
        <p:spPr>
          <a:xfrm>
            <a:off x="6369081" y="3012448"/>
            <a:ext cx="2057173" cy="2656205"/>
          </a:xfrm>
          <a:prstGeom prst="rect">
            <a:avLst/>
          </a:prstGeom>
          <a:noFill/>
        </p:spPr>
        <p:txBody>
          <a:bodyPr wrap="square" rtlCol="0">
            <a:spAutoFit/>
          </a:bodyPr>
          <a:lstStyle/>
          <a:p>
            <a:pPr algn="l">
              <a:lnSpc>
                <a:spcPts val="2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践行</a:t>
            </a:r>
            <a:r>
              <a:rPr lang="en-US" altLang="zh-CN" sz="12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分类推进、有序衔接</a:t>
            </a:r>
            <a:r>
              <a:rPr lang="en-US" altLang="zh-CN" sz="12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，针对不同群体特征制定政策。</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gn="l">
              <a:lnSpc>
                <a:spcPts val="2000"/>
              </a:lnSpc>
              <a:buFont typeface="Arial" panose="020B0604020202020204" pitchFamily="34" charset="0"/>
              <a:buChar char="•"/>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对专业技术型老年人才，建立</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银发专家库</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，配套高端返聘补贴；</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gn="l">
              <a:lnSpc>
                <a:spcPts val="2000"/>
              </a:lnSpc>
              <a:buFont typeface="Arial" panose="020B0604020202020204" pitchFamily="34" charset="0"/>
              <a:buChar char="•"/>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对低技能老年劳动力，通过社区公益性岗位兜底保障，并衔接职业技能培训计划，提升就业竞争力。</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TextBox 45"/>
          <p:cNvSpPr txBox="1"/>
          <p:nvPr>
            <p:custDataLst>
              <p:tags r:id="rId11"/>
            </p:custDataLst>
          </p:nvPr>
        </p:nvSpPr>
        <p:spPr>
          <a:xfrm>
            <a:off x="6494734" y="2241178"/>
            <a:ext cx="1834240" cy="497405"/>
          </a:xfrm>
          <a:prstGeom prst="roundRect">
            <a:avLst>
              <a:gd name="adj" fmla="val 50000"/>
            </a:avLst>
          </a:prstGeom>
          <a:solidFill>
            <a:srgbClr val="4A82DE"/>
          </a:solidFill>
          <a:effectLst>
            <a:outerShdw blurRad="254000" dist="101600" dir="2700000" algn="tl" rotWithShape="0">
              <a:schemeClr val="dk1">
                <a:lumMod val="100000"/>
                <a:alpha val="15000"/>
              </a:schemeClr>
            </a:outerShdw>
          </a:effectLst>
        </p:spPr>
        <p:txBody>
          <a:bodyPr wrap="none" rtlCol="0" anchor="ctr">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精准化分类施策</a:t>
            </a:r>
            <a:endPar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TextBox 47"/>
          <p:cNvSpPr txBox="1"/>
          <p:nvPr>
            <p:custDataLst>
              <p:tags r:id="rId12"/>
            </p:custDataLst>
          </p:nvPr>
        </p:nvSpPr>
        <p:spPr>
          <a:xfrm>
            <a:off x="9056596" y="3012448"/>
            <a:ext cx="2057173" cy="2399665"/>
          </a:xfrm>
          <a:prstGeom prst="rect">
            <a:avLst/>
          </a:prstGeom>
          <a:noFill/>
        </p:spPr>
        <p:txBody>
          <a:bodyPr wrap="square" rtlCol="0">
            <a:spAutoFit/>
          </a:bodyPr>
          <a:lstStyle/>
          <a:p>
            <a:pPr indent="0" algn="l">
              <a:lnSpc>
                <a:spcPts val="2000"/>
              </a:lnSpc>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贯彻</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12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2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统筹兼顾、协同配套</a:t>
            </a:r>
            <a:r>
              <a:rPr lang="en-US" altLang="zh-CN" sz="12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，强化政策间联动效应。</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gn="l">
              <a:lnSpc>
                <a:spcPts val="2000"/>
              </a:lnSpc>
              <a:buFont typeface="Arial" panose="020B0604020202020204" pitchFamily="34" charset="0"/>
              <a:buChar char="•"/>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将老年就业政策与税收优惠、产业发展政策结合，鼓励企业开发适配岗位；</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gn="l">
              <a:lnSpc>
                <a:spcPts val="2000"/>
              </a:lnSpc>
              <a:buFont typeface="Arial" panose="020B0604020202020204" pitchFamily="34" charset="0"/>
              <a:buChar char="•"/>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推动人社、民政、卫健等部门数据共享，实现就业服务、社会保障、健康管理的无缝对接。</a:t>
            </a: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TextBox 49"/>
          <p:cNvSpPr txBox="1"/>
          <p:nvPr>
            <p:custDataLst>
              <p:tags r:id="rId13"/>
            </p:custDataLst>
          </p:nvPr>
        </p:nvSpPr>
        <p:spPr>
          <a:xfrm>
            <a:off x="9182252" y="2241178"/>
            <a:ext cx="1834240" cy="497405"/>
          </a:xfrm>
          <a:prstGeom prst="roundRect">
            <a:avLst>
              <a:gd name="adj" fmla="val 50000"/>
            </a:avLst>
          </a:prstGeom>
          <a:solidFill>
            <a:srgbClr val="2E61FA"/>
          </a:solidFill>
          <a:effectLst>
            <a:outerShdw blurRad="254000" dist="101600" dir="2700000" algn="tl" rotWithShape="0">
              <a:schemeClr val="dk1">
                <a:lumMod val="100000"/>
                <a:alpha val="15000"/>
              </a:schemeClr>
            </a:outerShdw>
          </a:effectLst>
        </p:spPr>
        <p:txBody>
          <a:bodyPr wrap="square" rtlCol="0" anchor="ctr">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协同化政策配套</a:t>
            </a:r>
            <a:endPar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1"/>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894715" y="1254125"/>
            <a:ext cx="7493635" cy="460375"/>
          </a:xfrm>
          <a:prstGeom prst="rect">
            <a:avLst/>
          </a:prstGeom>
        </p:spPr>
        <p:txBody>
          <a:bodyPr wrap="square">
            <a:spAutoFit/>
          </a:bodyPr>
          <a:p>
            <a:pPr defTabSz="266700"/>
            <a:r>
              <a:rPr lang="en-US" altLang="zh-CN" sz="2400" b="1">
                <a:ea typeface="宋体" panose="02010600030101010101" pitchFamily="2" charset="-122"/>
              </a:rPr>
              <a:t>3. </a:t>
            </a:r>
            <a:r>
              <a:rPr lang="zh-CN" altLang="en-US" sz="2400" b="1">
                <a:ea typeface="宋体" panose="02010600030101010101" pitchFamily="2" charset="-122"/>
              </a:rPr>
              <a:t>政府层面</a:t>
            </a:r>
            <a:r>
              <a:rPr lang="zh-CN" sz="2400" b="1">
                <a:ea typeface="宋体" panose="02010600030101010101" pitchFamily="2" charset="-122"/>
              </a:rPr>
              <a:t>：</a:t>
            </a:r>
            <a:r>
              <a:rPr lang="zh-CN" sz="2400" b="1">
                <a:gradFill>
                  <a:gsLst>
                    <a:gs pos="50000">
                      <a:srgbClr val="3474CB"/>
                    </a:gs>
                    <a:gs pos="0">
                      <a:srgbClr val="03BEC1"/>
                    </a:gs>
                    <a:gs pos="100000">
                      <a:srgbClr val="8E52DF"/>
                    </a:gs>
                  </a:gsLst>
                  <a:lin ang="5400000" scaled="1"/>
                </a:gradFill>
                <a:ea typeface="宋体" panose="02010600030101010101" pitchFamily="2" charset="-122"/>
              </a:rPr>
              <a:t>完善政策体系，消除制度性</a:t>
            </a:r>
            <a:r>
              <a:rPr lang="zh-CN" sz="2400" b="1">
                <a:gradFill>
                  <a:gsLst>
                    <a:gs pos="50000">
                      <a:srgbClr val="3474CB"/>
                    </a:gs>
                    <a:gs pos="0">
                      <a:srgbClr val="03BEC1"/>
                    </a:gs>
                    <a:gs pos="100000">
                      <a:srgbClr val="8E52DF"/>
                    </a:gs>
                  </a:gsLst>
                  <a:lin ang="5400000" scaled="1"/>
                </a:gradFill>
                <a:ea typeface="宋体" panose="02010600030101010101" pitchFamily="2" charset="-122"/>
              </a:rPr>
              <a:t>障碍</a:t>
            </a:r>
            <a:endParaRPr lang="zh-CN" sz="2400" b="1">
              <a:gradFill>
                <a:gsLst>
                  <a:gs pos="50000">
                    <a:srgbClr val="3474CB"/>
                  </a:gs>
                  <a:gs pos="0">
                    <a:srgbClr val="03BEC1"/>
                  </a:gs>
                  <a:gs pos="100000">
                    <a:srgbClr val="8E52DF"/>
                  </a:gs>
                </a:gsLst>
                <a:lin ang="5400000" scaled="1"/>
              </a:gra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6" grpId="0" animBg="1"/>
      <p:bldP spid="5" grpId="0"/>
      <p:bldP spid="10" grpId="0" animBg="1"/>
      <p:bldP spid="9" grpId="0" animBg="1"/>
      <p:bldP spid="8" grpId="0"/>
      <p:bldP spid="13" grpId="0" animBg="1"/>
      <p:bldP spid="12" grpId="0" animBg="1"/>
      <p:bldP spid="11" grpId="0"/>
      <p:bldP spid="16" grpId="0" animBg="1"/>
      <p:bldP spid="15" grpId="0" animBg="1"/>
      <p:bldP spid="14" grpId="0"/>
      <p:bldP spid="3" grpId="1"/>
      <p:bldP spid="7" grpId="1" animBg="1"/>
      <p:bldP spid="6" grpId="1" animBg="1"/>
      <p:bldP spid="5" grpId="1"/>
      <p:bldP spid="10" grpId="1" animBg="1"/>
      <p:bldP spid="9" grpId="1" animBg="1"/>
      <p:bldP spid="8" grpId="1"/>
      <p:bldP spid="13" grpId="1" animBg="1"/>
      <p:bldP spid="12" grpId="1" animBg="1"/>
      <p:bldP spid="11" grpId="1"/>
      <p:bldP spid="16" grpId="1" animBg="1"/>
      <p:bldP spid="15" grpId="1" animBg="1"/>
      <p:bldP spid="14"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custDataLst>
              <p:tags r:id="rId1"/>
            </p:custDataLst>
          </p:nvPr>
        </p:nvGrpSpPr>
        <p:grpSpPr>
          <a:xfrm>
            <a:off x="1156611" y="2001835"/>
            <a:ext cx="4132565" cy="4415953"/>
            <a:chOff x="1099557" y="1883005"/>
            <a:chExt cx="4132792" cy="4416195"/>
          </a:xfrm>
        </p:grpSpPr>
        <p:sp>
          <p:nvSpPr>
            <p:cNvPr id="13" name="矩形: 单圆角 12"/>
            <p:cNvSpPr/>
            <p:nvPr>
              <p:custDataLst>
                <p:tags r:id="rId2"/>
              </p:custDataLst>
            </p:nvPr>
          </p:nvSpPr>
          <p:spPr>
            <a:xfrm rot="21021265">
              <a:off x="1142779" y="1883005"/>
              <a:ext cx="2534738" cy="3381906"/>
            </a:xfrm>
            <a:prstGeom prst="round1Rect">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7" name="矩形: 单圆角 16"/>
            <p:cNvSpPr/>
            <p:nvPr>
              <p:custDataLst>
                <p:tags r:id="rId3"/>
              </p:custDataLst>
            </p:nvPr>
          </p:nvSpPr>
          <p:spPr>
            <a:xfrm>
              <a:off x="1099557" y="2208385"/>
              <a:ext cx="4132792" cy="4090815"/>
            </a:xfrm>
            <a:prstGeom prst="round1Rect">
              <a:avLst/>
            </a:prstGeom>
            <a:solidFill>
              <a:schemeClr val="bg1"/>
            </a:solidFill>
            <a:ln>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8" name="文本框 17"/>
            <p:cNvSpPr txBox="1"/>
            <p:nvPr>
              <p:custDataLst>
                <p:tags r:id="rId4"/>
              </p:custDataLst>
            </p:nvPr>
          </p:nvSpPr>
          <p:spPr>
            <a:xfrm>
              <a:off x="1323794" y="2877634"/>
              <a:ext cx="2594274" cy="398802"/>
            </a:xfrm>
            <a:prstGeom prst="rect">
              <a:avLst/>
            </a:prstGeom>
            <a:noFill/>
            <a:ln>
              <a:noFill/>
            </a:ln>
          </p:spPr>
          <p:txBody>
            <a:bodyPr wrap="square">
              <a:spAutoFit/>
            </a:bodyPr>
            <a:lstStyle/>
            <a:p>
              <a:pPr lvl="0">
                <a:defRPr/>
              </a:pPr>
              <a:r>
                <a:rPr lang="zh-CN" altLang="en-US" sz="2000" b="1" kern="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智能设备适老化设计</a:t>
              </a:r>
              <a:r>
                <a:rPr lang="zh-CN" altLang="en-US" sz="2000" b="1" kern="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endParaRPr lang="zh-CN" altLang="en-US" sz="2000" b="1" kern="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19" name="文本框 18"/>
            <p:cNvSpPr txBox="1"/>
            <p:nvPr>
              <p:custDataLst>
                <p:tags r:id="rId5"/>
              </p:custDataLst>
            </p:nvPr>
          </p:nvSpPr>
          <p:spPr>
            <a:xfrm>
              <a:off x="1331136" y="3816262"/>
              <a:ext cx="3632258" cy="1568536"/>
            </a:xfrm>
            <a:prstGeom prst="rect">
              <a:avLst/>
            </a:prstGeom>
            <a:noFill/>
            <a:ln>
              <a:noFill/>
            </a:ln>
          </p:spPr>
          <p:txBody>
            <a:bodyPr wrap="square">
              <a:spAutoFit/>
            </a:bodyPr>
            <a:lstStyle/>
            <a:p>
              <a:pPr>
                <a:lnSpc>
                  <a:spcPct val="150000"/>
                </a:lnSpc>
                <a:defRPr/>
              </a:pPr>
              <a:r>
                <a:rPr lang="zh-CN" altLang="en-US" sz="16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简化就业相关数字平台（如招聘</a:t>
              </a:r>
              <a:r>
                <a:rPr lang="en-US" altLang="zh-CN" sz="16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APP</a:t>
              </a:r>
              <a:r>
                <a:rPr lang="zh-CN" altLang="en-US" sz="16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、办公软件）的操作界面，增加语音交互、人工客服等辅助功能，提升老年群体的数字获取能力。</a:t>
              </a:r>
              <a:endParaRPr lang="zh-CN" altLang="en-US" sz="16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0" name="文本框 19"/>
            <p:cNvSpPr txBox="1"/>
            <p:nvPr>
              <p:custDataLst>
                <p:tags r:id="rId6"/>
              </p:custDataLst>
            </p:nvPr>
          </p:nvSpPr>
          <p:spPr>
            <a:xfrm>
              <a:off x="1331201" y="3300000"/>
              <a:ext cx="2231982" cy="275605"/>
            </a:xfrm>
            <a:prstGeom prst="rect">
              <a:avLst/>
            </a:prstGeom>
            <a:noFill/>
            <a:ln>
              <a:noFill/>
            </a:ln>
          </p:spPr>
          <p:txBody>
            <a:bodyPr wrap="square">
              <a:spAutoFit/>
            </a:bodyPr>
            <a:lstStyle/>
            <a:p>
              <a:pPr lvl="0" algn="dist">
                <a:defRPr/>
              </a:pPr>
              <a:endParaRPr lang="en-US" altLang="zh-CN" sz="1200" kern="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1" name="矩形: 圆角 20"/>
            <p:cNvSpPr/>
            <p:nvPr>
              <p:custDataLst>
                <p:tags r:id="rId7"/>
              </p:custDataLst>
            </p:nvPr>
          </p:nvSpPr>
          <p:spPr>
            <a:xfrm>
              <a:off x="1437986" y="3434615"/>
              <a:ext cx="502931" cy="44052"/>
            </a:xfrm>
            <a:prstGeom prst="roundRect">
              <a:avLst>
                <a:gd name="adj" fmla="val 50000"/>
              </a:avLst>
            </a:prstGeom>
            <a:solidFill>
              <a:srgbClr val="2E61FA"/>
            </a:solidFill>
            <a:ln>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2" name="矩形 21"/>
            <p:cNvSpPr/>
            <p:nvPr>
              <p:custDataLst>
                <p:tags r:id="rId8"/>
              </p:custDataLst>
            </p:nvPr>
          </p:nvSpPr>
          <p:spPr>
            <a:xfrm>
              <a:off x="1099557" y="2547955"/>
              <a:ext cx="137663" cy="981998"/>
            </a:xfrm>
            <a:prstGeom prst="rect">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sp>
        <p:nvSpPr>
          <p:cNvPr id="38" name="Rectangle 5"/>
          <p:cNvSpPr txBox="1">
            <a:spLocks noRot="1" noChangeArrowheads="1"/>
          </p:cNvSpPr>
          <p:nvPr/>
        </p:nvSpPr>
        <p:spPr>
          <a:xfrm>
            <a:off x="-2317972" y="10017111"/>
            <a:ext cx="3043064" cy="61034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400" dirty="0">
              <a:solidFill>
                <a:srgbClr val="CE221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0" name="组合 39"/>
          <p:cNvGrpSpPr/>
          <p:nvPr>
            <p:custDataLst>
              <p:tags r:id="rId9"/>
            </p:custDataLst>
          </p:nvPr>
        </p:nvGrpSpPr>
        <p:grpSpPr>
          <a:xfrm>
            <a:off x="7037455" y="2001835"/>
            <a:ext cx="4132565" cy="4415953"/>
            <a:chOff x="1099557" y="1883005"/>
            <a:chExt cx="4132792" cy="4416195"/>
          </a:xfrm>
        </p:grpSpPr>
        <p:sp>
          <p:nvSpPr>
            <p:cNvPr id="42" name="矩形: 单圆角 12"/>
            <p:cNvSpPr/>
            <p:nvPr>
              <p:custDataLst>
                <p:tags r:id="rId10"/>
              </p:custDataLst>
            </p:nvPr>
          </p:nvSpPr>
          <p:spPr>
            <a:xfrm rot="21021265">
              <a:off x="1142779" y="1883005"/>
              <a:ext cx="2534738" cy="3381906"/>
            </a:xfrm>
            <a:prstGeom prst="round1Rect">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3" name="矩形: 单圆角 16"/>
            <p:cNvSpPr/>
            <p:nvPr>
              <p:custDataLst>
                <p:tags r:id="rId11"/>
              </p:custDataLst>
            </p:nvPr>
          </p:nvSpPr>
          <p:spPr>
            <a:xfrm>
              <a:off x="1099557" y="2208385"/>
              <a:ext cx="4132792" cy="4090815"/>
            </a:xfrm>
            <a:prstGeom prst="round1Rect">
              <a:avLst/>
            </a:prstGeom>
            <a:solidFill>
              <a:schemeClr val="bg1"/>
            </a:solidFill>
            <a:ln>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4" name="文本框 43"/>
            <p:cNvSpPr txBox="1"/>
            <p:nvPr>
              <p:custDataLst>
                <p:tags r:id="rId12"/>
              </p:custDataLst>
            </p:nvPr>
          </p:nvSpPr>
          <p:spPr>
            <a:xfrm>
              <a:off x="1323794" y="2877634"/>
              <a:ext cx="2594274" cy="398802"/>
            </a:xfrm>
            <a:prstGeom prst="rect">
              <a:avLst/>
            </a:prstGeom>
            <a:noFill/>
            <a:ln>
              <a:noFill/>
            </a:ln>
          </p:spPr>
          <p:txBody>
            <a:bodyPr wrap="square">
              <a:spAutoFit/>
            </a:bodyPr>
            <a:lstStyle/>
            <a:p>
              <a:pPr lvl="0">
                <a:defRPr/>
              </a:pPr>
              <a:r>
                <a:rPr lang="zh-CN" altLang="en-US" sz="2000" b="1" kern="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技术赋能就业场景：</a:t>
              </a:r>
              <a:endParaRPr lang="zh-CN" altLang="en-US" sz="2000" b="1" kern="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5" name="文本框 44"/>
            <p:cNvSpPr txBox="1"/>
            <p:nvPr>
              <p:custDataLst>
                <p:tags r:id="rId13"/>
              </p:custDataLst>
            </p:nvPr>
          </p:nvSpPr>
          <p:spPr>
            <a:xfrm>
              <a:off x="1331136" y="3816262"/>
              <a:ext cx="3632258" cy="1938126"/>
            </a:xfrm>
            <a:prstGeom prst="rect">
              <a:avLst/>
            </a:prstGeom>
            <a:noFill/>
            <a:ln>
              <a:noFill/>
            </a:ln>
          </p:spPr>
          <p:txBody>
            <a:bodyPr wrap="square">
              <a:spAutoFit/>
            </a:bodyPr>
            <a:lstStyle/>
            <a:p>
              <a:pPr>
                <a:lnSpc>
                  <a:spcPct val="150000"/>
                </a:lnSpc>
                <a:defRPr/>
              </a:pPr>
              <a:r>
                <a:rPr lang="zh-CN" altLang="en-US" sz="16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发展</a:t>
              </a:r>
              <a:r>
                <a:rPr lang="en-US" altLang="zh-CN" sz="16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6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远程老年就业</a:t>
              </a:r>
              <a:r>
                <a:rPr lang="en-US" altLang="zh-CN" sz="16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a:t>
              </a:r>
              <a:r>
                <a:rPr lang="zh-CN" altLang="en-US" sz="16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模式，利用视频会议、智能家居监控等技术，使老年人无需通勤即可参与知识型工作（如数据标注、文档审核），规避体能与通勤障碍。</a:t>
              </a:r>
              <a:r>
                <a:rPr lang="en-US" altLang="zh-CN" sz="16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 </a:t>
              </a:r>
              <a:endParaRPr lang="en-US" altLang="zh-CN" sz="1600" kern="0" dirty="0">
                <a:solidFill>
                  <a:schemeClr val="tx1">
                    <a:lumMod val="50000"/>
                    <a:lumOff val="50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7" name="矩形: 圆角 20"/>
            <p:cNvSpPr/>
            <p:nvPr>
              <p:custDataLst>
                <p:tags r:id="rId14"/>
              </p:custDataLst>
            </p:nvPr>
          </p:nvSpPr>
          <p:spPr>
            <a:xfrm>
              <a:off x="1437986" y="3427630"/>
              <a:ext cx="502931" cy="44052"/>
            </a:xfrm>
            <a:prstGeom prst="roundRect">
              <a:avLst>
                <a:gd name="adj" fmla="val 50000"/>
              </a:avLst>
            </a:prstGeom>
            <a:solidFill>
              <a:srgbClr val="2E61FA"/>
            </a:solidFill>
            <a:ln>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8" name="矩形 47"/>
            <p:cNvSpPr/>
            <p:nvPr>
              <p:custDataLst>
                <p:tags r:id="rId15"/>
              </p:custDataLst>
            </p:nvPr>
          </p:nvSpPr>
          <p:spPr>
            <a:xfrm>
              <a:off x="1099557" y="2547955"/>
              <a:ext cx="137663" cy="981998"/>
            </a:xfrm>
            <a:prstGeom prst="rect">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grpSp>
      <p:sp>
        <p:nvSpPr>
          <p:cNvPr id="6" name="矩形 5"/>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PA-文本框 8"/>
          <p:cNvSpPr txBox="1"/>
          <p:nvPr>
            <p:custDataLst>
              <p:tags r:id="rId16"/>
            </p:custDataLst>
          </p:nvPr>
        </p:nvSpPr>
        <p:spPr>
          <a:xfrm>
            <a:off x="1272176" y="485429"/>
            <a:ext cx="7835965"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三、老年劳动力</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再就业影响因素解析</a:t>
            </a:r>
            <a:r>
              <a:rPr lang="en-US" altLang="zh-CN"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400" b="1" dirty="0">
                <a:solidFill>
                  <a:schemeClr val="tx1">
                    <a:lumMod val="85000"/>
                    <a:lumOff val="15000"/>
                  </a:schemeClr>
                </a:solidFill>
                <a:effectLst>
                  <a:outerShdw blurRad="254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建议</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 name="文本框 2"/>
          <p:cNvSpPr txBox="1"/>
          <p:nvPr/>
        </p:nvSpPr>
        <p:spPr>
          <a:xfrm>
            <a:off x="894715" y="1268095"/>
            <a:ext cx="7493635" cy="460375"/>
          </a:xfrm>
          <a:prstGeom prst="rect">
            <a:avLst/>
          </a:prstGeom>
        </p:spPr>
        <p:txBody>
          <a:bodyPr wrap="square">
            <a:spAutoFit/>
          </a:bodyPr>
          <a:p>
            <a:pPr defTabSz="266700"/>
            <a:r>
              <a:rPr lang="en-US" altLang="zh-CN" sz="2400" b="1">
                <a:ea typeface="宋体" panose="02010600030101010101" pitchFamily="2" charset="-122"/>
              </a:rPr>
              <a:t>4. </a:t>
            </a:r>
            <a:r>
              <a:rPr lang="zh-CN" altLang="en-US" sz="2400" b="1">
                <a:ea typeface="宋体" panose="02010600030101010101" pitchFamily="2" charset="-122"/>
              </a:rPr>
              <a:t>技术层面</a:t>
            </a:r>
            <a:r>
              <a:rPr lang="zh-CN" sz="2400" b="1">
                <a:ea typeface="宋体" panose="02010600030101010101" pitchFamily="2" charset="-122"/>
              </a:rPr>
              <a:t>：</a:t>
            </a:r>
            <a:r>
              <a:rPr lang="zh-CN" sz="2400" b="1">
                <a:gradFill>
                  <a:gsLst>
                    <a:gs pos="50000">
                      <a:srgbClr val="3474CB"/>
                    </a:gs>
                    <a:gs pos="0">
                      <a:srgbClr val="03BEC1"/>
                    </a:gs>
                    <a:gs pos="100000">
                      <a:srgbClr val="8E52DF"/>
                    </a:gs>
                  </a:gsLst>
                  <a:lin ang="5400000" scaled="1"/>
                </a:gradFill>
                <a:ea typeface="宋体" panose="02010600030101010101" pitchFamily="2" charset="-122"/>
              </a:rPr>
              <a:t>推动适老化改造，降低</a:t>
            </a:r>
            <a:r>
              <a:rPr lang="zh-CN" sz="2400" b="1">
                <a:gradFill>
                  <a:gsLst>
                    <a:gs pos="50000">
                      <a:srgbClr val="3474CB"/>
                    </a:gs>
                    <a:gs pos="0">
                      <a:srgbClr val="03BEC1"/>
                    </a:gs>
                    <a:gs pos="100000">
                      <a:srgbClr val="8E52DF"/>
                    </a:gs>
                  </a:gsLst>
                  <a:lin ang="5400000" scaled="1"/>
                </a:gradFill>
                <a:ea typeface="宋体" panose="02010600030101010101" pitchFamily="2" charset="-122"/>
              </a:rPr>
              <a:t>数字鸿沟</a:t>
            </a:r>
            <a:endParaRPr lang="zh-CN" sz="2400" b="1">
              <a:gradFill>
                <a:gsLst>
                  <a:gs pos="50000">
                    <a:srgbClr val="3474CB"/>
                  </a:gs>
                  <a:gs pos="0">
                    <a:srgbClr val="03BEC1"/>
                  </a:gs>
                  <a:gs pos="100000">
                    <a:srgbClr val="8E52DF"/>
                  </a:gs>
                </a:gsLst>
                <a:lin ang="5400000" scaled="1"/>
              </a:gra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椭圆 34"/>
          <p:cNvSpPr/>
          <p:nvPr/>
        </p:nvSpPr>
        <p:spPr>
          <a:xfrm>
            <a:off x="1209944" y="4615099"/>
            <a:ext cx="9772112" cy="1059795"/>
          </a:xfrm>
          <a:prstGeom prst="ellipse">
            <a:avLst/>
          </a:prstGeom>
          <a:noFill/>
          <a:ln>
            <a:gradFill>
              <a:gsLst>
                <a:gs pos="0">
                  <a:srgbClr val="2E61FA">
                    <a:alpha val="0"/>
                  </a:srgbClr>
                </a:gs>
                <a:gs pos="100000">
                  <a:srgbClr val="2E61FA"/>
                </a:gs>
              </a:gsLst>
              <a:lin ang="5400000" scaled="1"/>
            </a:grad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6" name="椭圆 35"/>
          <p:cNvSpPr/>
          <p:nvPr/>
        </p:nvSpPr>
        <p:spPr>
          <a:xfrm>
            <a:off x="2341906" y="5110371"/>
            <a:ext cx="7508190" cy="1092471"/>
          </a:xfrm>
          <a:prstGeom prst="ellipse">
            <a:avLst/>
          </a:prstGeom>
          <a:noFill/>
          <a:ln>
            <a:gradFill>
              <a:gsLst>
                <a:gs pos="0">
                  <a:srgbClr val="2E61FA">
                    <a:alpha val="0"/>
                  </a:srgbClr>
                </a:gs>
                <a:gs pos="100000">
                  <a:srgbClr val="2E61FA"/>
                </a:gs>
              </a:gsLst>
              <a:lin ang="5400000" scaled="1"/>
            </a:grad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cxnSp>
        <p:nvCxnSpPr>
          <p:cNvPr id="37" name="直接连接符 36"/>
          <p:cNvCxnSpPr/>
          <p:nvPr>
            <p:custDataLst>
              <p:tags r:id="rId1"/>
            </p:custDataLst>
          </p:nvPr>
        </p:nvCxnSpPr>
        <p:spPr>
          <a:xfrm>
            <a:off x="3624399" y="3794663"/>
            <a:ext cx="0" cy="935948"/>
          </a:xfrm>
          <a:prstGeom prst="line">
            <a:avLst/>
          </a:prstGeom>
          <a:noFill/>
          <a:ln w="12700" cap="flat" cmpd="sng" algn="ctr">
            <a:solidFill>
              <a:srgbClr val="787C90"/>
            </a:solidFill>
            <a:prstDash val="dash"/>
            <a:miter lim="800000"/>
          </a:ln>
          <a:effectLst/>
        </p:spPr>
      </p:cxnSp>
      <p:cxnSp>
        <p:nvCxnSpPr>
          <p:cNvPr id="38" name="直接连接符 37"/>
          <p:cNvCxnSpPr/>
          <p:nvPr>
            <p:custDataLst>
              <p:tags r:id="rId2"/>
            </p:custDataLst>
          </p:nvPr>
        </p:nvCxnSpPr>
        <p:spPr>
          <a:xfrm>
            <a:off x="8567602" y="3794663"/>
            <a:ext cx="0" cy="935948"/>
          </a:xfrm>
          <a:prstGeom prst="line">
            <a:avLst/>
          </a:prstGeom>
          <a:noFill/>
          <a:ln w="12700" cap="flat" cmpd="sng" algn="ctr">
            <a:solidFill>
              <a:srgbClr val="787C90"/>
            </a:solidFill>
            <a:prstDash val="dash"/>
            <a:miter lim="800000"/>
          </a:ln>
          <a:effectLst/>
        </p:spPr>
      </p:cxnSp>
      <p:cxnSp>
        <p:nvCxnSpPr>
          <p:cNvPr id="39" name="直接连接符 38"/>
          <p:cNvCxnSpPr/>
          <p:nvPr/>
        </p:nvCxnSpPr>
        <p:spPr>
          <a:xfrm>
            <a:off x="1833797" y="4354875"/>
            <a:ext cx="0" cy="935948"/>
          </a:xfrm>
          <a:prstGeom prst="line">
            <a:avLst/>
          </a:prstGeom>
          <a:noFill/>
          <a:ln w="12700" cap="flat" cmpd="sng" algn="ctr">
            <a:solidFill>
              <a:srgbClr val="787C90"/>
            </a:solidFill>
            <a:prstDash val="dash"/>
            <a:miter lim="800000"/>
          </a:ln>
          <a:effectLst/>
        </p:spPr>
      </p:cxnSp>
      <p:cxnSp>
        <p:nvCxnSpPr>
          <p:cNvPr id="40" name="直接连接符 39"/>
          <p:cNvCxnSpPr/>
          <p:nvPr/>
        </p:nvCxnSpPr>
        <p:spPr>
          <a:xfrm>
            <a:off x="10363639" y="4354875"/>
            <a:ext cx="0" cy="935948"/>
          </a:xfrm>
          <a:prstGeom prst="line">
            <a:avLst/>
          </a:prstGeom>
          <a:noFill/>
          <a:ln w="12700" cap="flat" cmpd="sng" algn="ctr">
            <a:solidFill>
              <a:srgbClr val="787C90"/>
            </a:solidFill>
            <a:prstDash val="dash"/>
            <a:miter lim="800000"/>
          </a:ln>
          <a:effectLst/>
        </p:spPr>
      </p:cxnSp>
      <p:sp>
        <p:nvSpPr>
          <p:cNvPr id="41" name="椭圆 40"/>
          <p:cNvSpPr/>
          <p:nvPr>
            <p:custDataLst>
              <p:tags r:id="rId3"/>
            </p:custDataLst>
          </p:nvPr>
        </p:nvSpPr>
        <p:spPr>
          <a:xfrm>
            <a:off x="1445951" y="2708580"/>
            <a:ext cx="744249" cy="744249"/>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20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底层</a:t>
            </a:r>
            <a:endParaRPr lang="zh-CN" altLang="en-US" sz="20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2" name="椭圆 41"/>
          <p:cNvSpPr/>
          <p:nvPr>
            <p:custDataLst>
              <p:tags r:id="rId4"/>
            </p:custDataLst>
          </p:nvPr>
        </p:nvSpPr>
        <p:spPr>
          <a:xfrm>
            <a:off x="3252274" y="2132027"/>
            <a:ext cx="744249" cy="744249"/>
          </a:xfrm>
          <a:prstGeom prst="ellipse">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20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中层</a:t>
            </a:r>
            <a:endParaRPr lang="zh-CN" altLang="en-US" sz="20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3" name="椭圆 42"/>
          <p:cNvSpPr/>
          <p:nvPr>
            <p:custDataLst>
              <p:tags r:id="rId5"/>
            </p:custDataLst>
          </p:nvPr>
        </p:nvSpPr>
        <p:spPr>
          <a:xfrm>
            <a:off x="8196113" y="2132027"/>
            <a:ext cx="744249" cy="744249"/>
          </a:xfrm>
          <a:prstGeom prst="ellipse">
            <a:avLst/>
          </a:prstGeom>
          <a:solidFill>
            <a:srgbClr val="2E61FA"/>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20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浅层</a:t>
            </a:r>
            <a:endParaRPr lang="zh-CN" altLang="en-US" sz="20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4" name="椭圆 43"/>
          <p:cNvSpPr/>
          <p:nvPr>
            <p:custDataLst>
              <p:tags r:id="rId6"/>
            </p:custDataLst>
          </p:nvPr>
        </p:nvSpPr>
        <p:spPr>
          <a:xfrm>
            <a:off x="9991514" y="2759380"/>
            <a:ext cx="744249" cy="744249"/>
          </a:xfrm>
          <a:prstGeom prst="ellipse">
            <a:avLst/>
          </a:prstGeom>
          <a:solidFill>
            <a:srgbClr val="4A82DE"/>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20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表层</a:t>
            </a:r>
            <a:endParaRPr lang="zh-CN" altLang="en-US" sz="2000" dirty="0">
              <a:solidFill>
                <a:prstClr val="white"/>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6" name="textcount"/>
          <p:cNvSpPr txBox="1"/>
          <p:nvPr>
            <p:custDataLst>
              <p:tags r:id="rId7"/>
            </p:custDataLst>
          </p:nvPr>
        </p:nvSpPr>
        <p:spPr>
          <a:xfrm>
            <a:off x="886256" y="3603422"/>
            <a:ext cx="1895078" cy="583565"/>
          </a:xfrm>
          <a:prstGeom prst="rect">
            <a:avLst/>
          </a:prstGeom>
          <a:noFill/>
        </p:spPr>
        <p:txBody>
          <a:bodyPr vert="horz" wrap="square" rtlCol="0">
            <a:spAutoFit/>
          </a:bodyPr>
          <a:lstStyle/>
          <a:p>
            <a:pPr algn="ctr">
              <a:defRPr/>
            </a:pPr>
            <a:r>
              <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破除歧视性制度</a:t>
            </a:r>
            <a:endPar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lgn="ctr">
              <a:defRPr/>
            </a:pPr>
            <a:r>
              <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与文化壁垒</a:t>
            </a:r>
            <a:endPar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48" name="textcount"/>
          <p:cNvSpPr txBox="1"/>
          <p:nvPr>
            <p:custDataLst>
              <p:tags r:id="rId8"/>
            </p:custDataLst>
          </p:nvPr>
        </p:nvSpPr>
        <p:spPr>
          <a:xfrm>
            <a:off x="2672171" y="3026869"/>
            <a:ext cx="1895078" cy="583565"/>
          </a:xfrm>
          <a:prstGeom prst="rect">
            <a:avLst/>
          </a:prstGeom>
          <a:noFill/>
        </p:spPr>
        <p:txBody>
          <a:bodyPr vert="horz" wrap="square" rtlCol="0">
            <a:spAutoFit/>
          </a:bodyPr>
          <a:lstStyle/>
          <a:p>
            <a:pPr algn="ctr">
              <a:defRPr/>
            </a:pPr>
            <a:r>
              <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完善政策支持</a:t>
            </a:r>
            <a:endPar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lgn="ctr">
              <a:defRPr/>
            </a:pPr>
            <a:r>
              <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与市场机制</a:t>
            </a:r>
            <a:endPar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0" name="textcount"/>
          <p:cNvSpPr txBox="1"/>
          <p:nvPr>
            <p:custDataLst>
              <p:tags r:id="rId9"/>
            </p:custDataLst>
          </p:nvPr>
        </p:nvSpPr>
        <p:spPr>
          <a:xfrm>
            <a:off x="7625389" y="3026869"/>
            <a:ext cx="1895078" cy="583565"/>
          </a:xfrm>
          <a:prstGeom prst="rect">
            <a:avLst/>
          </a:prstGeom>
          <a:noFill/>
        </p:spPr>
        <p:txBody>
          <a:bodyPr vert="horz" wrap="square" rtlCol="0">
            <a:spAutoFit/>
          </a:bodyPr>
          <a:lstStyle/>
          <a:p>
            <a:pPr algn="ctr">
              <a:defRPr/>
            </a:pPr>
            <a:r>
              <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提升个体禀赋</a:t>
            </a:r>
            <a:endPar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lgn="ctr">
              <a:defRPr/>
            </a:pPr>
            <a:r>
              <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与技术适配性</a:t>
            </a:r>
            <a:endPar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52" name="textcount"/>
          <p:cNvSpPr txBox="1"/>
          <p:nvPr>
            <p:custDataLst>
              <p:tags r:id="rId10"/>
            </p:custDataLst>
          </p:nvPr>
        </p:nvSpPr>
        <p:spPr>
          <a:xfrm>
            <a:off x="9416100" y="3654222"/>
            <a:ext cx="1895078" cy="337185"/>
          </a:xfrm>
          <a:prstGeom prst="rect">
            <a:avLst/>
          </a:prstGeom>
          <a:noFill/>
        </p:spPr>
        <p:txBody>
          <a:bodyPr vert="horz" wrap="square" rtlCol="0">
            <a:spAutoFit/>
          </a:bodyPr>
          <a:lstStyle/>
          <a:p>
            <a:pPr algn="ctr">
              <a:defRPr/>
            </a:pPr>
            <a:r>
              <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释放人力资本价值</a:t>
            </a:r>
            <a:endParaRPr lang="zh-CN" altLang="en-US" sz="1600" b="1" dirty="0">
              <a:gradFill>
                <a:gsLst>
                  <a:gs pos="0">
                    <a:schemeClr val="tx1">
                      <a:lumMod val="60000"/>
                      <a:lumOff val="40000"/>
                    </a:schemeClr>
                  </a:gs>
                  <a:gs pos="100000">
                    <a:schemeClr val="tx1"/>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34" name="文本框 33"/>
          <p:cNvSpPr txBox="1"/>
          <p:nvPr/>
        </p:nvSpPr>
        <p:spPr>
          <a:xfrm>
            <a:off x="4601794" y="4336704"/>
            <a:ext cx="2988416" cy="1076325"/>
          </a:xfrm>
          <a:prstGeom prst="rect">
            <a:avLst/>
          </a:prstGeom>
          <a:noFill/>
        </p:spPr>
        <p:txBody>
          <a:bodyPr wrap="square" rtlCol="0" anchor="ctr">
            <a:spAutoFit/>
          </a:bodyPr>
          <a:lstStyle>
            <a:defPPr>
              <a:defRPr lang="zh-CN"/>
            </a:defPPr>
            <a:lvl1pPr algn="ctr">
              <a:defRPr>
                <a:gradFill>
                  <a:gsLst>
                    <a:gs pos="0">
                      <a:schemeClr val="accent1"/>
                    </a:gs>
                    <a:gs pos="100000">
                      <a:schemeClr val="accent2"/>
                    </a:gs>
                  </a:gsLst>
                  <a:lin ang="5400000" scaled="1"/>
                </a:gradFill>
                <a:latin typeface="+mj-ea"/>
                <a:ea typeface="+mj-ea"/>
              </a:defRPr>
            </a:lvl1pPr>
          </a:lstStyle>
          <a:p>
            <a:pPr>
              <a:defRPr/>
            </a:pP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老年劳动力</a:t>
            </a:r>
            <a:endPar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a:p>
            <a:pPr>
              <a:defRPr/>
            </a:pP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再就业</a:t>
            </a:r>
            <a:endPar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8" name="textcount"/>
          <p:cNvSpPr txBox="1"/>
          <p:nvPr>
            <p:custDataLst>
              <p:tags r:id="rId11"/>
            </p:custDataLst>
          </p:nvPr>
        </p:nvSpPr>
        <p:spPr>
          <a:xfrm>
            <a:off x="4874895" y="3726815"/>
            <a:ext cx="2442210" cy="398780"/>
          </a:xfrm>
          <a:prstGeom prst="rect">
            <a:avLst/>
          </a:prstGeom>
          <a:noFill/>
        </p:spPr>
        <p:txBody>
          <a:bodyPr vert="horz" wrap="square" rtlCol="0">
            <a:spAutoFit/>
          </a:bodyPr>
          <a:lstStyle/>
          <a:p>
            <a:pPr algn="ctr">
              <a:defRPr/>
            </a:pPr>
            <a:r>
              <a:rPr lang="zh-CN" altLang="en-US" sz="2000" b="1" dirty="0">
                <a:gradFill>
                  <a:gsLst>
                    <a:gs pos="51300">
                      <a:srgbClr val="4888CF"/>
                    </a:gs>
                    <a:gs pos="0">
                      <a:srgbClr val="95D2FF"/>
                    </a:gs>
                    <a:gs pos="95000">
                      <a:srgbClr val="3965A3"/>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分层干预</a:t>
            </a:r>
            <a:r>
              <a:rPr lang="en-US" altLang="zh-CN" sz="2000" b="1" dirty="0">
                <a:gradFill>
                  <a:gsLst>
                    <a:gs pos="51300">
                      <a:srgbClr val="4888CF"/>
                    </a:gs>
                    <a:gs pos="0">
                      <a:srgbClr val="95D2FF"/>
                    </a:gs>
                    <a:gs pos="95000">
                      <a:srgbClr val="3965A3"/>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 </a:t>
            </a:r>
            <a:r>
              <a:rPr lang="zh-CN" altLang="en-US" sz="2000" b="1" dirty="0">
                <a:gradFill>
                  <a:gsLst>
                    <a:gs pos="51300">
                      <a:srgbClr val="4888CF"/>
                    </a:gs>
                    <a:gs pos="0">
                      <a:srgbClr val="95D2FF"/>
                    </a:gs>
                    <a:gs pos="95000">
                      <a:srgbClr val="3965A3"/>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协同赋能</a:t>
            </a:r>
            <a:endParaRPr lang="zh-CN" altLang="en-US" sz="2000" b="1" dirty="0">
              <a:gradFill>
                <a:gsLst>
                  <a:gs pos="51300">
                    <a:srgbClr val="4888CF"/>
                  </a:gs>
                  <a:gs pos="0">
                    <a:srgbClr val="95D2FF"/>
                  </a:gs>
                  <a:gs pos="95000">
                    <a:srgbClr val="3965A3"/>
                  </a:gs>
                </a:gsLst>
                <a:lin ang="5400000" scaled="1"/>
              </a:gra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5" name="PA-文本框 8"/>
          <p:cNvSpPr txBox="1"/>
          <p:nvPr>
            <p:custDataLst>
              <p:tags r:id="rId12"/>
            </p:custDataLst>
          </p:nvPr>
        </p:nvSpPr>
        <p:spPr>
          <a:xfrm>
            <a:off x="1272176" y="485429"/>
            <a:ext cx="7835965" cy="460375"/>
          </a:xfrm>
          <a:prstGeom prst="rect">
            <a:avLst/>
          </a:prstGeom>
          <a:noFill/>
        </p:spPr>
        <p:txBody>
          <a:bodyPr vert="horz"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rPr>
              <a:t>总结</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cs typeface="Aa楷体" panose="02000500000000000000" pitchFamily="2" charset="-122"/>
              <a:sym typeface="微软雅黑" panose="020B0503020204020204" pitchFamily="34" charset="-122"/>
            </a:endParaRPr>
          </a:p>
        </p:txBody>
      </p:sp>
      <p:sp>
        <p:nvSpPr>
          <p:cNvPr id="2" name="矩形 1"/>
          <p:cNvSpPr/>
          <p:nvPr/>
        </p:nvSpPr>
        <p:spPr>
          <a:xfrm>
            <a:off x="10100945" y="270510"/>
            <a:ext cx="1987550" cy="10515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2" name="图片 2"/>
          <p:cNvPicPr>
            <a:picLocks noChangeAspect="1"/>
          </p:cNvPicPr>
          <p:nvPr/>
        </p:nvPicPr>
        <p:blipFill>
          <a:blip r:embed="rId13"/>
          <a:srcRect l="4677" r="14589"/>
          <a:stretch>
            <a:fillRect/>
          </a:stretch>
        </p:blipFill>
        <p:spPr>
          <a:xfrm>
            <a:off x="4396105" y="1137920"/>
            <a:ext cx="3400425" cy="1916430"/>
          </a:xfrm>
          <a:prstGeom prst="rect">
            <a:avLst/>
          </a:prstGeom>
          <a:ln w="9525">
            <a:solidFill>
              <a:schemeClr val="tx1">
                <a:alpha val="0"/>
              </a:schemeClr>
            </a:solidFill>
          </a:ln>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fill="hold"/>
                                        <p:tgtEl>
                                          <p:spTgt spid="36"/>
                                        </p:tgtEl>
                                        <p:attrNameLst>
                                          <p:attrName>ppt_x</p:attrName>
                                        </p:attrNameLst>
                                      </p:cBhvr>
                                      <p:tavLst>
                                        <p:tav tm="0">
                                          <p:val>
                                            <p:strVal val="#ppt_x"/>
                                          </p:val>
                                        </p:tav>
                                        <p:tav tm="100000">
                                          <p:val>
                                            <p:strVal val="#ppt_x"/>
                                          </p:val>
                                        </p:tav>
                                      </p:tavLst>
                                    </p:anim>
                                    <p:anim calcmode="lin" valueType="num">
                                      <p:cBhvr additive="base">
                                        <p:cTn id="12" dur="500" fill="hold"/>
                                        <p:tgtEl>
                                          <p:spTgt spid="3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ppt_x"/>
                                          </p:val>
                                        </p:tav>
                                        <p:tav tm="100000">
                                          <p:val>
                                            <p:strVal val="#ppt_x"/>
                                          </p:val>
                                        </p:tav>
                                      </p:tavLst>
                                    </p:anim>
                                    <p:anim calcmode="lin" valueType="num">
                                      <p:cBhvr additive="base">
                                        <p:cTn id="16" dur="500" fill="hold"/>
                                        <p:tgtEl>
                                          <p:spTgt spid="3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additive="base">
                                        <p:cTn id="19" dur="500" fill="hold"/>
                                        <p:tgtEl>
                                          <p:spTgt spid="38"/>
                                        </p:tgtEl>
                                        <p:attrNameLst>
                                          <p:attrName>ppt_x</p:attrName>
                                        </p:attrNameLst>
                                      </p:cBhvr>
                                      <p:tavLst>
                                        <p:tav tm="0">
                                          <p:val>
                                            <p:strVal val="#ppt_x"/>
                                          </p:val>
                                        </p:tav>
                                        <p:tav tm="100000">
                                          <p:val>
                                            <p:strVal val="#ppt_x"/>
                                          </p:val>
                                        </p:tav>
                                      </p:tavLst>
                                    </p:anim>
                                    <p:anim calcmode="lin" valueType="num">
                                      <p:cBhvr additive="base">
                                        <p:cTn id="20" dur="500" fill="hold"/>
                                        <p:tgtEl>
                                          <p:spTgt spid="3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fill="hold"/>
                                        <p:tgtEl>
                                          <p:spTgt spid="39"/>
                                        </p:tgtEl>
                                        <p:attrNameLst>
                                          <p:attrName>ppt_x</p:attrName>
                                        </p:attrNameLst>
                                      </p:cBhvr>
                                      <p:tavLst>
                                        <p:tav tm="0">
                                          <p:val>
                                            <p:strVal val="#ppt_x"/>
                                          </p:val>
                                        </p:tav>
                                        <p:tav tm="100000">
                                          <p:val>
                                            <p:strVal val="#ppt_x"/>
                                          </p:val>
                                        </p:tav>
                                      </p:tavLst>
                                    </p:anim>
                                    <p:anim calcmode="lin" valueType="num">
                                      <p:cBhvr additive="base">
                                        <p:cTn id="24" dur="500" fill="hold"/>
                                        <p:tgtEl>
                                          <p:spTgt spid="3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anim calcmode="lin" valueType="num">
                                      <p:cBhvr additive="base">
                                        <p:cTn id="27" dur="500" fill="hold"/>
                                        <p:tgtEl>
                                          <p:spTgt spid="40"/>
                                        </p:tgtEl>
                                        <p:attrNameLst>
                                          <p:attrName>ppt_x</p:attrName>
                                        </p:attrNameLst>
                                      </p:cBhvr>
                                      <p:tavLst>
                                        <p:tav tm="0">
                                          <p:val>
                                            <p:strVal val="#ppt_x"/>
                                          </p:val>
                                        </p:tav>
                                        <p:tav tm="100000">
                                          <p:val>
                                            <p:strVal val="#ppt_x"/>
                                          </p:val>
                                        </p:tav>
                                      </p:tavLst>
                                    </p:anim>
                                    <p:anim calcmode="lin" valueType="num">
                                      <p:cBhvr additive="base">
                                        <p:cTn id="28" dur="500" fill="hold"/>
                                        <p:tgtEl>
                                          <p:spTgt spid="4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 calcmode="lin" valueType="num">
                                      <p:cBhvr additive="base">
                                        <p:cTn id="31" dur="500" fill="hold"/>
                                        <p:tgtEl>
                                          <p:spTgt spid="41"/>
                                        </p:tgtEl>
                                        <p:attrNameLst>
                                          <p:attrName>ppt_x</p:attrName>
                                        </p:attrNameLst>
                                      </p:cBhvr>
                                      <p:tavLst>
                                        <p:tav tm="0">
                                          <p:val>
                                            <p:strVal val="#ppt_x"/>
                                          </p:val>
                                        </p:tav>
                                        <p:tav tm="100000">
                                          <p:val>
                                            <p:strVal val="#ppt_x"/>
                                          </p:val>
                                        </p:tav>
                                      </p:tavLst>
                                    </p:anim>
                                    <p:anim calcmode="lin" valueType="num">
                                      <p:cBhvr additive="base">
                                        <p:cTn id="32" dur="500" fill="hold"/>
                                        <p:tgtEl>
                                          <p:spTgt spid="4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anim calcmode="lin" valueType="num">
                                      <p:cBhvr additive="base">
                                        <p:cTn id="35" dur="500" fill="hold"/>
                                        <p:tgtEl>
                                          <p:spTgt spid="42"/>
                                        </p:tgtEl>
                                        <p:attrNameLst>
                                          <p:attrName>ppt_x</p:attrName>
                                        </p:attrNameLst>
                                      </p:cBhvr>
                                      <p:tavLst>
                                        <p:tav tm="0">
                                          <p:val>
                                            <p:strVal val="#ppt_x"/>
                                          </p:val>
                                        </p:tav>
                                        <p:tav tm="100000">
                                          <p:val>
                                            <p:strVal val="#ppt_x"/>
                                          </p:val>
                                        </p:tav>
                                      </p:tavLst>
                                    </p:anim>
                                    <p:anim calcmode="lin" valueType="num">
                                      <p:cBhvr additive="base">
                                        <p:cTn id="36" dur="500" fill="hold"/>
                                        <p:tgtEl>
                                          <p:spTgt spid="4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anim calcmode="lin" valueType="num">
                                      <p:cBhvr additive="base">
                                        <p:cTn id="39" dur="500" fill="hold"/>
                                        <p:tgtEl>
                                          <p:spTgt spid="43"/>
                                        </p:tgtEl>
                                        <p:attrNameLst>
                                          <p:attrName>ppt_x</p:attrName>
                                        </p:attrNameLst>
                                      </p:cBhvr>
                                      <p:tavLst>
                                        <p:tav tm="0">
                                          <p:val>
                                            <p:strVal val="#ppt_x"/>
                                          </p:val>
                                        </p:tav>
                                        <p:tav tm="100000">
                                          <p:val>
                                            <p:strVal val="#ppt_x"/>
                                          </p:val>
                                        </p:tav>
                                      </p:tavLst>
                                    </p:anim>
                                    <p:anim calcmode="lin" valueType="num">
                                      <p:cBhvr additive="base">
                                        <p:cTn id="40" dur="500" fill="hold"/>
                                        <p:tgtEl>
                                          <p:spTgt spid="4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 calcmode="lin" valueType="num">
                                      <p:cBhvr additive="base">
                                        <p:cTn id="43" dur="500" fill="hold"/>
                                        <p:tgtEl>
                                          <p:spTgt spid="44"/>
                                        </p:tgtEl>
                                        <p:attrNameLst>
                                          <p:attrName>ppt_x</p:attrName>
                                        </p:attrNameLst>
                                      </p:cBhvr>
                                      <p:tavLst>
                                        <p:tav tm="0">
                                          <p:val>
                                            <p:strVal val="#ppt_x"/>
                                          </p:val>
                                        </p:tav>
                                        <p:tav tm="100000">
                                          <p:val>
                                            <p:strVal val="#ppt_x"/>
                                          </p:val>
                                        </p:tav>
                                      </p:tavLst>
                                    </p:anim>
                                    <p:anim calcmode="lin" valueType="num">
                                      <p:cBhvr additive="base">
                                        <p:cTn id="44" dur="500" fill="hold"/>
                                        <p:tgtEl>
                                          <p:spTgt spid="4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anim calcmode="lin" valueType="num">
                                      <p:cBhvr additive="base">
                                        <p:cTn id="47" dur="500" fill="hold"/>
                                        <p:tgtEl>
                                          <p:spTgt spid="46"/>
                                        </p:tgtEl>
                                        <p:attrNameLst>
                                          <p:attrName>ppt_x</p:attrName>
                                        </p:attrNameLst>
                                      </p:cBhvr>
                                      <p:tavLst>
                                        <p:tav tm="0">
                                          <p:val>
                                            <p:strVal val="#ppt_x"/>
                                          </p:val>
                                        </p:tav>
                                        <p:tav tm="100000">
                                          <p:val>
                                            <p:strVal val="#ppt_x"/>
                                          </p:val>
                                        </p:tav>
                                      </p:tavLst>
                                    </p:anim>
                                    <p:anim calcmode="lin" valueType="num">
                                      <p:cBhvr additive="base">
                                        <p:cTn id="48" dur="500" fill="hold"/>
                                        <p:tgtEl>
                                          <p:spTgt spid="4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anim calcmode="lin" valueType="num">
                                      <p:cBhvr additive="base">
                                        <p:cTn id="51" dur="500" fill="hold"/>
                                        <p:tgtEl>
                                          <p:spTgt spid="48"/>
                                        </p:tgtEl>
                                        <p:attrNameLst>
                                          <p:attrName>ppt_x</p:attrName>
                                        </p:attrNameLst>
                                      </p:cBhvr>
                                      <p:tavLst>
                                        <p:tav tm="0">
                                          <p:val>
                                            <p:strVal val="#ppt_x"/>
                                          </p:val>
                                        </p:tav>
                                        <p:tav tm="100000">
                                          <p:val>
                                            <p:strVal val="#ppt_x"/>
                                          </p:val>
                                        </p:tav>
                                      </p:tavLst>
                                    </p:anim>
                                    <p:anim calcmode="lin" valueType="num">
                                      <p:cBhvr additive="base">
                                        <p:cTn id="52" dur="500" fill="hold"/>
                                        <p:tgtEl>
                                          <p:spTgt spid="4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anim calcmode="lin" valueType="num">
                                      <p:cBhvr additive="base">
                                        <p:cTn id="55" dur="500" fill="hold"/>
                                        <p:tgtEl>
                                          <p:spTgt spid="50"/>
                                        </p:tgtEl>
                                        <p:attrNameLst>
                                          <p:attrName>ppt_x</p:attrName>
                                        </p:attrNameLst>
                                      </p:cBhvr>
                                      <p:tavLst>
                                        <p:tav tm="0">
                                          <p:val>
                                            <p:strVal val="#ppt_x"/>
                                          </p:val>
                                        </p:tav>
                                        <p:tav tm="100000">
                                          <p:val>
                                            <p:strVal val="#ppt_x"/>
                                          </p:val>
                                        </p:tav>
                                      </p:tavLst>
                                    </p:anim>
                                    <p:anim calcmode="lin" valueType="num">
                                      <p:cBhvr additive="base">
                                        <p:cTn id="56" dur="500" fill="hold"/>
                                        <p:tgtEl>
                                          <p:spTgt spid="50"/>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2"/>
                                        </p:tgtEl>
                                        <p:attrNameLst>
                                          <p:attrName>style.visibility</p:attrName>
                                        </p:attrNameLst>
                                      </p:cBhvr>
                                      <p:to>
                                        <p:strVal val="visible"/>
                                      </p:to>
                                    </p:set>
                                    <p:anim calcmode="lin" valueType="num">
                                      <p:cBhvr additive="base">
                                        <p:cTn id="59" dur="500" fill="hold"/>
                                        <p:tgtEl>
                                          <p:spTgt spid="52"/>
                                        </p:tgtEl>
                                        <p:attrNameLst>
                                          <p:attrName>ppt_x</p:attrName>
                                        </p:attrNameLst>
                                      </p:cBhvr>
                                      <p:tavLst>
                                        <p:tav tm="0">
                                          <p:val>
                                            <p:strVal val="#ppt_x"/>
                                          </p:val>
                                        </p:tav>
                                        <p:tav tm="100000">
                                          <p:val>
                                            <p:strVal val="#ppt_x"/>
                                          </p:val>
                                        </p:tav>
                                      </p:tavLst>
                                    </p:anim>
                                    <p:anim calcmode="lin" valueType="num">
                                      <p:cBhvr additive="base">
                                        <p:cTn id="60" dur="500" fill="hold"/>
                                        <p:tgtEl>
                                          <p:spTgt spid="52"/>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 calcmode="lin" valueType="num">
                                      <p:cBhvr additive="base">
                                        <p:cTn id="63" dur="500" fill="hold"/>
                                        <p:tgtEl>
                                          <p:spTgt spid="34"/>
                                        </p:tgtEl>
                                        <p:attrNameLst>
                                          <p:attrName>ppt_x</p:attrName>
                                        </p:attrNameLst>
                                      </p:cBhvr>
                                      <p:tavLst>
                                        <p:tav tm="0">
                                          <p:val>
                                            <p:strVal val="#ppt_x"/>
                                          </p:val>
                                        </p:tav>
                                        <p:tav tm="100000">
                                          <p:val>
                                            <p:strVal val="#ppt_x"/>
                                          </p:val>
                                        </p:tav>
                                      </p:tavLst>
                                    </p:anim>
                                    <p:anim calcmode="lin" valueType="num">
                                      <p:cBhvr additive="base">
                                        <p:cTn id="64" dur="500" fill="hold"/>
                                        <p:tgtEl>
                                          <p:spTgt spid="34"/>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additive="base">
                                        <p:cTn id="67" dur="500" fill="hold"/>
                                        <p:tgtEl>
                                          <p:spTgt spid="8"/>
                                        </p:tgtEl>
                                        <p:attrNameLst>
                                          <p:attrName>ppt_x</p:attrName>
                                        </p:attrNameLst>
                                      </p:cBhvr>
                                      <p:tavLst>
                                        <p:tav tm="0">
                                          <p:val>
                                            <p:strVal val="#ppt_x"/>
                                          </p:val>
                                        </p:tav>
                                        <p:tav tm="100000">
                                          <p:val>
                                            <p:strVal val="#ppt_x"/>
                                          </p:val>
                                        </p:tav>
                                      </p:tavLst>
                                    </p:anim>
                                    <p:anim calcmode="lin" valueType="num">
                                      <p:cBhvr additive="base">
                                        <p:cTn id="6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41" grpId="0" animBg="1"/>
      <p:bldP spid="42" grpId="0" animBg="1"/>
      <p:bldP spid="43" grpId="0" animBg="1"/>
      <p:bldP spid="44" grpId="0" animBg="1"/>
      <p:bldP spid="46" grpId="0"/>
      <p:bldP spid="48" grpId="0"/>
      <p:bldP spid="50" grpId="0"/>
      <p:bldP spid="52" grpId="0"/>
      <p:bldP spid="34" grpId="0"/>
      <p:bldP spid="8" grpId="0"/>
      <p:bldP spid="35" grpId="1" animBg="1"/>
      <p:bldP spid="36" grpId="1" animBg="1"/>
      <p:bldP spid="41" grpId="1" animBg="1"/>
      <p:bldP spid="42" grpId="1" animBg="1"/>
      <p:bldP spid="43" grpId="1" animBg="1"/>
      <p:bldP spid="44" grpId="1" animBg="1"/>
      <p:bldP spid="46" grpId="1"/>
      <p:bldP spid="48" grpId="1"/>
      <p:bldP spid="50" grpId="1"/>
      <p:bldP spid="52" grpId="1"/>
      <p:bldP spid="34" grpId="1"/>
      <p:bldP spid="8"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30306" y="1"/>
            <a:ext cx="11763418" cy="6382870"/>
          </a:xfrm>
          <a:custGeom>
            <a:avLst/>
            <a:gdLst>
              <a:gd name="connsiteX0" fmla="*/ 0 w 11761694"/>
              <a:gd name="connsiteY0" fmla="*/ 0 h 6060141"/>
              <a:gd name="connsiteX1" fmla="*/ 11761694 w 11761694"/>
              <a:gd name="connsiteY1" fmla="*/ 0 h 6060141"/>
              <a:gd name="connsiteX2" fmla="*/ 11761694 w 11761694"/>
              <a:gd name="connsiteY2" fmla="*/ 6060141 h 6060141"/>
              <a:gd name="connsiteX3" fmla="*/ 0 w 11761694"/>
              <a:gd name="connsiteY3" fmla="*/ 6060141 h 6060141"/>
              <a:gd name="connsiteX4" fmla="*/ 0 w 11761694"/>
              <a:gd name="connsiteY4" fmla="*/ 0 h 6060141"/>
              <a:gd name="connsiteX0-1" fmla="*/ 0 w 11761694"/>
              <a:gd name="connsiteY0-2" fmla="*/ 0 h 6060141"/>
              <a:gd name="connsiteX1-3" fmla="*/ 11761694 w 11761694"/>
              <a:gd name="connsiteY1-4" fmla="*/ 0 h 6060141"/>
              <a:gd name="connsiteX2-5" fmla="*/ 11743764 w 11761694"/>
              <a:gd name="connsiteY2-6" fmla="*/ 4320988 h 6060141"/>
              <a:gd name="connsiteX3-7" fmla="*/ 0 w 11761694"/>
              <a:gd name="connsiteY3-8" fmla="*/ 6060141 h 6060141"/>
              <a:gd name="connsiteX4-9" fmla="*/ 0 w 11761694"/>
              <a:gd name="connsiteY4-10" fmla="*/ 0 h 6060141"/>
              <a:gd name="connsiteX0-11" fmla="*/ 0 w 11763418"/>
              <a:gd name="connsiteY0-12" fmla="*/ 0 h 6060141"/>
              <a:gd name="connsiteX1-13" fmla="*/ 11761694 w 11763418"/>
              <a:gd name="connsiteY1-14" fmla="*/ 0 h 6060141"/>
              <a:gd name="connsiteX2-15" fmla="*/ 11761693 w 11763418"/>
              <a:gd name="connsiteY2-16" fmla="*/ 5109882 h 6060141"/>
              <a:gd name="connsiteX3-17" fmla="*/ 0 w 11763418"/>
              <a:gd name="connsiteY3-18" fmla="*/ 6060141 h 6060141"/>
              <a:gd name="connsiteX4-19" fmla="*/ 0 w 11763418"/>
              <a:gd name="connsiteY4-20" fmla="*/ 0 h 6060141"/>
              <a:gd name="connsiteX0-21" fmla="*/ 0 w 11763418"/>
              <a:gd name="connsiteY0-22" fmla="*/ 0 h 6382870"/>
              <a:gd name="connsiteX1-23" fmla="*/ 11761694 w 11763418"/>
              <a:gd name="connsiteY1-24" fmla="*/ 0 h 6382870"/>
              <a:gd name="connsiteX2-25" fmla="*/ 11761693 w 11763418"/>
              <a:gd name="connsiteY2-26" fmla="*/ 5109882 h 6382870"/>
              <a:gd name="connsiteX3-27" fmla="*/ 268941 w 11763418"/>
              <a:gd name="connsiteY3-28" fmla="*/ 6382870 h 6382870"/>
              <a:gd name="connsiteX4-29" fmla="*/ 0 w 11763418"/>
              <a:gd name="connsiteY4-30" fmla="*/ 0 h 638287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763418" h="6382870">
                <a:moveTo>
                  <a:pt x="0" y="0"/>
                </a:moveTo>
                <a:lnTo>
                  <a:pt x="11761694" y="0"/>
                </a:lnTo>
                <a:cubicBezTo>
                  <a:pt x="11755717" y="1440329"/>
                  <a:pt x="11767670" y="3669553"/>
                  <a:pt x="11761693" y="5109882"/>
                </a:cubicBezTo>
                <a:lnTo>
                  <a:pt x="268941" y="6382870"/>
                </a:lnTo>
                <a:lnTo>
                  <a:pt x="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任意多边形 11"/>
          <p:cNvSpPr/>
          <p:nvPr/>
        </p:nvSpPr>
        <p:spPr>
          <a:xfrm rot="21041616">
            <a:off x="-514051" y="-937437"/>
            <a:ext cx="12990390" cy="6402472"/>
          </a:xfrm>
          <a:custGeom>
            <a:avLst/>
            <a:gdLst>
              <a:gd name="connsiteX0" fmla="*/ 12990390 w 12990390"/>
              <a:gd name="connsiteY0" fmla="*/ 1971618 h 6402472"/>
              <a:gd name="connsiteX1" fmla="*/ 12264302 w 12990390"/>
              <a:gd name="connsiteY1" fmla="*/ 6402472 h 6402472"/>
              <a:gd name="connsiteX2" fmla="*/ 715646 w 12990390"/>
              <a:gd name="connsiteY2" fmla="*/ 6402472 h 6402472"/>
              <a:gd name="connsiteX3" fmla="*/ 30006 w 12990390"/>
              <a:gd name="connsiteY3" fmla="*/ 5947999 h 6402472"/>
              <a:gd name="connsiteX4" fmla="*/ 0 w 12990390"/>
              <a:gd name="connsiteY4" fmla="*/ 5851338 h 6402472"/>
              <a:gd name="connsiteX5" fmla="*/ 958864 w 12990390"/>
              <a:gd name="connsiteY5" fmla="*/ 0 h 6402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90390" h="6402472">
                <a:moveTo>
                  <a:pt x="12990390" y="1971618"/>
                </a:moveTo>
                <a:lnTo>
                  <a:pt x="12264302" y="6402472"/>
                </a:lnTo>
                <a:lnTo>
                  <a:pt x="715646" y="6402472"/>
                </a:lnTo>
                <a:cubicBezTo>
                  <a:pt x="407423" y="6402472"/>
                  <a:pt x="142969" y="6215074"/>
                  <a:pt x="30006" y="5947999"/>
                </a:cubicBezTo>
                <a:lnTo>
                  <a:pt x="0" y="5851338"/>
                </a:lnTo>
                <a:lnTo>
                  <a:pt x="958864" y="0"/>
                </a:lnTo>
                <a:close/>
              </a:path>
            </a:pathLst>
          </a:custGeom>
          <a:solidFill>
            <a:srgbClr val="326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8" name="矩形 47"/>
          <p:cNvSpPr/>
          <p:nvPr/>
        </p:nvSpPr>
        <p:spPr>
          <a:xfrm>
            <a:off x="4436996" y="-1"/>
            <a:ext cx="7771629" cy="5752407"/>
          </a:xfrm>
          <a:custGeom>
            <a:avLst/>
            <a:gdLst>
              <a:gd name="connsiteX0" fmla="*/ 0 w 7755004"/>
              <a:gd name="connsiteY0" fmla="*/ 0 h 5752406"/>
              <a:gd name="connsiteX1" fmla="*/ 7755004 w 7755004"/>
              <a:gd name="connsiteY1" fmla="*/ 0 h 5752406"/>
              <a:gd name="connsiteX2" fmla="*/ 7755004 w 7755004"/>
              <a:gd name="connsiteY2" fmla="*/ 5752406 h 5752406"/>
              <a:gd name="connsiteX3" fmla="*/ 0 w 7755004"/>
              <a:gd name="connsiteY3" fmla="*/ 5752406 h 5752406"/>
              <a:gd name="connsiteX4" fmla="*/ 0 w 7755004"/>
              <a:gd name="connsiteY4" fmla="*/ 0 h 5752406"/>
              <a:gd name="connsiteX0-1" fmla="*/ 0 w 7755004"/>
              <a:gd name="connsiteY0-2" fmla="*/ 1 h 5752407"/>
              <a:gd name="connsiteX1-3" fmla="*/ 1498291 w 7755004"/>
              <a:gd name="connsiteY1-4" fmla="*/ 0 h 5752407"/>
              <a:gd name="connsiteX2-5" fmla="*/ 7755004 w 7755004"/>
              <a:gd name="connsiteY2-6" fmla="*/ 1 h 5752407"/>
              <a:gd name="connsiteX3-7" fmla="*/ 7755004 w 7755004"/>
              <a:gd name="connsiteY3-8" fmla="*/ 5752407 h 5752407"/>
              <a:gd name="connsiteX4-9" fmla="*/ 0 w 7755004"/>
              <a:gd name="connsiteY4-10" fmla="*/ 5752407 h 5752407"/>
              <a:gd name="connsiteX5" fmla="*/ 0 w 7755004"/>
              <a:gd name="connsiteY5" fmla="*/ 1 h 5752407"/>
              <a:gd name="connsiteX0-11" fmla="*/ 0 w 7755004"/>
              <a:gd name="connsiteY0-12" fmla="*/ 5752407 h 5752407"/>
              <a:gd name="connsiteX1-13" fmla="*/ 1498291 w 7755004"/>
              <a:gd name="connsiteY1-14" fmla="*/ 0 h 5752407"/>
              <a:gd name="connsiteX2-15" fmla="*/ 7755004 w 7755004"/>
              <a:gd name="connsiteY2-16" fmla="*/ 1 h 5752407"/>
              <a:gd name="connsiteX3-17" fmla="*/ 7755004 w 7755004"/>
              <a:gd name="connsiteY3-18" fmla="*/ 5752407 h 5752407"/>
              <a:gd name="connsiteX4-19" fmla="*/ 0 w 7755004"/>
              <a:gd name="connsiteY4-20" fmla="*/ 5752407 h 5752407"/>
              <a:gd name="connsiteX0-21" fmla="*/ 0 w 7771629"/>
              <a:gd name="connsiteY0-22" fmla="*/ 5752407 h 5752407"/>
              <a:gd name="connsiteX1-23" fmla="*/ 1498291 w 7771629"/>
              <a:gd name="connsiteY1-24" fmla="*/ 0 h 5752407"/>
              <a:gd name="connsiteX2-25" fmla="*/ 7755004 w 7771629"/>
              <a:gd name="connsiteY2-26" fmla="*/ 1 h 5752407"/>
              <a:gd name="connsiteX3-27" fmla="*/ 7771629 w 7771629"/>
              <a:gd name="connsiteY3-28" fmla="*/ 4472247 h 5752407"/>
              <a:gd name="connsiteX4-29" fmla="*/ 0 w 7771629"/>
              <a:gd name="connsiteY4-30" fmla="*/ 5752407 h 575240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771629" h="5752407">
                <a:moveTo>
                  <a:pt x="0" y="5752407"/>
                </a:moveTo>
                <a:lnTo>
                  <a:pt x="1498291" y="0"/>
                </a:lnTo>
                <a:lnTo>
                  <a:pt x="7755004" y="1"/>
                </a:lnTo>
                <a:cubicBezTo>
                  <a:pt x="7760546" y="1490750"/>
                  <a:pt x="7766087" y="2981498"/>
                  <a:pt x="7771629" y="4472247"/>
                </a:cubicBezTo>
                <a:lnTo>
                  <a:pt x="0" y="5752407"/>
                </a:lnTo>
                <a:close/>
              </a:path>
            </a:pathLst>
          </a:custGeom>
          <a:gradFill>
            <a:gsLst>
              <a:gs pos="0">
                <a:srgbClr val="4A82DE">
                  <a:alpha val="39000"/>
                </a:srgbClr>
              </a:gs>
              <a:gs pos="100000">
                <a:srgbClr val="4A82DE">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任意多边形 33"/>
          <p:cNvSpPr/>
          <p:nvPr/>
        </p:nvSpPr>
        <p:spPr>
          <a:xfrm rot="18401669">
            <a:off x="6381777" y="-1167523"/>
            <a:ext cx="6973274" cy="7565943"/>
          </a:xfrm>
          <a:custGeom>
            <a:avLst/>
            <a:gdLst>
              <a:gd name="connsiteX0" fmla="*/ 5273838 w 6973274"/>
              <a:gd name="connsiteY0" fmla="*/ 5324480 h 7565943"/>
              <a:gd name="connsiteX1" fmla="*/ 5283257 w 6973274"/>
              <a:gd name="connsiteY1" fmla="*/ 5344073 h 7565943"/>
              <a:gd name="connsiteX2" fmla="*/ 2301791 w 6973274"/>
              <a:gd name="connsiteY2" fmla="*/ 7565943 h 7565943"/>
              <a:gd name="connsiteX3" fmla="*/ 1536944 w 6973274"/>
              <a:gd name="connsiteY3" fmla="*/ 7565943 h 7565943"/>
              <a:gd name="connsiteX4" fmla="*/ 1191193 w 6973274"/>
              <a:gd name="connsiteY4" fmla="*/ 7220193 h 7565943"/>
              <a:gd name="connsiteX5" fmla="*/ 1191193 w 6973274"/>
              <a:gd name="connsiteY5" fmla="*/ 5517794 h 7565943"/>
              <a:gd name="connsiteX6" fmla="*/ 1536944 w 6973274"/>
              <a:gd name="connsiteY6" fmla="*/ 5172042 h 7565943"/>
              <a:gd name="connsiteX7" fmla="*/ 4987136 w 6973274"/>
              <a:gd name="connsiteY7" fmla="*/ 5172042 h 7565943"/>
              <a:gd name="connsiteX8" fmla="*/ 5273838 w 6973274"/>
              <a:gd name="connsiteY8" fmla="*/ 5324480 h 7565943"/>
              <a:gd name="connsiteX9" fmla="*/ 4082645 w 6973274"/>
              <a:gd name="connsiteY9" fmla="*/ 2738460 h 7565943"/>
              <a:gd name="connsiteX10" fmla="*/ 4141694 w 6973274"/>
              <a:gd name="connsiteY10" fmla="*/ 2931772 h 7565943"/>
              <a:gd name="connsiteX11" fmla="*/ 4141694 w 6973274"/>
              <a:gd name="connsiteY11" fmla="*/ 4634171 h 7565943"/>
              <a:gd name="connsiteX12" fmla="*/ 3795943 w 6973274"/>
              <a:gd name="connsiteY12" fmla="*/ 4979922 h 7565943"/>
              <a:gd name="connsiteX13" fmla="*/ 345751 w 6973274"/>
              <a:gd name="connsiteY13" fmla="*/ 4979923 h 7565943"/>
              <a:gd name="connsiteX14" fmla="*/ 0 w 6973274"/>
              <a:gd name="connsiteY14" fmla="*/ 4634172 h 7565943"/>
              <a:gd name="connsiteX15" fmla="*/ 0 w 6973274"/>
              <a:gd name="connsiteY15" fmla="*/ 2931772 h 7565943"/>
              <a:gd name="connsiteX16" fmla="*/ 345751 w 6973274"/>
              <a:gd name="connsiteY16" fmla="*/ 2586022 h 7565943"/>
              <a:gd name="connsiteX17" fmla="*/ 3795943 w 6973274"/>
              <a:gd name="connsiteY17" fmla="*/ 2586022 h 7565943"/>
              <a:gd name="connsiteX18" fmla="*/ 4040426 w 6973274"/>
              <a:gd name="connsiteY18" fmla="*/ 2687290 h 7565943"/>
              <a:gd name="connsiteX19" fmla="*/ 4082645 w 6973274"/>
              <a:gd name="connsiteY19" fmla="*/ 2738460 h 7565943"/>
              <a:gd name="connsiteX20" fmla="*/ 5856473 w 6973274"/>
              <a:gd name="connsiteY20" fmla="*/ 2586022 h 7565943"/>
              <a:gd name="connsiteX21" fmla="*/ 6973274 w 6973274"/>
              <a:gd name="connsiteY21" fmla="*/ 4084627 h 7565943"/>
              <a:gd name="connsiteX22" fmla="*/ 5771899 w 6973274"/>
              <a:gd name="connsiteY22" fmla="*/ 4979924 h 7565943"/>
              <a:gd name="connsiteX23" fmla="*/ 4709272 w 6973274"/>
              <a:gd name="connsiteY23" fmla="*/ 4979923 h 7565943"/>
              <a:gd name="connsiteX24" fmla="*/ 4363521 w 6973274"/>
              <a:gd name="connsiteY24" fmla="*/ 4634172 h 7565943"/>
              <a:gd name="connsiteX25" fmla="*/ 4363521 w 6973274"/>
              <a:gd name="connsiteY25" fmla="*/ 2931773 h 7565943"/>
              <a:gd name="connsiteX26" fmla="*/ 4709272 w 6973274"/>
              <a:gd name="connsiteY26" fmla="*/ 2586023 h 7565943"/>
              <a:gd name="connsiteX27" fmla="*/ 3929299 w 6973274"/>
              <a:gd name="connsiteY27" fmla="*/ 0 h 7565943"/>
              <a:gd name="connsiteX28" fmla="*/ 5713299 w 6973274"/>
              <a:gd name="connsiteY28" fmla="*/ 2393902 h 7565943"/>
              <a:gd name="connsiteX29" fmla="*/ 2946049 w 6973274"/>
              <a:gd name="connsiteY29" fmla="*/ 2393901 h 7565943"/>
              <a:gd name="connsiteX30" fmla="*/ 2600298 w 6973274"/>
              <a:gd name="connsiteY30" fmla="*/ 2048150 h 7565943"/>
              <a:gd name="connsiteX31" fmla="*/ 2600298 w 6973274"/>
              <a:gd name="connsiteY31" fmla="*/ 345751 h 7565943"/>
              <a:gd name="connsiteX32" fmla="*/ 2946049 w 6973274"/>
              <a:gd name="connsiteY32" fmla="*/ 0 h 7565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973274" h="7565943">
                <a:moveTo>
                  <a:pt x="5273838" y="5324480"/>
                </a:moveTo>
                <a:lnTo>
                  <a:pt x="5283257" y="5344073"/>
                </a:lnTo>
                <a:lnTo>
                  <a:pt x="2301791" y="7565943"/>
                </a:lnTo>
                <a:lnTo>
                  <a:pt x="1536944" y="7565943"/>
                </a:lnTo>
                <a:cubicBezTo>
                  <a:pt x="1345991" y="7565943"/>
                  <a:pt x="1191193" y="7411145"/>
                  <a:pt x="1191193" y="7220193"/>
                </a:cubicBezTo>
                <a:lnTo>
                  <a:pt x="1191193" y="5517794"/>
                </a:lnTo>
                <a:cubicBezTo>
                  <a:pt x="1191193" y="5326841"/>
                  <a:pt x="1345991" y="5172043"/>
                  <a:pt x="1536944" y="5172042"/>
                </a:cubicBezTo>
                <a:lnTo>
                  <a:pt x="4987136" y="5172042"/>
                </a:lnTo>
                <a:cubicBezTo>
                  <a:pt x="5106482" y="5172042"/>
                  <a:pt x="5211705" y="5232510"/>
                  <a:pt x="5273838" y="5324480"/>
                </a:cubicBezTo>
                <a:close/>
                <a:moveTo>
                  <a:pt x="4082645" y="2738460"/>
                </a:moveTo>
                <a:cubicBezTo>
                  <a:pt x="4119925" y="2793642"/>
                  <a:pt x="4141694" y="2860165"/>
                  <a:pt x="4141694" y="2931772"/>
                </a:cubicBezTo>
                <a:lnTo>
                  <a:pt x="4141694" y="4634171"/>
                </a:lnTo>
                <a:cubicBezTo>
                  <a:pt x="4141694" y="4825126"/>
                  <a:pt x="3986896" y="4979924"/>
                  <a:pt x="3795943" y="4979922"/>
                </a:cubicBezTo>
                <a:lnTo>
                  <a:pt x="345751" y="4979923"/>
                </a:lnTo>
                <a:cubicBezTo>
                  <a:pt x="154798" y="4979922"/>
                  <a:pt x="0" y="4825127"/>
                  <a:pt x="0" y="4634172"/>
                </a:cubicBezTo>
                <a:lnTo>
                  <a:pt x="0" y="2931772"/>
                </a:lnTo>
                <a:cubicBezTo>
                  <a:pt x="0" y="2740820"/>
                  <a:pt x="154798" y="2586021"/>
                  <a:pt x="345751" y="2586022"/>
                </a:cubicBezTo>
                <a:lnTo>
                  <a:pt x="3795943" y="2586022"/>
                </a:lnTo>
                <a:cubicBezTo>
                  <a:pt x="3891419" y="2586022"/>
                  <a:pt x="3977857" y="2624721"/>
                  <a:pt x="4040426" y="2687290"/>
                </a:cubicBezTo>
                <a:cubicBezTo>
                  <a:pt x="4056068" y="2702932"/>
                  <a:pt x="4070218" y="2720066"/>
                  <a:pt x="4082645" y="2738460"/>
                </a:cubicBezTo>
                <a:close/>
                <a:moveTo>
                  <a:pt x="5856473" y="2586022"/>
                </a:moveTo>
                <a:lnTo>
                  <a:pt x="6973274" y="4084627"/>
                </a:lnTo>
                <a:lnTo>
                  <a:pt x="5771899" y="4979924"/>
                </a:lnTo>
                <a:lnTo>
                  <a:pt x="4709272" y="4979923"/>
                </a:lnTo>
                <a:cubicBezTo>
                  <a:pt x="4518319" y="4979922"/>
                  <a:pt x="4363521" y="4825127"/>
                  <a:pt x="4363521" y="4634172"/>
                </a:cubicBezTo>
                <a:lnTo>
                  <a:pt x="4363521" y="2931773"/>
                </a:lnTo>
                <a:cubicBezTo>
                  <a:pt x="4363521" y="2740819"/>
                  <a:pt x="4518319" y="2586021"/>
                  <a:pt x="4709272" y="2586023"/>
                </a:cubicBezTo>
                <a:close/>
                <a:moveTo>
                  <a:pt x="3929299" y="0"/>
                </a:moveTo>
                <a:lnTo>
                  <a:pt x="5713299" y="2393902"/>
                </a:lnTo>
                <a:lnTo>
                  <a:pt x="2946049" y="2393901"/>
                </a:lnTo>
                <a:cubicBezTo>
                  <a:pt x="2755096" y="2393901"/>
                  <a:pt x="2600298" y="2239103"/>
                  <a:pt x="2600298" y="2048150"/>
                </a:cubicBezTo>
                <a:lnTo>
                  <a:pt x="2600298" y="345751"/>
                </a:lnTo>
                <a:cubicBezTo>
                  <a:pt x="2600298" y="154798"/>
                  <a:pt x="2755096" y="0"/>
                  <a:pt x="2946049" y="0"/>
                </a:cubicBezTo>
                <a:close/>
              </a:path>
            </a:pathLst>
          </a:custGeom>
          <a:blipFill dpi="0" rotWithShape="0">
            <a:blip r:embed="rId1" cstate="screen"/>
            <a:srcRect/>
            <a:stretch>
              <a:fillRect/>
            </a:stretch>
          </a:blipFill>
          <a:ln w="57150">
            <a:noFill/>
          </a:ln>
          <a:effectLst>
            <a:outerShdw blurRad="190500" dist="63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9" name="组合 48"/>
          <p:cNvGrpSpPr/>
          <p:nvPr/>
        </p:nvGrpSpPr>
        <p:grpSpPr>
          <a:xfrm>
            <a:off x="630953" y="501573"/>
            <a:ext cx="968076" cy="368300"/>
            <a:chOff x="8678487" y="323005"/>
            <a:chExt cx="968076" cy="368300"/>
          </a:xfrm>
        </p:grpSpPr>
        <p:grpSp>
          <p:nvGrpSpPr>
            <p:cNvPr id="50" name="组合 49"/>
            <p:cNvGrpSpPr/>
            <p:nvPr/>
          </p:nvGrpSpPr>
          <p:grpSpPr>
            <a:xfrm>
              <a:off x="8678487" y="427815"/>
              <a:ext cx="598517" cy="120825"/>
              <a:chOff x="8678487" y="332509"/>
              <a:chExt cx="1070623" cy="216131"/>
            </a:xfrm>
          </p:grpSpPr>
          <p:sp>
            <p:nvSpPr>
              <p:cNvPr id="53" name="椭圆 52"/>
              <p:cNvSpPr/>
              <p:nvPr/>
            </p:nvSpPr>
            <p:spPr>
              <a:xfrm>
                <a:off x="8678487" y="332509"/>
                <a:ext cx="216131" cy="216131"/>
              </a:xfrm>
              <a:prstGeom prst="ellipse">
                <a:avLst/>
              </a:prstGeom>
              <a:solidFill>
                <a:srgbClr val="E6CE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4" name="椭圆 53"/>
              <p:cNvSpPr/>
              <p:nvPr/>
            </p:nvSpPr>
            <p:spPr>
              <a:xfrm>
                <a:off x="9105733" y="332509"/>
                <a:ext cx="216131" cy="216131"/>
              </a:xfrm>
              <a:prstGeom prst="ellipse">
                <a:avLst/>
              </a:prstGeom>
              <a:solidFill>
                <a:srgbClr val="4A82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5" name="椭圆 54"/>
              <p:cNvSpPr/>
              <p:nvPr/>
            </p:nvSpPr>
            <p:spPr>
              <a:xfrm>
                <a:off x="9532979" y="332509"/>
                <a:ext cx="216131" cy="21613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51" name="矩形 50"/>
            <p:cNvSpPr/>
            <p:nvPr/>
          </p:nvSpPr>
          <p:spPr>
            <a:xfrm>
              <a:off x="9336683" y="323005"/>
              <a:ext cx="309880" cy="368300"/>
            </a:xfrm>
            <a:prstGeom prst="rect">
              <a:avLst/>
            </a:prstGeom>
          </p:spPr>
          <p:txBody>
            <a:bodyPr wrap="none">
              <a:spAutoFit/>
            </a:bodyPr>
            <a:lstStyle/>
            <a:p>
              <a:endPar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36" name="文本框 35"/>
          <p:cNvSpPr txBox="1"/>
          <p:nvPr/>
        </p:nvSpPr>
        <p:spPr>
          <a:xfrm>
            <a:off x="484100" y="1953657"/>
            <a:ext cx="8788352" cy="1107996"/>
          </a:xfrm>
          <a:prstGeom prst="rect">
            <a:avLst/>
          </a:prstGeom>
          <a:noFill/>
        </p:spPr>
        <p:txBody>
          <a:bodyPr wrap="square" rtlCol="0">
            <a:spAutoFit/>
          </a:bodyPr>
          <a:lstStyle/>
          <a:p>
            <a:r>
              <a:rPr lang="en-US" altLang="zh-CN" sz="6600" b="1" dirty="0">
                <a:solidFill>
                  <a:schemeClr val="bg1"/>
                </a:solidFill>
                <a:effectLst>
                  <a:outerShdw blurRad="127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rPr>
              <a:t>THANK . YOU</a:t>
            </a:r>
            <a:endParaRPr lang="zh-CN" altLang="en-US" sz="4000" b="1" i="1" dirty="0">
              <a:solidFill>
                <a:srgbClr val="E6CEBC"/>
              </a:solidFill>
              <a:effectLst>
                <a:outerShdw blurRad="12700" dist="25400" dir="2700000" algn="tl">
                  <a:srgbClr val="000000">
                    <a:alpha val="15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 name="组合 1"/>
          <p:cNvGrpSpPr/>
          <p:nvPr/>
        </p:nvGrpSpPr>
        <p:grpSpPr>
          <a:xfrm>
            <a:off x="583978" y="3195481"/>
            <a:ext cx="2677236" cy="646331"/>
            <a:chOff x="610872" y="1603838"/>
            <a:chExt cx="2677236" cy="646331"/>
          </a:xfrm>
        </p:grpSpPr>
        <p:sp>
          <p:nvSpPr>
            <p:cNvPr id="5" name="圆角矩形 4"/>
            <p:cNvSpPr/>
            <p:nvPr/>
          </p:nvSpPr>
          <p:spPr>
            <a:xfrm>
              <a:off x="610872" y="1647016"/>
              <a:ext cx="2677236" cy="579257"/>
            </a:xfrm>
            <a:prstGeom prst="roundRect">
              <a:avLst>
                <a:gd name="adj" fmla="val 50000"/>
              </a:avLst>
            </a:prstGeom>
            <a:solidFill>
              <a:srgbClr val="E6CE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矩形 27"/>
            <p:cNvSpPr/>
            <p:nvPr/>
          </p:nvSpPr>
          <p:spPr>
            <a:xfrm>
              <a:off x="925013" y="1603838"/>
              <a:ext cx="2031325" cy="646331"/>
            </a:xfrm>
            <a:prstGeom prst="rect">
              <a:avLst/>
            </a:prstGeom>
          </p:spPr>
          <p:txBody>
            <a:bodyPr wrap="none">
              <a:spAutoFit/>
            </a:bodyPr>
            <a:lstStyle/>
            <a:p>
              <a:pPr algn="ctr"/>
              <a:r>
                <a:rPr lang="zh-CN" altLang="en-US" sz="3600" b="1" dirty="0">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谢谢观看</a:t>
              </a:r>
              <a:endParaRPr lang="zh-CN" altLang="en-US" sz="3600" b="1" dirty="0">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bldLst>
      <p:bldP spid="13" grpId="0" animBg="1"/>
      <p:bldP spid="12" grpId="0" animBg="1"/>
      <p:bldP spid="48" grpId="0" animBg="1"/>
      <p:bldP spid="34" grpId="0" animBg="1"/>
      <p:bldP spid="36" grpId="0"/>
    </p:bldLst>
  </p:timing>
</p:sld>
</file>

<file path=ppt/tags/tag1.xml><?xml version="1.0" encoding="utf-8"?>
<p:tagLst xmlns:p="http://schemas.openxmlformats.org/presentationml/2006/main">
  <p:tag name="PA" val="v5.2.9"/>
</p:tagLst>
</file>

<file path=ppt/tags/tag2.xml><?xml version="1.0" encoding="utf-8"?>
<p:tagLst xmlns:p="http://schemas.openxmlformats.org/presentationml/2006/main">
  <p:tag name="KSO_WM_UNIT_PIC_EFFECT" val="1"/>
  <p:tag name="KSO_WM_UNIT_PLACING_PICTURE_USER_VIEWPORT" val="{&quot;height&quot;:7909,&quot;width&quot;:11038}"/>
</p:tagLst>
</file>

<file path=ppt/tags/tag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8569_1*i*1"/>
  <p:tag name="KSO_WM_TEMPLATE_CATEGORY" val="custom"/>
  <p:tag name="KSO_WM_TEMPLATE_INDEX" val="20238569"/>
  <p:tag name="KSO_WM_UNIT_LAYERLEVEL" val="1"/>
  <p:tag name="KSO_WM_TAG_VERSION" val="3.0"/>
  <p:tag name="KSO_WM_UNIT_PIC_EFFECT" val="1"/>
</p:tagLst>
</file>

<file path=ppt/tags/tag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8569_1*i*2"/>
  <p:tag name="KSO_WM_TEMPLATE_CATEGORY" val="custom"/>
  <p:tag name="KSO_WM_TEMPLATE_INDEX" val="20238569"/>
  <p:tag name="KSO_WM_UNIT_LAYERLEVEL" val="1"/>
  <p:tag name="KSO_WM_TAG_VERSION" val="3.0"/>
  <p:tag name="KSO_WM_UNIT_PIC_EFFECT" val="1"/>
</p:tagLst>
</file>

<file path=ppt/tags/tag5.xml><?xml version="1.0" encoding="utf-8"?>
<p:tagLst xmlns:p="http://schemas.openxmlformats.org/presentationml/2006/main">
  <p:tag name="KSO_WM_BEAUTIFY_FLAG" val="#wm#"/>
  <p:tag name="KSO_WM_UNIT_VALUE" val="1478*2185"/>
  <p:tag name="KSO_WM_UNIT_HIGHLIGHT" val="0"/>
  <p:tag name="KSO_WM_UNIT_COMPATIBLE" val="0"/>
  <p:tag name="KSO_WM_UNIT_DIAGRAM_ISNUMVISUAL" val="0"/>
  <p:tag name="KSO_WM_UNIT_DIAGRAM_ISREFERUNIT" val="0"/>
  <p:tag name="KSO_WM_UNIT_TYPE" val="d"/>
  <p:tag name="KSO_WM_UNIT_INDEX" val="1"/>
  <p:tag name="KSO_WM_UNIT_ID" val="custom20238569_1*d*1"/>
  <p:tag name="KSO_WM_TEMPLATE_CATEGORY" val="custom"/>
  <p:tag name="KSO_WM_TEMPLATE_INDEX" val="20238569"/>
  <p:tag name="KSO_WM_UNIT_LAYERLEVEL" val="1"/>
  <p:tag name="KSO_WM_TAG_VERSION" val="3.0"/>
  <p:tag name="KSO_WM_UNIT_PIC_EFFECT" val="1"/>
</p:tagLst>
</file>

<file path=ppt/tags/tag6.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7.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8.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9.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10.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11.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12.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13.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14.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15.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16.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17.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18.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19.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20.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21.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22.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23.xml><?xml version="1.0" encoding="utf-8"?>
<p:tagLst xmlns:p="http://schemas.openxmlformats.org/presentationml/2006/main">
  <p:tag name="KSO_WM_DIAGRAM_VIRTUALLY_FRAME" val="{&quot;height&quot;:331.7999212598425,&quot;left&quot;:467.90133858267717,&quot;top&quot;:102.57748031496062,&quot;width&quot;:468.2628346456692}"/>
</p:tagLst>
</file>

<file path=ppt/tags/tag24.xml><?xml version="1.0" encoding="utf-8"?>
<p:tagLst xmlns:p="http://schemas.openxmlformats.org/presentationml/2006/main">
  <p:tag name="PA" val="v5.2.9"/>
</p:tagLst>
</file>

<file path=ppt/tags/tag25.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26.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27.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28.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29.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30.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31.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32.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33.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34.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35.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36.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37.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38.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39.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40.xml><?xml version="1.0" encoding="utf-8"?>
<p:tagLst xmlns:p="http://schemas.openxmlformats.org/presentationml/2006/main">
  <p:tag name="KSO_WM_DIAGRAM_VIRTUALLY_FRAME" val="{&quot;height&quot;:79.4085826771653,&quot;left&quot;:99.36425196850394,&quot;top&quot;:250.27566929133863,&quot;width&quot;:812.8361417322834}"/>
</p:tagLst>
</file>

<file path=ppt/tags/tag41.xml><?xml version="1.0" encoding="utf-8"?>
<p:tagLst xmlns:p="http://schemas.openxmlformats.org/presentationml/2006/main">
  <p:tag name="PA" val="v5.2.9"/>
</p:tagLst>
</file>

<file path=ppt/tags/tag42.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43.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44.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45.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46.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47.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48.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49.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50.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51.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52.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53.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54.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55.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56.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57.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58.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59.xml><?xml version="1.0" encoding="utf-8"?>
<p:tagLst xmlns:p="http://schemas.openxmlformats.org/presentationml/2006/main">
  <p:tag name="PA" val="v5.2.9"/>
</p:tagLst>
</file>

<file path=ppt/tags/tag60.xml><?xml version="1.0" encoding="utf-8"?>
<p:tagLst xmlns:p="http://schemas.openxmlformats.org/presentationml/2006/main">
  <p:tag name="KSO_WM_DIAGRAM_VIRTUALLY_FRAME" val="{&quot;height&quot;:505.8062934741579,&quot;left&quot;:73.20763779527559,&quot;top&quot;:197.66409448818897,&quot;width&quot;:836.8388188976378}"/>
</p:tagLst>
</file>

<file path=ppt/tags/tag61.xml><?xml version="1.0" encoding="utf-8"?>
<p:tagLst xmlns:p="http://schemas.openxmlformats.org/presentationml/2006/main">
  <p:tag name="PA" val="v5.2.9"/>
</p:tagLst>
</file>

<file path=ppt/tags/tag62.xml><?xml version="1.0" encoding="utf-8"?>
<p:tagLst xmlns:p="http://schemas.openxmlformats.org/presentationml/2006/main">
  <p:tag name="PA" val="v5.2.9"/>
</p:tagLst>
</file>

<file path=ppt/tags/tag63.xml><?xml version="1.0" encoding="utf-8"?>
<p:tagLst xmlns:p="http://schemas.openxmlformats.org/presentationml/2006/main">
  <p:tag name="KSO_WM_DIAGRAM_VIRTUALLY_FRAME" val="{&quot;height&quot;:649.6441732283464,&quot;left&quot;:61.5,&quot;top&quot;:143.15,&quot;width&quot;:1751.15}"/>
</p:tagLst>
</file>

<file path=ppt/tags/tag64.xml><?xml version="1.0" encoding="utf-8"?>
<p:tagLst xmlns:p="http://schemas.openxmlformats.org/presentationml/2006/main">
  <p:tag name="PA" val="v5.2.9"/>
</p:tagLst>
</file>

<file path=ppt/tags/tag65.xml><?xml version="1.0" encoding="utf-8"?>
<p:tagLst xmlns:p="http://schemas.openxmlformats.org/presentationml/2006/main">
  <p:tag name="KSO_WM_DIAGRAM_VIRTUALLY_FRAME" val="{&quot;height&quot;:649.6441732283464,&quot;left&quot;:61.5,&quot;top&quot;:143.15,&quot;width&quot;:1751.15}"/>
</p:tagLst>
</file>

<file path=ppt/tags/tag66.xml><?xml version="1.0" encoding="utf-8"?>
<p:tagLst xmlns:p="http://schemas.openxmlformats.org/presentationml/2006/main">
  <p:tag name="KSO_WM_DIAGRAM_VIRTUALLY_FRAME" val="{&quot;height&quot;:649.6441732283464,&quot;left&quot;:61.5,&quot;top&quot;:143.15,&quot;width&quot;:1751.15}"/>
</p:tagLst>
</file>

<file path=ppt/tags/tag67.xml><?xml version="1.0" encoding="utf-8"?>
<p:tagLst xmlns:p="http://schemas.openxmlformats.org/presentationml/2006/main">
  <p:tag name="KSO_WM_DIAGRAM_VIRTUALLY_FRAME" val="{&quot;height&quot;:649.6441732283464,&quot;left&quot;:61.5,&quot;top&quot;:143.15,&quot;width&quot;:1751.15}"/>
</p:tagLst>
</file>

<file path=ppt/tags/tag68.xml><?xml version="1.0" encoding="utf-8"?>
<p:tagLst xmlns:p="http://schemas.openxmlformats.org/presentationml/2006/main">
  <p:tag name="KSO_WM_DIAGRAM_VIRTUALLY_FRAME" val="{&quot;height&quot;:649.6441732283464,&quot;left&quot;:61.5,&quot;top&quot;:143.15,&quot;width&quot;:1751.15}"/>
</p:tagLst>
</file>

<file path=ppt/tags/tag69.xml><?xml version="1.0" encoding="utf-8"?>
<p:tagLst xmlns:p="http://schemas.openxmlformats.org/presentationml/2006/main">
  <p:tag name="KSO_WM_DIAGRAM_VIRTUALLY_FRAME" val="{&quot;height&quot;:649.6441732283464,&quot;left&quot;:61.5,&quot;top&quot;:143.15,&quot;width&quot;:1751.15}"/>
</p:tagLst>
</file>

<file path=ppt/tags/tag70.xml><?xml version="1.0" encoding="utf-8"?>
<p:tagLst xmlns:p="http://schemas.openxmlformats.org/presentationml/2006/main">
  <p:tag name="KSO_WM_DIAGRAM_VIRTUALLY_FRAME" val="{&quot;height&quot;:649.6441732283464,&quot;left&quot;:61.5,&quot;top&quot;:143.15,&quot;width&quot;:1751.15}"/>
</p:tagLst>
</file>

<file path=ppt/tags/tag71.xml><?xml version="1.0" encoding="utf-8"?>
<p:tagLst xmlns:p="http://schemas.openxmlformats.org/presentationml/2006/main">
  <p:tag name="KSO_WM_DIAGRAM_VIRTUALLY_FRAME" val="{&quot;height&quot;:649.6441732283464,&quot;left&quot;:61.5,&quot;top&quot;:143.15,&quot;width&quot;:1751.15}"/>
</p:tagLst>
</file>

<file path=ppt/tags/tag72.xml><?xml version="1.0" encoding="utf-8"?>
<p:tagLst xmlns:p="http://schemas.openxmlformats.org/presentationml/2006/main">
  <p:tag name="KSO_WM_DIAGRAM_VIRTUALLY_FRAME" val="{&quot;height&quot;:649.6441732283464,&quot;left&quot;:61.5,&quot;top&quot;:143.15,&quot;width&quot;:1751.15}"/>
</p:tagLst>
</file>

<file path=ppt/tags/tag73.xml><?xml version="1.0" encoding="utf-8"?>
<p:tagLst xmlns:p="http://schemas.openxmlformats.org/presentationml/2006/main">
  <p:tag name="KSO_WM_DIAGRAM_VIRTUALLY_FRAME" val="{&quot;height&quot;:649.6441732283464,&quot;left&quot;:61.5,&quot;top&quot;:143.15,&quot;width&quot;:1751.15}"/>
</p:tagLst>
</file>

<file path=ppt/tags/tag74.xml><?xml version="1.0" encoding="utf-8"?>
<p:tagLst xmlns:p="http://schemas.openxmlformats.org/presentationml/2006/main">
  <p:tag name="KSO_WM_DIAGRAM_VIRTUALLY_FRAME" val="{&quot;height&quot;:649.6441732283464,&quot;left&quot;:61.5,&quot;top&quot;:143.15,&quot;width&quot;:1751.15}"/>
</p:tagLst>
</file>

<file path=ppt/tags/tag75.xml><?xml version="1.0" encoding="utf-8"?>
<p:tagLst xmlns:p="http://schemas.openxmlformats.org/presentationml/2006/main">
  <p:tag name="KSO_WM_DIAGRAM_VIRTUALLY_FRAME" val="{&quot;height&quot;:649.6441732283464,&quot;left&quot;:61.5,&quot;top&quot;:143.15,&quot;width&quot;:1751.15}"/>
</p:tagLst>
</file>

<file path=ppt/tags/tag76.xml><?xml version="1.0" encoding="utf-8"?>
<p:tagLst xmlns:p="http://schemas.openxmlformats.org/presentationml/2006/main">
  <p:tag name="KSO_WM_DIAGRAM_VIRTUALLY_FRAME" val="{&quot;height&quot;:649.6441732283464,&quot;left&quot;:61.5,&quot;top&quot;:143.15,&quot;width&quot;:1751.15}"/>
</p:tagLst>
</file>

<file path=ppt/tags/tag77.xml><?xml version="1.0" encoding="utf-8"?>
<p:tagLst xmlns:p="http://schemas.openxmlformats.org/presentationml/2006/main">
  <p:tag name="KSO_WM_DIAGRAM_VIRTUALLY_FRAME" val="{&quot;height&quot;:649.6441732283464,&quot;left&quot;:61.5,&quot;top&quot;:143.15,&quot;width&quot;:1751.15}"/>
</p:tagLst>
</file>

<file path=ppt/tags/tag78.xml><?xml version="1.0" encoding="utf-8"?>
<p:tagLst xmlns:p="http://schemas.openxmlformats.org/presentationml/2006/main">
  <p:tag name="KSO_WM_DIAGRAM_VIRTUALLY_FRAME" val="{&quot;height&quot;:649.6441732283464,&quot;left&quot;:61.5,&quot;top&quot;:143.15,&quot;width&quot;:1751.15}"/>
</p:tagLst>
</file>

<file path=ppt/tags/tag79.xml><?xml version="1.0" encoding="utf-8"?>
<p:tagLst xmlns:p="http://schemas.openxmlformats.org/presentationml/2006/main">
  <p:tag name="KSO_WM_DIAGRAM_VIRTUALLY_FRAME" val="{&quot;height&quot;:649.6441732283464,&quot;left&quot;:61.5,&quot;top&quot;:143.15,&quot;width&quot;:1751.15}"/>
</p:tagLst>
</file>

<file path=ppt/tags/tag80.xml><?xml version="1.0" encoding="utf-8"?>
<p:tagLst xmlns:p="http://schemas.openxmlformats.org/presentationml/2006/main">
  <p:tag name="KSO_WM_DIAGRAM_VIRTUALLY_FRAME" val="{&quot;height&quot;:649.6441732283464,&quot;left&quot;:61.5,&quot;top&quot;:143.15,&quot;width&quot;:1751.15}"/>
</p:tagLst>
</file>

<file path=ppt/tags/tag81.xml><?xml version="1.0" encoding="utf-8"?>
<p:tagLst xmlns:p="http://schemas.openxmlformats.org/presentationml/2006/main">
  <p:tag name="KSO_WM_DIAGRAM_VIRTUALLY_FRAME" val="{&quot;height&quot;:649.6441732283464,&quot;left&quot;:61.5,&quot;top&quot;:143.15,&quot;width&quot;:1751.15}"/>
</p:tagLst>
</file>

<file path=ppt/tags/tag82.xml><?xml version="1.0" encoding="utf-8"?>
<p:tagLst xmlns:p="http://schemas.openxmlformats.org/presentationml/2006/main">
  <p:tag name="KSO_WM_DIAGRAM_VIRTUALLY_FRAME" val="{&quot;height&quot;:649.6441732283464,&quot;left&quot;:61.5,&quot;top&quot;:143.15,&quot;width&quot;:1751.15}"/>
</p:tagLst>
</file>

<file path=ppt/tags/tag83.xml><?xml version="1.0" encoding="utf-8"?>
<p:tagLst xmlns:p="http://schemas.openxmlformats.org/presentationml/2006/main">
  <p:tag name="KSO_WM_DIAGRAM_VIRTUALLY_FRAME" val="{&quot;height&quot;:649.6441732283464,&quot;left&quot;:61.5,&quot;top&quot;:143.15,&quot;width&quot;:1751.15}"/>
</p:tagLst>
</file>

<file path=ppt/tags/tag84.xml><?xml version="1.0" encoding="utf-8"?>
<p:tagLst xmlns:p="http://schemas.openxmlformats.org/presentationml/2006/main">
  <p:tag name="KSO_WM_DIAGRAM_VIRTUALLY_FRAME" val="{&quot;height&quot;:649.6441732283464,&quot;left&quot;:61.5,&quot;top&quot;:143.15,&quot;width&quot;:1751.15}"/>
</p:tagLst>
</file>

<file path=ppt/tags/tag85.xml><?xml version="1.0" encoding="utf-8"?>
<p:tagLst xmlns:p="http://schemas.openxmlformats.org/presentationml/2006/main">
  <p:tag name="KSO_WM_DIAGRAM_VIRTUALLY_FRAME" val="{&quot;height&quot;:649.6441732283464,&quot;left&quot;:61.5,&quot;top&quot;:143.15,&quot;width&quot;:1751.15}"/>
</p:tagLst>
</file>

<file path=ppt/tags/tag86.xml><?xml version="1.0" encoding="utf-8"?>
<p:tagLst xmlns:p="http://schemas.openxmlformats.org/presentationml/2006/main">
  <p:tag name="KSO_WM_DIAGRAM_VIRTUALLY_FRAME" val="{&quot;height&quot;:649.6441732283464,&quot;left&quot;:61.5,&quot;top&quot;:143.15,&quot;width&quot;:1751.15}"/>
</p:tagLst>
</file>

<file path=ppt/tags/tag87.xml><?xml version="1.0" encoding="utf-8"?>
<p:tagLst xmlns:p="http://schemas.openxmlformats.org/presentationml/2006/main">
  <p:tag name="KSO_WM_DIAGRAM_VIRTUALLY_FRAME" val="{&quot;height&quot;:649.6441732283464,&quot;left&quot;:61.5,&quot;top&quot;:143.15,&quot;width&quot;:1751.15}"/>
</p:tagLst>
</file>

<file path=ppt/tags/tag88.xml><?xml version="1.0" encoding="utf-8"?>
<p:tagLst xmlns:p="http://schemas.openxmlformats.org/presentationml/2006/main">
  <p:tag name="KSO_WM_DIAGRAM_VIRTUALLY_FRAME" val="{&quot;height&quot;:649.6441732283464,&quot;left&quot;:61.5,&quot;top&quot;:143.15,&quot;width&quot;:1751.15}"/>
</p:tagLst>
</file>

<file path=ppt/tags/tag89.xml><?xml version="1.0" encoding="utf-8"?>
<p:tagLst xmlns:p="http://schemas.openxmlformats.org/presentationml/2006/main">
  <p:tag name="KSO_WM_DIAGRAM_VIRTUALLY_FRAME" val="{&quot;height&quot;:649.6441732283464,&quot;left&quot;:61.5,&quot;top&quot;:143.15,&quot;width&quot;:1751.15}"/>
</p:tagLst>
</file>

<file path=ppt/tags/tag90.xml><?xml version="1.0" encoding="utf-8"?>
<p:tagLst xmlns:p="http://schemas.openxmlformats.org/presentationml/2006/main">
  <p:tag name="KSO_WM_DIAGRAM_VIRTUALLY_FRAME" val="{&quot;height&quot;:377.33771653543306,&quot;left&quot;:32.6884251968504,&quot;top&quot;:135.3,&quot;width&quot;:879.9968503937007}"/>
</p:tagLst>
</file>

<file path=ppt/tags/tag91.xml><?xml version="1.0" encoding="utf-8"?>
<p:tagLst xmlns:p="http://schemas.openxmlformats.org/presentationml/2006/main">
  <p:tag name="KSO_WM_DIAGRAM_VIRTUALLY_FRAME" val="{&quot;height&quot;:377.33771653543306,&quot;left&quot;:32.6884251968504,&quot;top&quot;:135.3,&quot;width&quot;:879.9968503937007}"/>
</p:tagLst>
</file>

<file path=ppt/tags/tag92.xml><?xml version="1.0" encoding="utf-8"?>
<p:tagLst xmlns:p="http://schemas.openxmlformats.org/presentationml/2006/main">
  <p:tag name="KSO_WM_DIAGRAM_VIRTUALLY_FRAME" val="{&quot;height&quot;:377.33771653543306,&quot;left&quot;:32.6884251968504,&quot;top&quot;:135.3,&quot;width&quot;:879.9968503937007}"/>
</p:tagLst>
</file>

<file path=ppt/tags/tag93.xml><?xml version="1.0" encoding="utf-8"?>
<p:tagLst xmlns:p="http://schemas.openxmlformats.org/presentationml/2006/main">
  <p:tag name="KSO_WM_DIAGRAM_VIRTUALLY_FRAME" val="{&quot;height&quot;:377.33771653543306,&quot;left&quot;:32.6884251968504,&quot;top&quot;:135.3,&quot;width&quot;:879.9968503937007}"/>
</p:tagLst>
</file>

<file path=ppt/tags/tag94.xml><?xml version="1.0" encoding="utf-8"?>
<p:tagLst xmlns:p="http://schemas.openxmlformats.org/presentationml/2006/main">
  <p:tag name="KSO_WM_DIAGRAM_VIRTUALLY_FRAME" val="{&quot;height&quot;:377.33771653543306,&quot;left&quot;:32.6884251968504,&quot;top&quot;:135.3,&quot;width&quot;:879.9968503937007}"/>
</p:tagLst>
</file>

<file path=ppt/tags/tag95.xml><?xml version="1.0" encoding="utf-8"?>
<p:tagLst xmlns:p="http://schemas.openxmlformats.org/presentationml/2006/main">
  <p:tag name="KSO_WM_DIAGRAM_VIRTUALLY_FRAME" val="{&quot;height&quot;:377.33771653543306,&quot;left&quot;:32.6884251968504,&quot;top&quot;:135.3,&quot;width&quot;:879.9968503937007}"/>
</p:tagLst>
</file>

<file path=ppt/tags/tag96.xml><?xml version="1.0" encoding="utf-8"?>
<p:tagLst xmlns:p="http://schemas.openxmlformats.org/presentationml/2006/main">
  <p:tag name="PA" val="v5.2.9"/>
</p:tagLst>
</file>

<file path=ppt/tags/tag97.xml><?xml version="1.0" encoding="utf-8"?>
<p:tagLst xmlns:p="http://schemas.openxmlformats.org/presentationml/2006/main">
  <p:tag name="KSO_WM_DIAGRAM_VIRTUALLY_FRAME" val="{&quot;height&quot;:377.33771653543306,&quot;left&quot;:32.6884251968504,&quot;top&quot;:135.3,&quot;width&quot;:879.9968503937007}"/>
</p:tagLst>
</file>

<file path=ppt/tags/tag98.xml><?xml version="1.0" encoding="utf-8"?>
<p:tagLst xmlns:p="http://schemas.openxmlformats.org/presentationml/2006/main">
  <p:tag name="PA" val="v5.2.9"/>
</p:tagLst>
</file>

<file path=ppt/tags/tag99.xml><?xml version="1.0" encoding="utf-8"?>
<p:tagLst xmlns:p="http://schemas.openxmlformats.org/presentationml/2006/main">
  <p:tag name="KSO_WM_UNIT_PLACING_PICTURE_USER_VIEWPORT" val="{&quot;height&quot;:638.7811023622047,&quot;width&quot;:3522.3055118110237}"/>
  <p:tag name="KSO_WM_DIAGRAM_VIRTUALLY_FRAME" val="{&quot;height&quot;:343.8672440944882,&quot;left&quot;:401.8212598425197,&quot;top&quot;:147.4032283464567,&quot;width&quot;:474.0336220472442}"/>
</p:tagLst>
</file>

<file path=ppt/tags/tag100.xml><?xml version="1.0" encoding="utf-8"?>
<p:tagLst xmlns:p="http://schemas.openxmlformats.org/presentationml/2006/main">
  <p:tag name="KSO_WM_DIAGRAM_VIRTUALLY_FRAME" val="{&quot;height&quot;:343.8672440944882,&quot;left&quot;:401.8212598425197,&quot;top&quot;:147.4032283464567,&quot;width&quot;:474.0336220472442}"/>
</p:tagLst>
</file>

<file path=ppt/tags/tag101.xml><?xml version="1.0" encoding="utf-8"?>
<p:tagLst xmlns:p="http://schemas.openxmlformats.org/presentationml/2006/main">
  <p:tag name="KSO_WM_DIAGRAM_VIRTUALLY_FRAME" val="{&quot;height&quot;:343.8672440944882,&quot;left&quot;:401.8212598425197,&quot;top&quot;:147.4032283464567,&quot;width&quot;:474.0336220472442}"/>
</p:tagLst>
</file>

<file path=ppt/tags/tag102.xml><?xml version="1.0" encoding="utf-8"?>
<p:tagLst xmlns:p="http://schemas.openxmlformats.org/presentationml/2006/main">
  <p:tag name="KSO_WM_DIAGRAM_VIRTUALLY_FRAME" val="{&quot;height&quot;:343.8672440944882,&quot;left&quot;:401.8212598425197,&quot;top&quot;:147.4032283464567,&quot;width&quot;:474.0336220472442}"/>
</p:tagLst>
</file>

<file path=ppt/tags/tag103.xml><?xml version="1.0" encoding="utf-8"?>
<p:tagLst xmlns:p="http://schemas.openxmlformats.org/presentationml/2006/main">
  <p:tag name="KSO_WM_DIAGRAM_VIRTUALLY_FRAME" val="{&quot;height&quot;:343.8672440944882,&quot;left&quot;:401.8212598425197,&quot;top&quot;:147.4032283464567,&quot;width&quot;:474.0336220472442}"/>
</p:tagLst>
</file>

<file path=ppt/tags/tag104.xml><?xml version="1.0" encoding="utf-8"?>
<p:tagLst xmlns:p="http://schemas.openxmlformats.org/presentationml/2006/main">
  <p:tag name="KSO_WM_DIAGRAM_VIRTUALLY_FRAME" val="{&quot;height&quot;:343.8672440944882,&quot;left&quot;:401.8212598425197,&quot;top&quot;:147.4032283464567,&quot;width&quot;:474.0336220472442}"/>
</p:tagLst>
</file>

<file path=ppt/tags/tag105.xml><?xml version="1.0" encoding="utf-8"?>
<p:tagLst xmlns:p="http://schemas.openxmlformats.org/presentationml/2006/main">
  <p:tag name="KSO_WM_DIAGRAM_VIRTUALLY_FRAME" val="{&quot;height&quot;:343.8672440944882,&quot;left&quot;:401.8212598425197,&quot;top&quot;:147.4032283464567,&quot;width&quot;:474.0336220472442}"/>
</p:tagLst>
</file>

<file path=ppt/tags/tag106.xml><?xml version="1.0" encoding="utf-8"?>
<p:tagLst xmlns:p="http://schemas.openxmlformats.org/presentationml/2006/main">
  <p:tag name="KSO_WM_DIAGRAM_VIRTUALLY_FRAME" val="{&quot;height&quot;:343.8672440944882,&quot;left&quot;:401.8212598425197,&quot;top&quot;:147.4032283464567,&quot;width&quot;:474.0336220472442}"/>
</p:tagLst>
</file>

<file path=ppt/tags/tag107.xml><?xml version="1.0" encoding="utf-8"?>
<p:tagLst xmlns:p="http://schemas.openxmlformats.org/presentationml/2006/main">
  <p:tag name="KSO_WM_DIAGRAM_VIRTUALLY_FRAME" val="{&quot;height&quot;:343.8672440944882,&quot;left&quot;:401.8212598425197,&quot;top&quot;:147.4032283464567,&quot;width&quot;:474.0336220472442}"/>
</p:tagLst>
</file>

<file path=ppt/tags/tag108.xml><?xml version="1.0" encoding="utf-8"?>
<p:tagLst xmlns:p="http://schemas.openxmlformats.org/presentationml/2006/main">
  <p:tag name="KSO_WM_DIAGRAM_VIRTUALLY_FRAME" val="{&quot;height&quot;:343.8672440944882,&quot;left&quot;:401.8212598425197,&quot;top&quot;:147.4032283464567,&quot;width&quot;:474.0336220472442}"/>
</p:tagLst>
</file>

<file path=ppt/tags/tag109.xml><?xml version="1.0" encoding="utf-8"?>
<p:tagLst xmlns:p="http://schemas.openxmlformats.org/presentationml/2006/main">
  <p:tag name="KSO_WM_DIAGRAM_VIRTUALLY_FRAME" val="{&quot;height&quot;:343.8672440944882,&quot;left&quot;:401.8212598425197,&quot;top&quot;:147.4032283464567,&quot;width&quot;:474.0336220472442}"/>
</p:tagLst>
</file>

<file path=ppt/tags/tag110.xml><?xml version="1.0" encoding="utf-8"?>
<p:tagLst xmlns:p="http://schemas.openxmlformats.org/presentationml/2006/main">
  <p:tag name="KSO_WM_DIAGRAM_VIRTUALLY_FRAME" val="{&quot;height&quot;:343.8672440944882,&quot;left&quot;:401.8212598425197,&quot;top&quot;:147.4032283464567,&quot;width&quot;:474.0336220472442}"/>
</p:tagLst>
</file>

<file path=ppt/tags/tag111.xml><?xml version="1.0" encoding="utf-8"?>
<p:tagLst xmlns:p="http://schemas.openxmlformats.org/presentationml/2006/main">
  <p:tag name="KSO_WM_DIAGRAM_VIRTUALLY_FRAME" val="{&quot;height&quot;:343.8672440944882,&quot;left&quot;:401.8212598425197,&quot;top&quot;:147.4032283464567,&quot;width&quot;:474.0336220472442}"/>
</p:tagLst>
</file>

<file path=ppt/tags/tag112.xml><?xml version="1.0" encoding="utf-8"?>
<p:tagLst xmlns:p="http://schemas.openxmlformats.org/presentationml/2006/main">
  <p:tag name="PA" val="v5.2.9"/>
</p:tagLst>
</file>

<file path=ppt/tags/tag113.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14.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15.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16.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17.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18.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19.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20.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21.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22.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23.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24.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25.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26.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27.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28.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29.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30.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31.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32.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33.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34.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35.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36.xml><?xml version="1.0" encoding="utf-8"?>
<p:tagLst xmlns:p="http://schemas.openxmlformats.org/presentationml/2006/main">
  <p:tag name="KSO_WM_DIAGRAM_VIRTUALLY_FRAME" val="{&quot;height&quot;:354.65937007874015,&quot;left&quot;:459.4624409448819,&quot;top&quot;:139.7588976377953,&quot;width&quot;:409.7690551181102}"/>
</p:tagLst>
</file>

<file path=ppt/tags/tag137.xml><?xml version="1.0" encoding="utf-8"?>
<p:tagLst xmlns:p="http://schemas.openxmlformats.org/presentationml/2006/main">
  <p:tag name="PA" val="v5.2.9"/>
</p:tagLst>
</file>

<file path=ppt/tags/tag138.xml><?xml version="1.0" encoding="utf-8"?>
<p:tagLst xmlns:p="http://schemas.openxmlformats.org/presentationml/2006/main">
  <p:tag name="ISLIDE.ICON" val="#404693;#49693;#134680;#164850;"/>
</p:tagLst>
</file>

<file path=ppt/tags/tag139.xml><?xml version="1.0" encoding="utf-8"?>
<p:tagLst xmlns:p="http://schemas.openxmlformats.org/presentationml/2006/main">
  <p:tag name="PA" val="v5.2.9"/>
</p:tagLst>
</file>

<file path=ppt/tags/tag140.xml><?xml version="1.0" encoding="utf-8"?>
<p:tagLst xmlns:p="http://schemas.openxmlformats.org/presentationml/2006/main">
  <p:tag name="KSO_WM_DIAGRAM_VIRTUALLY_FRAME" val="{&quot;height&quot;:329.07661417322834,&quot;left&quot;:437.64,&quot;top&quot;:119.82354330708657,&quot;width&quot;:429.35}"/>
</p:tagLst>
</file>

<file path=ppt/tags/tag141.xml><?xml version="1.0" encoding="utf-8"?>
<p:tagLst xmlns:p="http://schemas.openxmlformats.org/presentationml/2006/main">
  <p:tag name="KSO_WM_DIAGRAM_VIRTUALLY_FRAME" val="{&quot;height&quot;:329.07661417322834,&quot;left&quot;:437.64,&quot;top&quot;:119.82354330708657,&quot;width&quot;:429.35}"/>
</p:tagLst>
</file>

<file path=ppt/tags/tag142.xml><?xml version="1.0" encoding="utf-8"?>
<p:tagLst xmlns:p="http://schemas.openxmlformats.org/presentationml/2006/main">
  <p:tag name="KSO_WM_DIAGRAM_VIRTUALLY_FRAME" val="{&quot;height&quot;:329.07661417322834,&quot;left&quot;:437.64,&quot;top&quot;:119.82354330708657,&quot;width&quot;:429.35}"/>
</p:tagLst>
</file>

<file path=ppt/tags/tag143.xml><?xml version="1.0" encoding="utf-8"?>
<p:tagLst xmlns:p="http://schemas.openxmlformats.org/presentationml/2006/main">
  <p:tag name="KSO_WM_DIAGRAM_VIRTUALLY_FRAME" val="{&quot;height&quot;:329.07661417322834,&quot;left&quot;:437.64,&quot;top&quot;:119.82354330708657,&quot;width&quot;:429.35}"/>
</p:tagLst>
</file>

<file path=ppt/tags/tag144.xml><?xml version="1.0" encoding="utf-8"?>
<p:tagLst xmlns:p="http://schemas.openxmlformats.org/presentationml/2006/main">
  <p:tag name="PA" val="v5.2.9"/>
</p:tagLst>
</file>

<file path=ppt/tags/tag145.xml><?xml version="1.0" encoding="utf-8"?>
<p:tagLst xmlns:p="http://schemas.openxmlformats.org/presentationml/2006/main">
  <p:tag name="KSO_WM_DIAGRAM_VIRTUALLY_FRAME" val="{&quot;height&quot;:329.07661417322834,&quot;left&quot;:437.64,&quot;top&quot;:119.82354330708657,&quot;width&quot;:429.35}"/>
</p:tagLst>
</file>

<file path=ppt/tags/tag146.xml><?xml version="1.0" encoding="utf-8"?>
<p:tagLst xmlns:p="http://schemas.openxmlformats.org/presentationml/2006/main">
  <p:tag name="KSO_WM_DIAGRAM_VIRTUALLY_FRAME" val="{&quot;height&quot;:329.07661417322834,&quot;left&quot;:437.64,&quot;top&quot;:119.82354330708657,&quot;width&quot;:429.35}"/>
</p:tagLst>
</file>

<file path=ppt/tags/tag147.xml><?xml version="1.0" encoding="utf-8"?>
<p:tagLst xmlns:p="http://schemas.openxmlformats.org/presentationml/2006/main">
  <p:tag name="KSO_WM_DIAGRAM_VIRTUALLY_FRAME" val="{&quot;height&quot;:329.07661417322834,&quot;left&quot;:437.64,&quot;top&quot;:119.82354330708657,&quot;width&quot;:429.35}"/>
</p:tagLst>
</file>

<file path=ppt/tags/tag148.xml><?xml version="1.0" encoding="utf-8"?>
<p:tagLst xmlns:p="http://schemas.openxmlformats.org/presentationml/2006/main">
  <p:tag name="KSO_WM_DIAGRAM_VIRTUALLY_FRAME" val="{&quot;height&quot;:329.07661417322834,&quot;left&quot;:437.64,&quot;top&quot;:119.82354330708657,&quot;width&quot;:429.35}"/>
</p:tagLst>
</file>

<file path=ppt/tags/tag149.xml><?xml version="1.0" encoding="utf-8"?>
<p:tagLst xmlns:p="http://schemas.openxmlformats.org/presentationml/2006/main">
  <p:tag name="PA" val="v5.2.9"/>
</p:tagLst>
</file>

<file path=ppt/tags/tag150.xml><?xml version="1.0" encoding="utf-8"?>
<p:tagLst xmlns:p="http://schemas.openxmlformats.org/presentationml/2006/main">
  <p:tag name="KSO_WM_DIAGRAM_VIRTUALLY_FRAME" val="{&quot;height&quot;:314.0554330708661,&quot;left&quot;:459.85,&quot;top&quot;:156.00692913385825,&quot;width&quot;:466.1704724409448}"/>
</p:tagLst>
</file>

<file path=ppt/tags/tag151.xml><?xml version="1.0" encoding="utf-8"?>
<p:tagLst xmlns:p="http://schemas.openxmlformats.org/presentationml/2006/main">
  <p:tag name="KSO_WM_DIAGRAM_VIRTUALLY_FRAME" val="{&quot;height&quot;:314.0554330708661,&quot;left&quot;:459.85,&quot;top&quot;:156.00692913385825,&quot;width&quot;:466.1704724409448}"/>
</p:tagLst>
</file>

<file path=ppt/tags/tag152.xml><?xml version="1.0" encoding="utf-8"?>
<p:tagLst xmlns:p="http://schemas.openxmlformats.org/presentationml/2006/main">
  <p:tag name="KSO_WM_DIAGRAM_VIRTUALLY_FRAME" val="{&quot;height&quot;:314.0554330708661,&quot;left&quot;:459.85,&quot;top&quot;:156.00692913385825,&quot;width&quot;:466.1704724409448}"/>
</p:tagLst>
</file>

<file path=ppt/tags/tag153.xml><?xml version="1.0" encoding="utf-8"?>
<p:tagLst xmlns:p="http://schemas.openxmlformats.org/presentationml/2006/main">
  <p:tag name="KSO_WM_DIAGRAM_VIRTUALLY_FRAME" val="{&quot;height&quot;:314.0554330708661,&quot;left&quot;:459.85,&quot;top&quot;:156.00692913385825,&quot;width&quot;:466.1704724409448}"/>
</p:tagLst>
</file>

<file path=ppt/tags/tag154.xml><?xml version="1.0" encoding="utf-8"?>
<p:tagLst xmlns:p="http://schemas.openxmlformats.org/presentationml/2006/main">
  <p:tag name="KSO_WM_DIAGRAM_VIRTUALLY_FRAME" val="{&quot;height&quot;:314.0554330708661,&quot;left&quot;:459.85,&quot;top&quot;:156.00692913385825,&quot;width&quot;:466.1704724409448}"/>
</p:tagLst>
</file>

<file path=ppt/tags/tag155.xml><?xml version="1.0" encoding="utf-8"?>
<p:tagLst xmlns:p="http://schemas.openxmlformats.org/presentationml/2006/main">
  <p:tag name="KSO_WM_DIAGRAM_VIRTUALLY_FRAME" val="{&quot;height&quot;:314.0554330708661,&quot;left&quot;:459.85,&quot;top&quot;:156.00692913385825,&quot;width&quot;:466.1704724409448}"/>
</p:tagLst>
</file>

<file path=ppt/tags/tag156.xml><?xml version="1.0" encoding="utf-8"?>
<p:tagLst xmlns:p="http://schemas.openxmlformats.org/presentationml/2006/main">
  <p:tag name="KSO_WM_DIAGRAM_VIRTUALLY_FRAME" val="{&quot;height&quot;:314.0554330708661,&quot;left&quot;:459.85,&quot;top&quot;:156.00692913385825,&quot;width&quot;:466.1704724409448}"/>
</p:tagLst>
</file>

<file path=ppt/tags/tag157.xml><?xml version="1.0" encoding="utf-8"?>
<p:tagLst xmlns:p="http://schemas.openxmlformats.org/presentationml/2006/main">
  <p:tag name="KSO_WM_DIAGRAM_VIRTUALLY_FRAME" val="{&quot;height&quot;:314.0554330708661,&quot;left&quot;:459.85,&quot;top&quot;:156.00692913385825,&quot;width&quot;:466.1704724409448}"/>
</p:tagLst>
</file>

<file path=ppt/tags/tag158.xml><?xml version="1.0" encoding="utf-8"?>
<p:tagLst xmlns:p="http://schemas.openxmlformats.org/presentationml/2006/main">
  <p:tag name="PA" val="v5.2.9"/>
</p:tagLst>
</file>

<file path=ppt/tags/tag159.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60.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61.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62.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63.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64.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65.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66.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67.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68.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69.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70.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71.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72.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73.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74.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75.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76.xml><?xml version="1.0" encoding="utf-8"?>
<p:tagLst xmlns:p="http://schemas.openxmlformats.org/presentationml/2006/main">
  <p:tag name="KSO_WM_DIAGRAM_VIRTUALLY_FRAME" val="{&quot;height&quot;:344.50354330708655,&quot;left&quot;:62.097007874015745,&quot;top&quot;:160.8495275590551,&quot;width&quot;:817.8088597209709}"/>
</p:tagLst>
</file>

<file path=ppt/tags/tag177.xml><?xml version="1.0" encoding="utf-8"?>
<p:tagLst xmlns:p="http://schemas.openxmlformats.org/presentationml/2006/main">
  <p:tag name="PA" val="v5.2.9"/>
</p:tagLst>
</file>

<file path=ppt/tags/tag178.xml><?xml version="1.0" encoding="utf-8"?>
<p:tagLst xmlns:p="http://schemas.openxmlformats.org/presentationml/2006/main">
  <p:tag name="KSO_WM_DIAGRAM_VIRTUALLY_FRAME" val="{&quot;height&quot;:290.07992125984254,&quot;left&quot;:65.14259842519685,&quot;top&quot;:176.47070866141732,&quot;width&quot;:825.3194488188977}"/>
</p:tagLst>
</file>

<file path=ppt/tags/tag179.xml><?xml version="1.0" encoding="utf-8"?>
<p:tagLst xmlns:p="http://schemas.openxmlformats.org/presentationml/2006/main">
  <p:tag name="KSO_WM_DIAGRAM_VIRTUALLY_FRAME" val="{&quot;height&quot;:290.07992125984254,&quot;left&quot;:65.14259842519685,&quot;top&quot;:176.47070866141732,&quot;width&quot;:825.3194488188977}"/>
</p:tagLst>
</file>

<file path=ppt/tags/tag180.xml><?xml version="1.0" encoding="utf-8"?>
<p:tagLst xmlns:p="http://schemas.openxmlformats.org/presentationml/2006/main">
  <p:tag name="KSO_WM_DIAGRAM_VIRTUALLY_FRAME" val="{&quot;height&quot;:290.07992125984254,&quot;left&quot;:65.14259842519685,&quot;top&quot;:176.47070866141732,&quot;width&quot;:825.3194488188977}"/>
</p:tagLst>
</file>

<file path=ppt/tags/tag181.xml><?xml version="1.0" encoding="utf-8"?>
<p:tagLst xmlns:p="http://schemas.openxmlformats.org/presentationml/2006/main">
  <p:tag name="KSO_WM_DIAGRAM_VIRTUALLY_FRAME" val="{&quot;height&quot;:290.07992125984254,&quot;left&quot;:65.14259842519685,&quot;top&quot;:176.47070866141732,&quot;width&quot;:825.3194488188977}"/>
</p:tagLst>
</file>

<file path=ppt/tags/tag182.xml><?xml version="1.0" encoding="utf-8"?>
<p:tagLst xmlns:p="http://schemas.openxmlformats.org/presentationml/2006/main">
  <p:tag name="PA" val="v5.2.9"/>
</p:tagLst>
</file>

<file path=ppt/tags/tag183.xml><?xml version="1.0" encoding="utf-8"?>
<p:tagLst xmlns:p="http://schemas.openxmlformats.org/presentationml/2006/main">
  <p:tag name="KSO_WM_DIAGRAM_VIRTUALLY_FRAME" val="{&quot;height&quot;:290.07992125984254,&quot;left&quot;:65.14259842519685,&quot;top&quot;:176.47070866141732,&quot;width&quot;:825.3194488188977}"/>
</p:tagLst>
</file>

<file path=ppt/tags/tag184.xml><?xml version="1.0" encoding="utf-8"?>
<p:tagLst xmlns:p="http://schemas.openxmlformats.org/presentationml/2006/main">
  <p:tag name="KSO_WM_DIAGRAM_VIRTUALLY_FRAME" val="{&quot;height&quot;:290.07992125984254,&quot;left&quot;:65.14259842519685,&quot;top&quot;:176.47070866141732,&quot;width&quot;:825.3194488188977}"/>
</p:tagLst>
</file>

<file path=ppt/tags/tag185.xml><?xml version="1.0" encoding="utf-8"?>
<p:tagLst xmlns:p="http://schemas.openxmlformats.org/presentationml/2006/main">
  <p:tag name="KSO_WM_DIAGRAM_VIRTUALLY_FRAME" val="{&quot;height&quot;:290.07992125984254,&quot;left&quot;:65.14259842519685,&quot;top&quot;:176.47070866141732,&quot;width&quot;:825.3194488188977}"/>
</p:tagLst>
</file>

<file path=ppt/tags/tag186.xml><?xml version="1.0" encoding="utf-8"?>
<p:tagLst xmlns:p="http://schemas.openxmlformats.org/presentationml/2006/main">
  <p:tag name="KSO_WM_DIAGRAM_VIRTUALLY_FRAME" val="{&quot;height&quot;:290.07992125984254,&quot;left&quot;:65.14259842519685,&quot;top&quot;:176.47070866141732,&quot;width&quot;:825.3194488188977}"/>
</p:tagLst>
</file>

<file path=ppt/tags/tag187.xml><?xml version="1.0" encoding="utf-8"?>
<p:tagLst xmlns:p="http://schemas.openxmlformats.org/presentationml/2006/main">
  <p:tag name="KSO_WM_DIAGRAM_VIRTUALLY_FRAME" val="{&quot;height&quot;:290.07992125984254,&quot;left&quot;:65.14259842519685,&quot;top&quot;:176.47070866141732,&quot;width&quot;:825.3194488188977}"/>
</p:tagLst>
</file>

<file path=ppt/tags/tag188.xml><?xml version="1.0" encoding="utf-8"?>
<p:tagLst xmlns:p="http://schemas.openxmlformats.org/presentationml/2006/main">
  <p:tag name="KSO_WM_DIAGRAM_VIRTUALLY_FRAME" val="{&quot;height&quot;:290.07992125984254,&quot;left&quot;:65.14259842519685,&quot;top&quot;:176.47070866141732,&quot;width&quot;:825.3194488188977}"/>
</p:tagLst>
</file>

<file path=ppt/tags/tag189.xml><?xml version="1.0" encoding="utf-8"?>
<p:tagLst xmlns:p="http://schemas.openxmlformats.org/presentationml/2006/main">
  <p:tag name="KSO_WM_DIAGRAM_VIRTUALLY_FRAME" val="{&quot;height&quot;:290.07992125984254,&quot;left&quot;:65.14259842519685,&quot;top&quot;:176.47070866141732,&quot;width&quot;:825.3194488188977}"/>
</p:tagLst>
</file>

<file path=ppt/tags/tag190.xml><?xml version="1.0" encoding="utf-8"?>
<p:tagLst xmlns:p="http://schemas.openxmlformats.org/presentationml/2006/main">
  <p:tag name="KSO_WM_DIAGRAM_VIRTUALLY_FRAME" val="{&quot;height&quot;:290.07992125984254,&quot;left&quot;:65.14259842519685,&quot;top&quot;:176.47070866141732,&quot;width&quot;:825.3194488188977}"/>
</p:tagLst>
</file>

<file path=ppt/tags/tag191.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192.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193.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194.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195.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196.xml><?xml version="1.0" encoding="utf-8"?>
<p:tagLst xmlns:p="http://schemas.openxmlformats.org/presentationml/2006/main">
  <p:tag name="KSO_WM_DIAGRAM_VIRTUALLY_FRAME" val="{&quot;height&quot;:347.7128346456693,&quot;left&quot;:91.07173228346457,&quot;top&quot;:148.2748031496063,&quot;width&quot;:788.4574015748033}"/>
</p:tagLst>
</file>

<file path=ppt/tags/tag197.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198.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199.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200.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201.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202.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203.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204.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205.xml><?xml version="1.0" encoding="utf-8"?>
<p:tagLst xmlns:p="http://schemas.openxmlformats.org/presentationml/2006/main">
  <p:tag name="KSO_WM_DIAGRAM_VIRTUALLY_FRAME" val="{&quot;height&quot;:357.06283464566934,&quot;left&quot;:91.07173228346457,&quot;top&quot;:148.2748031496063,&quot;width&quot;:788.4574015748033}"/>
</p:tagLst>
</file>

<file path=ppt/tags/tag206.xml><?xml version="1.0" encoding="utf-8"?>
<p:tagLst xmlns:p="http://schemas.openxmlformats.org/presentationml/2006/main">
  <p:tag name="PA" val="v5.2.9"/>
</p:tagLst>
</file>

<file path=ppt/tags/tag207.xml><?xml version="1.0" encoding="utf-8"?>
<p:tagLst xmlns:p="http://schemas.openxmlformats.org/presentationml/2006/main">
  <p:tag name="KSO_WM_DIAGRAM_VIRTUALLY_FRAME" val="{&quot;height&quot;:283.0331496062992,&quot;left&quot;:69.78393700787402,&quot;top&quot;:115.05590551181103,&quot;width&quot;:820.86}"/>
</p:tagLst>
</file>

<file path=ppt/tags/tag208.xml><?xml version="1.0" encoding="utf-8"?>
<p:tagLst xmlns:p="http://schemas.openxmlformats.org/presentationml/2006/main">
  <p:tag name="KSO_WM_DIAGRAM_VIRTUALLY_FRAME" val="{&quot;height&quot;:283.0331496062992,&quot;left&quot;:69.78393700787402,&quot;top&quot;:115.05590551181103,&quot;width&quot;:820.86}"/>
</p:tagLst>
</file>

<file path=ppt/tags/tag209.xml><?xml version="1.0" encoding="utf-8"?>
<p:tagLst xmlns:p="http://schemas.openxmlformats.org/presentationml/2006/main">
  <p:tag name="KSO_WM_DIAGRAM_VIRTUALLY_FRAME" val="{&quot;height&quot;:283.0331496062992,&quot;left&quot;:69.78393700787402,&quot;top&quot;:115.05590551181103,&quot;width&quot;:820.86}"/>
</p:tagLst>
</file>

<file path=ppt/tags/tag210.xml><?xml version="1.0" encoding="utf-8"?>
<p:tagLst xmlns:p="http://schemas.openxmlformats.org/presentationml/2006/main">
  <p:tag name="KSO_WM_DIAGRAM_VIRTUALLY_FRAME" val="{&quot;height&quot;:283.0331496062992,&quot;left&quot;:69.78393700787402,&quot;top&quot;:115.05590551181103,&quot;width&quot;:820.86}"/>
</p:tagLst>
</file>

<file path=ppt/tags/tag211.xml><?xml version="1.0" encoding="utf-8"?>
<p:tagLst xmlns:p="http://schemas.openxmlformats.org/presentationml/2006/main">
  <p:tag name="KSO_WM_DIAGRAM_VIRTUALLY_FRAME" val="{&quot;height&quot;:283.0331496062992,&quot;left&quot;:69.78393700787402,&quot;top&quot;:115.05590551181103,&quot;width&quot;:820.86}"/>
</p:tagLst>
</file>

<file path=ppt/tags/tag212.xml><?xml version="1.0" encoding="utf-8"?>
<p:tagLst xmlns:p="http://schemas.openxmlformats.org/presentationml/2006/main">
  <p:tag name="KSO_WM_DIAGRAM_VIRTUALLY_FRAME" val="{&quot;height&quot;:283.0331496062992,&quot;left&quot;:69.78393700787402,&quot;top&quot;:115.05590551181103,&quot;width&quot;:820.86}"/>
</p:tagLst>
</file>

<file path=ppt/tags/tag213.xml><?xml version="1.0" encoding="utf-8"?>
<p:tagLst xmlns:p="http://schemas.openxmlformats.org/presentationml/2006/main">
  <p:tag name="KSO_WM_DIAGRAM_VIRTUALLY_FRAME" val="{&quot;height&quot;:283.0331496062992,&quot;left&quot;:69.78393700787402,&quot;top&quot;:115.05590551181103,&quot;width&quot;:820.86}"/>
</p:tagLst>
</file>

<file path=ppt/tags/tag214.xml><?xml version="1.0" encoding="utf-8"?>
<p:tagLst xmlns:p="http://schemas.openxmlformats.org/presentationml/2006/main">
  <p:tag name="KSO_WM_DIAGRAM_VIRTUALLY_FRAME" val="{&quot;height&quot;:283.0331496062992,&quot;left&quot;:69.78393700787402,&quot;top&quot;:115.05590551181103,&quot;width&quot;:820.86}"/>
</p:tagLst>
</file>

<file path=ppt/tags/tag215.xml><?xml version="1.0" encoding="utf-8"?>
<p:tagLst xmlns:p="http://schemas.openxmlformats.org/presentationml/2006/main">
  <p:tag name="KSO_WM_DIAGRAM_VIRTUALLY_FRAME" val="{&quot;height&quot;:283.0331496062992,&quot;left&quot;:69.78393700787402,&quot;top&quot;:115.05590551181103,&quot;width&quot;:820.86}"/>
</p:tagLst>
</file>

<file path=ppt/tags/tag216.xml><?xml version="1.0" encoding="utf-8"?>
<p:tagLst xmlns:p="http://schemas.openxmlformats.org/presentationml/2006/main">
  <p:tag name="KSO_WM_DIAGRAM_VIRTUALLY_FRAME" val="{&quot;height&quot;:283.0331496062992,&quot;left&quot;:69.78393700787402,&quot;top&quot;:115.05590551181103,&quot;width&quot;:820.86}"/>
</p:tagLst>
</file>

<file path=ppt/tags/tag217.xml><?xml version="1.0" encoding="utf-8"?>
<p:tagLst xmlns:p="http://schemas.openxmlformats.org/presentationml/2006/main">
  <p:tag name="KSO_WM_DIAGRAM_VIRTUALLY_FRAME" val="{&quot;height&quot;:283.0331496062992,&quot;left&quot;:69.78393700787402,&quot;top&quot;:115.05590551181103,&quot;width&quot;:820.86}"/>
</p:tagLst>
</file>

<file path=ppt/tags/tag218.xml><?xml version="1.0" encoding="utf-8"?>
<p:tagLst xmlns:p="http://schemas.openxmlformats.org/presentationml/2006/main">
  <p:tag name="PA" val="v5.2.9"/>
</p:tagLst>
</file>

<file path=ppt/tags/tag219.xml><?xml version="1.0" encoding="utf-8"?>
<p:tagLst xmlns:p="http://schemas.openxmlformats.org/presentationml/2006/main">
  <p:tag name="resource_record_key" val="{&quot;10&quot;:[20289847],&quot;13&quot;:[4364903,4364947,4364950,4364915,4364907]}"/>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4222</Words>
  <Application>WPS 演示</Application>
  <PresentationFormat>宽屏</PresentationFormat>
  <Paragraphs>369</Paragraphs>
  <Slides>24</Slides>
  <Notes>18</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1</vt:i4>
      </vt:variant>
      <vt:variant>
        <vt:lpstr>幻灯片标题</vt:lpstr>
      </vt:variant>
      <vt:variant>
        <vt:i4>24</vt:i4>
      </vt:variant>
    </vt:vector>
  </HeadingPairs>
  <TitlesOfParts>
    <vt:vector size="46" baseType="lpstr">
      <vt:lpstr>Arial</vt:lpstr>
      <vt:lpstr>宋体</vt:lpstr>
      <vt:lpstr>Wingdings</vt:lpstr>
      <vt:lpstr>微软雅黑</vt:lpstr>
      <vt:lpstr>思源宋体 CN Heavy</vt:lpstr>
      <vt:lpstr>Aa楷体</vt:lpstr>
      <vt:lpstr>阿里巴巴普惠体</vt:lpstr>
      <vt:lpstr>思源黑体</vt:lpstr>
      <vt:lpstr>黑体</vt:lpstr>
      <vt:lpstr>Calibri</vt:lpstr>
      <vt:lpstr>Aparajita</vt:lpstr>
      <vt:lpstr>Nirmala UI</vt:lpstr>
      <vt:lpstr>Roboto Regular</vt:lpstr>
      <vt:lpstr>思源黑体 CN Regular</vt:lpstr>
      <vt:lpstr>Wingdings</vt:lpstr>
      <vt:lpstr>Arial Unicode MS</vt:lpstr>
      <vt:lpstr>Times New Roman</vt:lpstr>
      <vt:lpstr>等线</vt:lpstr>
      <vt:lpstr>Segoe Print</vt:lpstr>
      <vt:lpstr>第一PPT，www.1ppt.com</vt:lpstr>
      <vt:lpstr>自定义设计方案</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就业指导</dc:title>
  <dc:creator>第一PPT</dc:creator>
  <cp:keywords>www.1ppt.com</cp:keywords>
  <dc:description>www.1ppt.com</dc:description>
  <cp:lastModifiedBy>Chloé</cp:lastModifiedBy>
  <cp:revision>214</cp:revision>
  <dcterms:created xsi:type="dcterms:W3CDTF">2021-03-08T08:27:00Z</dcterms:created>
  <dcterms:modified xsi:type="dcterms:W3CDTF">2025-06-12T02:04:56Z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4FCA8AEC6F254B2898B39B675A0E0778_12</vt:lpwstr>
  </property>
  <property fmtid="{D5CDD505-2E9C-101B-9397-08002B2CF9AE}" pid="3" name="KSOProductBuildVer">
    <vt:lpwstr>2052-12.1.0.21171</vt:lpwstr>
  </property>
</Properties>
</file>